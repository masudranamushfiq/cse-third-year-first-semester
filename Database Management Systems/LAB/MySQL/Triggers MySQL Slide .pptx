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2" r:id="rId7"/>
    <p:sldId id="265" r:id="rId8"/>
    <p:sldId id="264" r:id="rId9"/>
    <p:sldId id="263" r:id="rId10"/>
    <p:sldId id="266" r:id="rId11"/>
    <p:sldId id="267" r:id="rId12"/>
    <p:sldId id="272" r:id="rId13"/>
    <p:sldId id="270" r:id="rId14"/>
    <p:sldId id="271" r:id="rId15"/>
    <p:sldId id="275" r:id="rId16"/>
    <p:sldId id="273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90" d="100"/>
          <a:sy n="90" d="100"/>
        </p:scale>
        <p:origin x="816" y="-3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5" name="Group 15"/>
          <p:cNvGrpSpPr/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51F7FC-0BEC-4D9E-B0E2-0EC63EC98D1B}" type="datetimeFigureOut">
              <a:rPr lang="en-US" smtClean="0"/>
            </a:fld>
            <a:endParaRPr 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8FF99B4C-E165-47B2-AA4E-A8D8556721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51F7FC-0BEC-4D9E-B0E2-0EC63EC98D1B}" type="datetimeFigureOut">
              <a:rPr lang="en-US" smtClean="0"/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F99B4C-E165-47B2-AA4E-A8D8556721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51F7FC-0BEC-4D9E-B0E2-0EC63EC98D1B}" type="datetimeFigureOut">
              <a:rPr lang="en-US" smtClean="0"/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8FF99B4C-E165-47B2-AA4E-A8D855672179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51F7FC-0BEC-4D9E-B0E2-0EC63EC98D1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8FF99B4C-E165-47B2-AA4E-A8D855672179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51F7FC-0BEC-4D9E-B0E2-0EC63EC98D1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8FF99B4C-E165-47B2-AA4E-A8D855672179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51F7FC-0BEC-4D9E-B0E2-0EC63EC98D1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8FF99B4C-E165-47B2-AA4E-A8D855672179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51F7FC-0BEC-4D9E-B0E2-0EC63EC98D1B}" type="datetimeFigureOut">
              <a:rPr lang="en-US" smtClean="0"/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F99B4C-E165-47B2-AA4E-A8D8556721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51F7FC-0BEC-4D9E-B0E2-0EC63EC98D1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8FF99B4C-E165-47B2-AA4E-A8D855672179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cs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51F7FC-0BEC-4D9E-B0E2-0EC63EC98D1B}" type="datetimeFigureOut">
              <a:rPr lang="en-US" smtClean="0"/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8FF99B4C-E165-47B2-AA4E-A8D855672179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51F7FC-0BEC-4D9E-B0E2-0EC63EC98D1B}" type="datetimeFigureOut">
              <a:rPr lang="en-US" smtClean="0"/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F99B4C-E165-47B2-AA4E-A8D8556721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51F7FC-0BEC-4D9E-B0E2-0EC63EC98D1B}" type="datetimeFigureOut">
              <a:rPr lang="en-US" smtClean="0"/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F99B4C-E165-47B2-AA4E-A8D8556721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cs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cs typeface="Arial" panose="020B0604020202020204" pitchFamily="34" charset="0"/>
              </a:defRPr>
            </a:lvl1pPr>
          </a:lstStyle>
          <a:p>
            <a:fld id="{DD51F7FC-0BEC-4D9E-B0E2-0EC63EC98D1B}" type="datetimeFigureOut">
              <a:rPr lang="en-US" smtClean="0"/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 smtClean="0"/>
            </a:lvl1pPr>
          </a:lstStyle>
          <a:p>
            <a:fld id="{8FF99B4C-E165-47B2-AA4E-A8D85567217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030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155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Triggers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>
              <a:lnSpc>
                <a:spcPct val="80000"/>
              </a:lnSpc>
            </a:pPr>
            <a:r>
              <a:rPr lang="en-US" sz="2400" dirty="0"/>
              <a:t>Md. Tohidul Islam</a:t>
            </a:r>
            <a:endParaRPr lang="en-US" sz="2400" dirty="0"/>
          </a:p>
          <a:p>
            <a:pPr marR="0">
              <a:lnSpc>
                <a:spcPct val="80000"/>
              </a:lnSpc>
            </a:pPr>
            <a:r>
              <a:rPr lang="en-US" sz="2400" dirty="0"/>
              <a:t>Associate Professor</a:t>
            </a:r>
            <a:endParaRPr lang="en-US" sz="2400" dirty="0"/>
          </a:p>
          <a:p>
            <a:pPr marR="0">
              <a:lnSpc>
                <a:spcPct val="80000"/>
              </a:lnSpc>
            </a:pPr>
            <a:r>
              <a:rPr lang="en-US" sz="2400" dirty="0"/>
              <a:t>Dept. of Computer Science &amp; Engineering</a:t>
            </a:r>
            <a:endParaRPr lang="en-US" sz="2400" dirty="0"/>
          </a:p>
          <a:p>
            <a:pPr marR="0">
              <a:lnSpc>
                <a:spcPct val="80000"/>
              </a:lnSpc>
            </a:pPr>
            <a:r>
              <a:rPr lang="en-US" sz="2400" dirty="0"/>
              <a:t>University of Rajshahi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Triggers are procedures that are stored in the database and are implicitly executed(fired) when the contents of a table are changed (due to insert, update, delete).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These procedures are fired automatically by the DBMS itself.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Triggers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trigger can permit DML statements against a table only if they are issued, during regular business hours or on predetermined weekdays.</a:t>
            </a:r>
            <a:endParaRPr lang="en-US" dirty="0"/>
          </a:p>
          <a:p>
            <a:endParaRPr lang="en-US" dirty="0"/>
          </a:p>
          <a:p>
            <a:r>
              <a:rPr lang="en-US" dirty="0"/>
              <a:t>Can be used to keep an audit trail of a table (to store the modified and deleted records of the table) along with the operation performed and the time on which the operation was performed.</a:t>
            </a:r>
            <a:endParaRPr lang="en-US" dirty="0"/>
          </a:p>
          <a:p>
            <a:endParaRPr lang="en-US" dirty="0"/>
          </a:p>
          <a:p>
            <a:r>
              <a:rPr lang="en-US" dirty="0"/>
              <a:t>Prevent invalid transactions.</a:t>
            </a:r>
            <a:endParaRPr lang="en-US" dirty="0"/>
          </a:p>
          <a:p>
            <a:endParaRPr lang="en-US" dirty="0"/>
          </a:p>
          <a:p>
            <a:r>
              <a:rPr lang="en-US" dirty="0"/>
              <a:t>Enforces complex security authorizations.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Triggers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triggered is fired, a SQL statement inside the trigger can also fire the same or some other trigger(cascading).</a:t>
            </a:r>
            <a:endParaRPr lang="en-US" dirty="0"/>
          </a:p>
          <a:p>
            <a:endParaRPr lang="en-US" dirty="0"/>
          </a:p>
          <a:p>
            <a:r>
              <a:rPr lang="en-US" dirty="0"/>
              <a:t>Excessive use of triggers for customizing the database can result in complex interdependence  between the triggers, which may be difficult to maintain in a large application. 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about Trigger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Row Triggers:</a:t>
            </a:r>
            <a:endParaRPr lang="en-US" dirty="0"/>
          </a:p>
          <a:p>
            <a:pPr lvl="1"/>
            <a:r>
              <a:rPr lang="en-US" dirty="0"/>
              <a:t>A row trigger is fired each time the table is affected by the triggering statement.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Example: if an update statement updates multiple row of a table, a row trigger is fired once for each row affected by the update statement.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if it affects no records, the trigger is not executed at all.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i.e. row trigger keeps track of all affected records.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Triggers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Statement Triggers:</a:t>
            </a:r>
            <a:endParaRPr lang="en-US" dirty="0"/>
          </a:p>
          <a:p>
            <a:pPr lvl="1"/>
            <a:r>
              <a:rPr lang="en-US" dirty="0"/>
              <a:t>A statement trigger is fired once on behalf of the triggering statement, independent of the number of rows the triggering statement affects (even if no record are affected).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i.e. statement trigger makes the security check on the time or the user.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Triggers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Before VS. After Triggers:</a:t>
            </a:r>
            <a:endParaRPr lang="en-US" dirty="0"/>
          </a:p>
          <a:p>
            <a:pPr lvl="1"/>
            <a:r>
              <a:rPr lang="en-US" dirty="0"/>
              <a:t>You can specify the trigger timing. 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i.e. you can specify when triggering action is to be executed in relation to the triggering statement.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Before and After apply to both row and the statement triggers.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Before triggers are used when the trigger action should determine whether or not the triggering statement should be allowed to complete.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After triggers are used when you want the triggering statement to complete before executing the trigger action.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Triggers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the options explained above , four types of triggers can be created.</a:t>
            </a:r>
            <a:endParaRPr lang="en-US" dirty="0"/>
          </a:p>
          <a:p>
            <a:pPr marL="623570" indent="-514350">
              <a:buFont typeface="+mj-lt"/>
              <a:buAutoNum type="arabicPeriod"/>
            </a:pPr>
            <a:r>
              <a:rPr lang="en-US" dirty="0"/>
              <a:t>Before statement trigger:</a:t>
            </a:r>
            <a:endParaRPr lang="en-US" dirty="0"/>
          </a:p>
          <a:p>
            <a:pPr marL="623570" indent="-514350">
              <a:buFont typeface="+mj-lt"/>
              <a:buAutoNum type="arabicPeriod"/>
            </a:pPr>
            <a:r>
              <a:rPr lang="en-US" dirty="0"/>
              <a:t>Before row trigger:</a:t>
            </a:r>
            <a:endParaRPr lang="en-US" dirty="0"/>
          </a:p>
          <a:p>
            <a:pPr marL="623570" indent="-514350">
              <a:buFont typeface="+mj-lt"/>
              <a:buAutoNum type="arabicPeriod"/>
            </a:pPr>
            <a:r>
              <a:rPr lang="en-US" dirty="0"/>
              <a:t>After statement trigger:</a:t>
            </a:r>
            <a:endParaRPr lang="en-US" dirty="0"/>
          </a:p>
          <a:p>
            <a:pPr marL="623570" indent="-514350">
              <a:buFont typeface="+mj-lt"/>
              <a:buAutoNum type="arabicPeriod"/>
            </a:pPr>
            <a:r>
              <a:rPr lang="en-US" dirty="0"/>
              <a:t>After row trigger: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Triggers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09220" indent="0">
              <a:buNone/>
            </a:pPr>
            <a:r>
              <a:rPr lang="en-US" sz="2200" dirty="0"/>
              <a:t>The fundamental syntax for creating a MySQL trigger involves </a:t>
            </a:r>
            <a:endParaRPr lang="en-US" sz="2200" dirty="0"/>
          </a:p>
          <a:p>
            <a:pPr marL="109220" indent="0">
              <a:buNone/>
            </a:pPr>
            <a:endParaRPr lang="en-US" sz="2200" dirty="0"/>
          </a:p>
          <a:p>
            <a:pPr marL="109220" indent="0">
              <a:buNone/>
            </a:pPr>
            <a:r>
              <a:rPr lang="en-US" sz="2200" dirty="0"/>
              <a:t>CREATE TRIGGER </a:t>
            </a:r>
            <a:r>
              <a:rPr lang="en-US" sz="2200" dirty="0" err="1"/>
              <a:t>trigger_name</a:t>
            </a:r>
            <a:endParaRPr lang="en-US" sz="2200" dirty="0"/>
          </a:p>
          <a:p>
            <a:pPr marL="109220" indent="0">
              <a:buNone/>
            </a:pPr>
            <a:r>
              <a:rPr lang="en-US" sz="2200" dirty="0"/>
              <a:t>{BEFORE | AFTER} {INSERT | UPDATE | DELETE}</a:t>
            </a:r>
            <a:endParaRPr lang="en-US" sz="2200" dirty="0"/>
          </a:p>
          <a:p>
            <a:pPr marL="109220" indent="0">
              <a:buNone/>
            </a:pPr>
            <a:r>
              <a:rPr lang="en-US" sz="2200" dirty="0"/>
              <a:t>ON </a:t>
            </a:r>
            <a:r>
              <a:rPr lang="en-US" sz="2200" dirty="0" err="1"/>
              <a:t>table_name</a:t>
            </a:r>
            <a:r>
              <a:rPr lang="en-US" sz="2200" dirty="0"/>
              <a:t> FOR EACH ROW</a:t>
            </a:r>
            <a:endParaRPr lang="en-US" sz="2200" dirty="0"/>
          </a:p>
          <a:p>
            <a:pPr marL="109220" indent="0">
              <a:buNone/>
            </a:pPr>
            <a:r>
              <a:rPr lang="en-US" sz="2200" dirty="0"/>
              <a:t>BEGIN</a:t>
            </a:r>
            <a:endParaRPr lang="en-US" sz="2200" dirty="0"/>
          </a:p>
          <a:p>
            <a:pPr marL="109220" indent="0">
              <a:buNone/>
            </a:pPr>
            <a:r>
              <a:rPr lang="en-US" sz="2200" dirty="0"/>
              <a:t>    -- SQL statements</a:t>
            </a:r>
            <a:endParaRPr lang="en-US" sz="2200" dirty="0"/>
          </a:p>
          <a:p>
            <a:pPr marL="109220" indent="0">
              <a:buNone/>
            </a:pPr>
            <a:r>
              <a:rPr lang="en-US" sz="2200" dirty="0"/>
              <a:t>END;</a:t>
            </a:r>
            <a:endParaRPr lang="en-US" sz="2200" dirty="0"/>
          </a:p>
          <a:p>
            <a:pPr marL="109220" indent="0">
              <a:buNone/>
            </a:pPr>
            <a:endParaRPr lang="en-US" sz="2200" dirty="0"/>
          </a:p>
          <a:p>
            <a:pPr marL="109220" indent="0">
              <a:buNone/>
            </a:pPr>
            <a:r>
              <a:rPr lang="en-US" sz="2200" dirty="0"/>
              <a:t>Where, </a:t>
            </a:r>
            <a:r>
              <a:rPr lang="en-US" sz="2200" dirty="0" err="1"/>
              <a:t>trigger_name</a:t>
            </a:r>
            <a:r>
              <a:rPr lang="en-US" sz="2200" dirty="0"/>
              <a:t> is a unique identifier, </a:t>
            </a:r>
            <a:endParaRPr lang="en-US" sz="2200" dirty="0"/>
          </a:p>
          <a:p>
            <a:pPr marL="109220" indent="0">
              <a:buNone/>
            </a:pPr>
            <a:r>
              <a:rPr lang="en-US" sz="2200" dirty="0"/>
              <a:t>BEFORE or AFTER specifies execution time, </a:t>
            </a:r>
            <a:endParaRPr lang="en-US" sz="2200" dirty="0"/>
          </a:p>
          <a:p>
            <a:pPr marL="109220" indent="0">
              <a:buNone/>
            </a:pPr>
            <a:r>
              <a:rPr lang="en-US" sz="2200" dirty="0"/>
              <a:t>INSERT, UPDATE, or DELETE defines the event, </a:t>
            </a:r>
            <a:endParaRPr lang="en-US" sz="2200" dirty="0"/>
          </a:p>
          <a:p>
            <a:pPr marL="109220" indent="0">
              <a:buNone/>
            </a:pPr>
            <a:r>
              <a:rPr lang="en-US" sz="2200" dirty="0" err="1"/>
              <a:t>table_name</a:t>
            </a:r>
            <a:r>
              <a:rPr lang="en-US" sz="2200" dirty="0"/>
              <a:t> is the target table, and </a:t>
            </a:r>
            <a:endParaRPr lang="en-US" sz="2200" dirty="0"/>
          </a:p>
          <a:p>
            <a:pPr marL="109220" indent="0">
              <a:buNone/>
            </a:pPr>
            <a:r>
              <a:rPr lang="en-US" sz="2200" dirty="0" err="1"/>
              <a:t>trigger_body</a:t>
            </a:r>
            <a:r>
              <a:rPr lang="en-US" sz="2200" dirty="0"/>
              <a:t> contains the SQL statements to be executed. </a:t>
            </a:r>
            <a:endParaRPr lang="en-US" sz="2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for Creating Trigger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Keywords and Parameters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29491" y="1528140"/>
            <a:ext cx="8049491" cy="44319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285750" indent="-285750" eaLnBrk="0" hangingPunct="0">
              <a:spcBef>
                <a:spcPct val="0"/>
              </a:spcBef>
              <a:buClrTx/>
              <a:buSzTx/>
            </a:pPr>
            <a:r>
              <a:rPr kumimoji="0" lang="en-US" sz="3200" b="1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Arial Unicode MS" panose="020B0604020202020204" pitchFamily="34" charset="-128"/>
              </a:rPr>
              <a:t>trigger_name</a:t>
            </a: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: 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The name of the trigger.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Nunito"/>
            </a:endParaRPr>
          </a:p>
          <a:p>
            <a:pPr marL="285750" indent="-285750" eaLnBrk="0" hangingPunct="0">
              <a:spcBef>
                <a:spcPct val="0"/>
              </a:spcBef>
              <a:buClrTx/>
              <a:buSzTx/>
            </a:pPr>
            <a:endParaRPr kumimoji="0" lang="en-US" sz="32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Nunito"/>
            </a:endParaRPr>
          </a:p>
          <a:p>
            <a:pPr marL="285750" indent="-285750" eaLnBrk="0" hangingPunct="0">
              <a:spcBef>
                <a:spcPct val="0"/>
              </a:spcBef>
              <a:buClrTx/>
              <a:buSzTx/>
            </a:pP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Arial Unicode MS" panose="020B0604020202020204" pitchFamily="34" charset="-128"/>
              </a:rPr>
              <a:t>{BEFORE | AFTER}</a:t>
            </a: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: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 Specifies whether the trigger action should happen before or after the triggering event.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Nunito"/>
            </a:endParaRPr>
          </a:p>
          <a:p>
            <a:pPr marL="285750" indent="-285750" eaLnBrk="0" hangingPunct="0">
              <a:spcBef>
                <a:spcPct val="0"/>
              </a:spcBef>
              <a:buClrTx/>
              <a:buSzTx/>
            </a:pPr>
            <a:endParaRPr kumimoji="0" lang="en-US" sz="3200" b="1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Arial Unicode MS" panose="020B0604020202020204" pitchFamily="34" charset="-128"/>
            </a:endParaRPr>
          </a:p>
          <a:p>
            <a:pPr marL="285750" indent="-285750" eaLnBrk="0" hangingPunct="0">
              <a:spcBef>
                <a:spcPct val="0"/>
              </a:spcBef>
              <a:buClrTx/>
              <a:buSzTx/>
            </a:pP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Arial Unicode MS" panose="020B0604020202020204" pitchFamily="34" charset="-128"/>
              </a:rPr>
              <a:t>{INSERT | UPDATE | DELETE}</a:t>
            </a: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: 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Specifies the event that will activate the trigger.</a:t>
            </a:r>
            <a:endParaRPr lang="en-US" sz="4400" dirty="0">
              <a:latin typeface="Arial" panose="020B0604020202020204" pitchFamily="34" charset="0"/>
            </a:endParaRPr>
          </a:p>
          <a:p>
            <a:pPr marL="285750" indent="-285750" eaLnBrk="0" hangingPunct="0">
              <a:spcBef>
                <a:spcPct val="0"/>
              </a:spcBef>
              <a:buClrTx/>
              <a:buSzTx/>
            </a:pPr>
            <a:endParaRPr kumimoji="0" lang="en-US" sz="32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Keywords and Parameters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29491" y="1281917"/>
            <a:ext cx="8049491" cy="4924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285750" indent="-285750" eaLnBrk="0" hangingPunct="0">
              <a:spcBef>
                <a:spcPct val="0"/>
              </a:spcBef>
              <a:buClrTx/>
              <a:buSzTx/>
            </a:pPr>
            <a:r>
              <a:rPr kumimoji="0" lang="en-US" sz="3200" b="1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Arial Unicode MS" panose="020B0604020202020204" pitchFamily="34" charset="-128"/>
              </a:rPr>
              <a:t>table_name</a:t>
            </a: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: 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The name of the table to which the trigger is attached.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Nunito"/>
            </a:endParaRPr>
          </a:p>
          <a:p>
            <a:pPr marL="285750" indent="-285750" eaLnBrk="0" hangingPunct="0">
              <a:spcBef>
                <a:spcPct val="0"/>
              </a:spcBef>
              <a:buClrTx/>
              <a:buSzTx/>
            </a:pPr>
            <a:endParaRPr kumimoji="0" lang="en-US" sz="32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Nunito"/>
            </a:endParaRPr>
          </a:p>
          <a:p>
            <a:pPr marL="285750" indent="-285750" eaLnBrk="0" hangingPunct="0">
              <a:spcBef>
                <a:spcPct val="0"/>
              </a:spcBef>
              <a:buClrTx/>
              <a:buSzTx/>
            </a:pP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Arial Unicode MS" panose="020B0604020202020204" pitchFamily="34" charset="-128"/>
              </a:rPr>
              <a:t>FOR EACH ROW</a:t>
            </a: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: 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Specifies that the trigger will be executed once for each row affected by the triggering event.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Nunito"/>
            </a:endParaRPr>
          </a:p>
          <a:p>
            <a:pPr marL="285750" indent="-285750" eaLnBrk="0" hangingPunct="0">
              <a:spcBef>
                <a:spcPct val="0"/>
              </a:spcBef>
              <a:buClrTx/>
              <a:buSzTx/>
            </a:pPr>
            <a:endParaRPr kumimoji="0" lang="en-US" sz="3200" b="1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Arial Unicode MS" panose="020B0604020202020204" pitchFamily="34" charset="-128"/>
            </a:endParaRPr>
          </a:p>
          <a:p>
            <a:pPr marL="285750" indent="-285750" eaLnBrk="0" hangingPunct="0">
              <a:spcBef>
                <a:spcPct val="0"/>
              </a:spcBef>
              <a:buClrTx/>
              <a:buSzTx/>
            </a:pP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Arial Unicode MS" panose="020B0604020202020204" pitchFamily="34" charset="-128"/>
              </a:rPr>
              <a:t>BEGIN ... END</a:t>
            </a: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: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 The block of SQL statements to be executed when the trigger is activated.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08723"/>
            <a:ext cx="8229600" cy="4864244"/>
          </a:xfrm>
        </p:spPr>
        <p:txBody>
          <a:bodyPr>
            <a:normAutofit fontScale="92500" lnSpcReduction="20000"/>
          </a:bodyPr>
          <a:lstStyle/>
          <a:p>
            <a:pPr marL="109220" indent="0">
              <a:buNone/>
            </a:pPr>
            <a:r>
              <a:rPr lang="en-US" sz="1600" b="1" dirty="0"/>
              <a:t>Trigger to insert user information into student table  before a record is inserted into account table:</a:t>
            </a:r>
            <a:endParaRPr lang="en-US" sz="1600" b="1" dirty="0"/>
          </a:p>
          <a:p>
            <a:pPr marL="109220" indent="0">
              <a:buNone/>
            </a:pPr>
            <a:endParaRPr lang="en-US" sz="1600" dirty="0"/>
          </a:p>
          <a:p>
            <a:pPr marL="109220" indent="0">
              <a:buNone/>
            </a:pPr>
            <a:r>
              <a:rPr lang="en-US" sz="1600" dirty="0"/>
              <a:t>Delimiter //</a:t>
            </a:r>
            <a:endParaRPr lang="en-US" sz="1600" dirty="0"/>
          </a:p>
          <a:p>
            <a:pPr marL="109220" indent="0">
              <a:buNone/>
            </a:pPr>
            <a:r>
              <a:rPr lang="en-US" sz="1600" dirty="0"/>
              <a:t>create trigger </a:t>
            </a:r>
            <a:r>
              <a:rPr lang="en-US" sz="1600" dirty="0" err="1"/>
              <a:t>account_before_insert</a:t>
            </a:r>
            <a:endParaRPr lang="en-US" sz="1600" dirty="0"/>
          </a:p>
          <a:p>
            <a:pPr marL="109220" indent="0">
              <a:buNone/>
            </a:pPr>
            <a:r>
              <a:rPr lang="en-US" sz="1600" dirty="0"/>
              <a:t>            before insert</a:t>
            </a:r>
            <a:endParaRPr lang="en-US" sz="1600" dirty="0"/>
          </a:p>
          <a:p>
            <a:pPr marL="109220" indent="0">
              <a:buNone/>
            </a:pPr>
            <a:r>
              <a:rPr lang="en-US" sz="1600" dirty="0"/>
              <a:t>            on account for each row</a:t>
            </a:r>
            <a:endParaRPr lang="en-US" sz="1600" dirty="0"/>
          </a:p>
          <a:p>
            <a:pPr marL="109220" indent="0">
              <a:buNone/>
            </a:pPr>
            <a:r>
              <a:rPr lang="en-US" sz="1600" dirty="0"/>
              <a:t>begin</a:t>
            </a:r>
            <a:endParaRPr lang="en-US" sz="1600" dirty="0"/>
          </a:p>
          <a:p>
            <a:pPr marL="109220" indent="0">
              <a:buNone/>
            </a:pPr>
            <a:r>
              <a:rPr lang="en-US" sz="1600" dirty="0"/>
              <a:t>                 DECLARE </a:t>
            </a:r>
            <a:r>
              <a:rPr lang="en-US" sz="1600" dirty="0" err="1"/>
              <a:t>vUser</a:t>
            </a:r>
            <a:r>
              <a:rPr lang="en-US" sz="1600" dirty="0"/>
              <a:t> </a:t>
            </a:r>
            <a:r>
              <a:rPr lang="en-US" sz="1600" dirty="0" err="1"/>
              <a:t>varchar</a:t>
            </a:r>
            <a:r>
              <a:rPr lang="en-US" sz="1600" dirty="0"/>
              <a:t>(50);</a:t>
            </a:r>
            <a:endParaRPr lang="en-US" sz="1600" dirty="0"/>
          </a:p>
          <a:p>
            <a:pPr marL="109220" indent="0">
              <a:buNone/>
            </a:pPr>
            <a:r>
              <a:rPr lang="en-US" sz="1600" dirty="0"/>
              <a:t>            </a:t>
            </a:r>
            <a:endParaRPr lang="en-US" sz="1600" dirty="0"/>
          </a:p>
          <a:p>
            <a:pPr marL="109220" indent="0">
              <a:buNone/>
            </a:pPr>
            <a:r>
              <a:rPr lang="en-US" sz="1600" dirty="0"/>
              <a:t>                -- Find username of person performing the Insert into table</a:t>
            </a:r>
            <a:endParaRPr lang="en-US" sz="1600" dirty="0"/>
          </a:p>
          <a:p>
            <a:pPr marL="109220" indent="0">
              <a:buNone/>
            </a:pPr>
            <a:endParaRPr lang="en-US" sz="500" dirty="0"/>
          </a:p>
          <a:p>
            <a:pPr marL="109220" indent="0">
              <a:buNone/>
            </a:pPr>
            <a:r>
              <a:rPr lang="en-US" sz="1600" dirty="0"/>
              <a:t>                SELECT USER() into </a:t>
            </a:r>
            <a:r>
              <a:rPr lang="en-US" sz="1600" dirty="0" err="1"/>
              <a:t>vUser</a:t>
            </a:r>
            <a:r>
              <a:rPr lang="en-US" sz="1600" dirty="0"/>
              <a:t>;</a:t>
            </a:r>
            <a:endParaRPr lang="en-US" sz="1600" dirty="0"/>
          </a:p>
          <a:p>
            <a:pPr marL="109220" indent="0">
              <a:buNone/>
            </a:pPr>
            <a:r>
              <a:rPr lang="en-US" sz="1600" dirty="0"/>
              <a:t>      </a:t>
            </a:r>
            <a:endParaRPr lang="en-US" sz="1600" dirty="0"/>
          </a:p>
          <a:p>
            <a:pPr marL="109220" indent="0">
              <a:buNone/>
            </a:pPr>
            <a:r>
              <a:rPr lang="en-US" sz="1600" dirty="0"/>
              <a:t>	  -- Insert record into audit table</a:t>
            </a:r>
            <a:endParaRPr lang="en-US" sz="1600" dirty="0"/>
          </a:p>
          <a:p>
            <a:pPr marL="109220" indent="0">
              <a:buNone/>
            </a:pPr>
            <a:r>
              <a:rPr lang="en-US" sz="1600" dirty="0"/>
              <a:t>                INSERT into students</a:t>
            </a:r>
            <a:endParaRPr lang="en-US" sz="1600" dirty="0"/>
          </a:p>
          <a:p>
            <a:pPr marL="109220" indent="0">
              <a:buNone/>
            </a:pPr>
            <a:r>
              <a:rPr lang="en-US" sz="1600" dirty="0"/>
              <a:t>                ( name)</a:t>
            </a:r>
            <a:endParaRPr lang="en-US" sz="1600" dirty="0"/>
          </a:p>
          <a:p>
            <a:pPr marL="109220" indent="0">
              <a:buNone/>
            </a:pPr>
            <a:r>
              <a:rPr lang="en-US" sz="1600" dirty="0"/>
              <a:t>                VALUES</a:t>
            </a:r>
            <a:endParaRPr lang="en-US" sz="1600" dirty="0"/>
          </a:p>
          <a:p>
            <a:pPr marL="109220" indent="0">
              <a:buNone/>
            </a:pPr>
            <a:r>
              <a:rPr lang="en-US" sz="1600" dirty="0"/>
              <a:t>                ( </a:t>
            </a:r>
            <a:r>
              <a:rPr lang="en-US" sz="1600" dirty="0" err="1"/>
              <a:t>vUser</a:t>
            </a:r>
            <a:r>
              <a:rPr lang="en-US" sz="1600" dirty="0"/>
              <a:t> );</a:t>
            </a:r>
            <a:endParaRPr lang="en-US" sz="1600" dirty="0"/>
          </a:p>
          <a:p>
            <a:pPr marL="109220" indent="0">
              <a:buNone/>
            </a:pPr>
            <a:r>
              <a:rPr lang="en-US" sz="1600" dirty="0"/>
              <a:t> end</a:t>
            </a:r>
            <a:endParaRPr lang="en-US" sz="1600" dirty="0"/>
          </a:p>
          <a:p>
            <a:pPr marL="109220" indent="0">
              <a:buNone/>
            </a:pPr>
            <a:r>
              <a:rPr lang="en-US" sz="1600" dirty="0"/>
              <a:t>Delimiter;</a:t>
            </a:r>
            <a:endParaRPr lang="en-US" sz="1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5893"/>
            <a:ext cx="8229600" cy="1143000"/>
          </a:xfrm>
        </p:spPr>
        <p:txBody>
          <a:bodyPr/>
          <a:lstStyle/>
          <a:p>
            <a:r>
              <a:rPr lang="en-US" dirty="0"/>
              <a:t>Trigger Example 01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109220" indent="0">
              <a:buNone/>
            </a:pPr>
            <a:r>
              <a:rPr lang="en-US" dirty="0"/>
              <a:t>Ex: Write a trigger that checks any update or delete of table data account(</a:t>
            </a:r>
            <a:r>
              <a:rPr lang="en-US" dirty="0" err="1"/>
              <a:t>aname</a:t>
            </a:r>
            <a:r>
              <a:rPr lang="en-US" dirty="0"/>
              <a:t>, </a:t>
            </a:r>
            <a:r>
              <a:rPr lang="en-US" dirty="0" err="1"/>
              <a:t>anumber</a:t>
            </a:r>
            <a:r>
              <a:rPr lang="en-US" dirty="0"/>
              <a:t>, balance) and stores old data, the date and operation into an audit table </a:t>
            </a:r>
            <a:r>
              <a:rPr lang="en-US" dirty="0" err="1"/>
              <a:t>auditaccount</a:t>
            </a:r>
            <a:r>
              <a:rPr lang="en-US" dirty="0"/>
              <a:t>.</a:t>
            </a:r>
            <a:endParaRPr lang="en-US" dirty="0"/>
          </a:p>
          <a:p>
            <a:pPr marL="109220" indent="0">
              <a:buNone/>
            </a:pPr>
            <a:endParaRPr lang="en-US" dirty="0"/>
          </a:p>
          <a:p>
            <a:pPr marL="109220" indent="0">
              <a:buNone/>
            </a:pPr>
            <a:r>
              <a:rPr lang="en-US" dirty="0"/>
              <a:t>CREATE TRIGGER </a:t>
            </a:r>
            <a:r>
              <a:rPr lang="en-US" dirty="0" err="1"/>
              <a:t>audit_trail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	AFTER UPDATE OR DELETE ON account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	FOR EACH ROW</a:t>
            </a:r>
            <a:endParaRPr lang="en-US" dirty="0"/>
          </a:p>
          <a:p>
            <a:pPr marL="365125" lvl="1" indent="0">
              <a:buNone/>
            </a:pPr>
            <a:endParaRPr lang="en-US" dirty="0"/>
          </a:p>
          <a:p>
            <a:pPr marL="109220" indent="0">
              <a:buNone/>
            </a:pPr>
            <a:r>
              <a:rPr lang="en-US" dirty="0"/>
              <a:t>BEGIN</a:t>
            </a:r>
            <a:endParaRPr lang="en-US" dirty="0"/>
          </a:p>
          <a:p>
            <a:pPr marL="109220" indent="0">
              <a:buNone/>
            </a:pPr>
            <a:r>
              <a:rPr lang="en-US" dirty="0"/>
              <a:t>    	DECLARE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	balance number(10,2);		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	</a:t>
            </a:r>
            <a:r>
              <a:rPr lang="en-US" dirty="0" err="1"/>
              <a:t>oper</a:t>
            </a:r>
            <a:r>
              <a:rPr lang="en-US" dirty="0"/>
              <a:t> varchar(10);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	</a:t>
            </a:r>
            <a:r>
              <a:rPr lang="en-US" dirty="0" err="1"/>
              <a:t>aname</a:t>
            </a:r>
            <a:r>
              <a:rPr lang="en-US" dirty="0"/>
              <a:t> varchar(20);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	</a:t>
            </a:r>
            <a:r>
              <a:rPr lang="en-US" dirty="0" err="1"/>
              <a:t>anumber</a:t>
            </a:r>
            <a:r>
              <a:rPr lang="en-US" dirty="0"/>
              <a:t> number(10,2);</a:t>
            </a:r>
            <a:endParaRPr lang="en-US" dirty="0"/>
          </a:p>
          <a:p>
            <a:pPr marL="109220" indent="0">
              <a:buNone/>
            </a:pPr>
            <a:endParaRPr lang="en-US" dirty="0"/>
          </a:p>
          <a:p>
            <a:pPr marL="365125" lvl="1" indent="0">
              <a:buNone/>
            </a:pPr>
            <a:r>
              <a:rPr lang="en-US" dirty="0"/>
              <a:t>	if updating then 	</a:t>
            </a:r>
            <a:r>
              <a:rPr lang="en-US" dirty="0" err="1"/>
              <a:t>oper</a:t>
            </a:r>
            <a:r>
              <a:rPr lang="en-US" dirty="0"/>
              <a:t>:=‘Update’; end if;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	if deleting then 	</a:t>
            </a:r>
            <a:r>
              <a:rPr lang="en-US" dirty="0" err="1"/>
              <a:t>oper</a:t>
            </a:r>
            <a:r>
              <a:rPr lang="en-US" dirty="0"/>
              <a:t>:=‘Delete’; end if;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	balance:= :</a:t>
            </a:r>
            <a:r>
              <a:rPr lang="en-US" dirty="0" err="1"/>
              <a:t>old.balance</a:t>
            </a:r>
            <a:r>
              <a:rPr lang="en-US" dirty="0"/>
              <a:t>;	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	</a:t>
            </a:r>
            <a:r>
              <a:rPr lang="en-US" dirty="0" err="1"/>
              <a:t>aname</a:t>
            </a:r>
            <a:r>
              <a:rPr lang="en-US" dirty="0"/>
              <a:t>:= :</a:t>
            </a:r>
            <a:r>
              <a:rPr lang="en-US" dirty="0" err="1"/>
              <a:t>old.aname</a:t>
            </a:r>
            <a:r>
              <a:rPr lang="en-US" dirty="0"/>
              <a:t>;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	</a:t>
            </a:r>
            <a:r>
              <a:rPr lang="en-US" dirty="0" err="1"/>
              <a:t>anumber</a:t>
            </a:r>
            <a:r>
              <a:rPr lang="en-US" dirty="0"/>
              <a:t>:= :</a:t>
            </a:r>
            <a:r>
              <a:rPr lang="en-US" dirty="0" err="1"/>
              <a:t>old.anumber</a:t>
            </a:r>
            <a:r>
              <a:rPr lang="en-US" dirty="0"/>
              <a:t>;</a:t>
            </a:r>
            <a:endParaRPr lang="en-US" dirty="0"/>
          </a:p>
          <a:p>
            <a:pPr marL="365125" lvl="1" indent="0">
              <a:buNone/>
            </a:pPr>
            <a:endParaRPr lang="en-US" dirty="0"/>
          </a:p>
          <a:p>
            <a:pPr marL="365125" lvl="1" indent="0">
              <a:buNone/>
            </a:pPr>
            <a:r>
              <a:rPr lang="en-US" dirty="0"/>
              <a:t>	Insert into </a:t>
            </a:r>
            <a:r>
              <a:rPr lang="en-US" dirty="0" err="1"/>
              <a:t>auditaccount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	Values(</a:t>
            </a:r>
            <a:r>
              <a:rPr lang="en-US" dirty="0" err="1"/>
              <a:t>aneme</a:t>
            </a:r>
            <a:r>
              <a:rPr lang="en-US" dirty="0"/>
              <a:t>, </a:t>
            </a:r>
            <a:r>
              <a:rPr lang="en-US" dirty="0" err="1"/>
              <a:t>anumber</a:t>
            </a:r>
            <a:r>
              <a:rPr lang="en-US" dirty="0"/>
              <a:t>, balance, </a:t>
            </a:r>
            <a:r>
              <a:rPr lang="en-US" dirty="0" err="1"/>
              <a:t>oper</a:t>
            </a:r>
            <a:r>
              <a:rPr lang="en-US" dirty="0"/>
              <a:t>, </a:t>
            </a:r>
            <a:r>
              <a:rPr lang="en-US" dirty="0" err="1"/>
              <a:t>sysdate</a:t>
            </a:r>
            <a:r>
              <a:rPr lang="en-US" dirty="0"/>
              <a:t>);</a:t>
            </a:r>
            <a:endParaRPr lang="en-US" dirty="0"/>
          </a:p>
          <a:p>
            <a:pPr marL="109220" indent="0">
              <a:buNone/>
            </a:pPr>
            <a:r>
              <a:rPr lang="en-US" dirty="0"/>
              <a:t>END;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Example 02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220" indent="0">
              <a:buNone/>
            </a:pPr>
            <a:r>
              <a:rPr lang="en-US" dirty="0"/>
              <a:t>Create table account</a:t>
            </a:r>
            <a:endParaRPr lang="en-US" dirty="0"/>
          </a:p>
          <a:p>
            <a:pPr marL="109220" indent="0">
              <a:buNone/>
            </a:pPr>
            <a:r>
              <a:rPr lang="en-US" dirty="0"/>
              <a:t>(</a:t>
            </a:r>
            <a:r>
              <a:rPr lang="en-US" dirty="0" err="1"/>
              <a:t>aname</a:t>
            </a:r>
            <a:r>
              <a:rPr lang="en-US" dirty="0"/>
              <a:t> varchar(30), </a:t>
            </a:r>
            <a:r>
              <a:rPr lang="en-US" dirty="0" err="1"/>
              <a:t>anumber</a:t>
            </a:r>
            <a:r>
              <a:rPr lang="en-US" dirty="0"/>
              <a:t> int(10), balance float(10,2));</a:t>
            </a:r>
            <a:endParaRPr lang="en-US" dirty="0"/>
          </a:p>
          <a:p>
            <a:pPr marL="109220" indent="0">
              <a:buNone/>
            </a:pPr>
            <a:endParaRPr lang="en-US" dirty="0"/>
          </a:p>
          <a:p>
            <a:pPr marL="109220" indent="0">
              <a:buNone/>
            </a:pPr>
            <a:r>
              <a:rPr lang="en-US" dirty="0"/>
              <a:t>Create table </a:t>
            </a:r>
            <a:r>
              <a:rPr lang="en-US" dirty="0" err="1"/>
              <a:t>auditaccount</a:t>
            </a:r>
            <a:endParaRPr lang="en-US" dirty="0"/>
          </a:p>
          <a:p>
            <a:pPr marL="109220" indent="0">
              <a:buNone/>
            </a:pPr>
            <a:r>
              <a:rPr lang="en-US" dirty="0"/>
              <a:t>(</a:t>
            </a:r>
            <a:r>
              <a:rPr lang="en-US" dirty="0" err="1"/>
              <a:t>aname</a:t>
            </a:r>
            <a:r>
              <a:rPr lang="en-US" dirty="0"/>
              <a:t> varchar(30), </a:t>
            </a:r>
            <a:r>
              <a:rPr lang="en-US" dirty="0" err="1"/>
              <a:t>anumber</a:t>
            </a:r>
            <a:r>
              <a:rPr lang="en-US" dirty="0"/>
              <a:t> int(10), balance float(10,2),</a:t>
            </a:r>
            <a:r>
              <a:rPr lang="en-US" dirty="0" err="1"/>
              <a:t>oper</a:t>
            </a:r>
            <a:r>
              <a:rPr lang="en-US" dirty="0"/>
              <a:t> varchar(20),</a:t>
            </a:r>
            <a:r>
              <a:rPr lang="en-US" dirty="0" err="1"/>
              <a:t>opDate</a:t>
            </a:r>
            <a:r>
              <a:rPr lang="en-US" dirty="0"/>
              <a:t> date);</a:t>
            </a:r>
            <a:endParaRPr lang="en-US" dirty="0"/>
          </a:p>
          <a:p>
            <a:pPr marL="109220" indent="0">
              <a:buNone/>
            </a:pPr>
            <a:endParaRPr lang="en-US" dirty="0"/>
          </a:p>
          <a:p>
            <a:pPr marL="365125" lvl="1" indent="0">
              <a:buNone/>
            </a:pPr>
            <a:r>
              <a:rPr lang="en-US" dirty="0"/>
              <a:t>Insert into </a:t>
            </a:r>
            <a:r>
              <a:rPr lang="en-US" dirty="0" err="1"/>
              <a:t>auditaccount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	Values(</a:t>
            </a:r>
            <a:r>
              <a:rPr lang="en-US" dirty="0" err="1"/>
              <a:t>aneme</a:t>
            </a:r>
            <a:r>
              <a:rPr lang="en-US" dirty="0"/>
              <a:t>, </a:t>
            </a:r>
            <a:r>
              <a:rPr lang="en-US" dirty="0" err="1"/>
              <a:t>anumber</a:t>
            </a:r>
            <a:r>
              <a:rPr lang="en-US" dirty="0"/>
              <a:t>, balance, </a:t>
            </a:r>
            <a:r>
              <a:rPr lang="en-US" dirty="0" err="1"/>
              <a:t>oper</a:t>
            </a:r>
            <a:r>
              <a:rPr lang="en-US" dirty="0"/>
              <a:t>, </a:t>
            </a:r>
            <a:r>
              <a:rPr lang="en-US" dirty="0" err="1"/>
              <a:t>sysdate</a:t>
            </a:r>
            <a:r>
              <a:rPr lang="en-US" dirty="0"/>
              <a:t>);</a:t>
            </a:r>
            <a:endParaRPr lang="en-US" dirty="0"/>
          </a:p>
          <a:p>
            <a:pPr marL="10922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Example 02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09220" indent="0">
              <a:buNone/>
            </a:pPr>
            <a:r>
              <a:rPr lang="en-US" dirty="0"/>
              <a:t>Ex: Write a trigger that checks that balance of table account(</a:t>
            </a:r>
            <a:r>
              <a:rPr lang="en-US" dirty="0" err="1"/>
              <a:t>aname</a:t>
            </a:r>
            <a:r>
              <a:rPr lang="en-US" dirty="0"/>
              <a:t>, </a:t>
            </a:r>
            <a:r>
              <a:rPr lang="en-US" dirty="0" err="1"/>
              <a:t>anumber</a:t>
            </a:r>
            <a:r>
              <a:rPr lang="en-US" dirty="0"/>
              <a:t>, balance) does not become negative.</a:t>
            </a:r>
            <a:endParaRPr lang="en-US" dirty="0"/>
          </a:p>
          <a:p>
            <a:pPr marL="109220" indent="0">
              <a:buNone/>
            </a:pPr>
            <a:endParaRPr lang="en-US" dirty="0"/>
          </a:p>
          <a:p>
            <a:pPr marL="109220" indent="0">
              <a:buNone/>
            </a:pPr>
            <a:r>
              <a:rPr lang="en-US" dirty="0"/>
              <a:t>CREATE TRIGGER </a:t>
            </a:r>
            <a:r>
              <a:rPr lang="en-US" dirty="0" err="1"/>
              <a:t>check_balance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BEFORE UPDATE OF balance 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ON account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FOR EACH ROW</a:t>
            </a:r>
            <a:endParaRPr lang="en-US" dirty="0"/>
          </a:p>
          <a:p>
            <a:pPr marL="365125" lvl="1" indent="0">
              <a:buNone/>
            </a:pPr>
            <a:endParaRPr lang="en-US" dirty="0"/>
          </a:p>
          <a:p>
            <a:pPr marL="109220" indent="0">
              <a:buNone/>
            </a:pPr>
            <a:r>
              <a:rPr lang="en-US" dirty="0"/>
              <a:t>DECLARE</a:t>
            </a:r>
            <a:endParaRPr lang="en-US" dirty="0"/>
          </a:p>
          <a:p>
            <a:pPr marL="365125" lvl="1" indent="0">
              <a:buNone/>
            </a:pPr>
            <a:r>
              <a:rPr lang="en-US" dirty="0" err="1"/>
              <a:t>New_bal</a:t>
            </a:r>
            <a:r>
              <a:rPr lang="en-US" dirty="0"/>
              <a:t> number(10,2);		/*Variable that hold new balance*/</a:t>
            </a:r>
            <a:endParaRPr lang="en-US" dirty="0"/>
          </a:p>
          <a:p>
            <a:pPr marL="365125" lvl="1" indent="0">
              <a:buNone/>
            </a:pPr>
            <a:endParaRPr lang="en-US" dirty="0"/>
          </a:p>
          <a:p>
            <a:pPr marL="109220" indent="0">
              <a:buNone/>
            </a:pPr>
            <a:r>
              <a:rPr lang="en-US" dirty="0"/>
              <a:t>BEGIN</a:t>
            </a:r>
            <a:endParaRPr lang="en-US" dirty="0"/>
          </a:p>
          <a:p>
            <a:pPr marL="365125" lvl="1" indent="0">
              <a:buNone/>
            </a:pPr>
            <a:r>
              <a:rPr lang="en-US" dirty="0" err="1"/>
              <a:t>New_bal</a:t>
            </a:r>
            <a:r>
              <a:rPr lang="en-US" dirty="0"/>
              <a:t>:= :</a:t>
            </a:r>
            <a:r>
              <a:rPr lang="en-US" dirty="0" err="1"/>
              <a:t>new.balance</a:t>
            </a:r>
            <a:r>
              <a:rPr lang="en-US" dirty="0"/>
              <a:t>;	/*Assigning the new balance*/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IF </a:t>
            </a:r>
            <a:r>
              <a:rPr lang="en-US" dirty="0" err="1"/>
              <a:t>New_bal</a:t>
            </a:r>
            <a:r>
              <a:rPr lang="en-US" dirty="0"/>
              <a:t>&lt;0 THEN 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	</a:t>
            </a:r>
            <a:r>
              <a:rPr lang="en-US" dirty="0" err="1"/>
              <a:t>raise_application_error</a:t>
            </a:r>
            <a:r>
              <a:rPr lang="en-US" dirty="0"/>
              <a:t>(-20001,’Balance can not be </a:t>
            </a:r>
            <a:r>
              <a:rPr lang="en-US"/>
              <a:t>negative’);</a:t>
            </a:r>
            <a:endParaRPr lang="en-US" dirty="0"/>
          </a:p>
          <a:p>
            <a:pPr marL="365125" lvl="1" indent="0">
              <a:buNone/>
            </a:pPr>
            <a:r>
              <a:rPr lang="en-US" dirty="0"/>
              <a:t>End </a:t>
            </a:r>
            <a:r>
              <a:rPr lang="en-US" dirty="0" err="1"/>
              <a:t>iF</a:t>
            </a:r>
            <a:r>
              <a:rPr lang="en-US" dirty="0"/>
              <a:t>;</a:t>
            </a:r>
            <a:endParaRPr lang="en-US" dirty="0"/>
          </a:p>
          <a:p>
            <a:pPr marL="109220" indent="0">
              <a:buNone/>
            </a:pPr>
            <a:r>
              <a:rPr lang="en-US" dirty="0"/>
              <a:t>END;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Example 03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Trigger to stop DML operation on a table on certain Day/Days and Time.</a:t>
            </a:r>
            <a:endParaRPr lang="en-US" dirty="0"/>
          </a:p>
          <a:p>
            <a:endParaRPr lang="en-US" dirty="0"/>
          </a:p>
          <a:p>
            <a:r>
              <a:rPr lang="en-US" dirty="0"/>
              <a:t>Audit Trail.</a:t>
            </a:r>
            <a:endParaRPr lang="en-US" dirty="0"/>
          </a:p>
          <a:p>
            <a:endParaRPr lang="en-US" dirty="0"/>
          </a:p>
          <a:p>
            <a:r>
              <a:rPr lang="en-US" dirty="0"/>
              <a:t>Tracing the user. 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Assignment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5356</Words>
  <Application>WPS Presentation</Application>
  <PresentationFormat>On-screen Show (4:3)</PresentationFormat>
  <Paragraphs>194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SimSun</vt:lpstr>
      <vt:lpstr>Wingdings</vt:lpstr>
      <vt:lpstr>Lucida Sans Unicode</vt:lpstr>
      <vt:lpstr>Wingdings 3</vt:lpstr>
      <vt:lpstr>Verdana</vt:lpstr>
      <vt:lpstr>Wingdings 2</vt:lpstr>
      <vt:lpstr>Wingdings 2</vt:lpstr>
      <vt:lpstr>Arial Unicode MS</vt:lpstr>
      <vt:lpstr>Nunito</vt:lpstr>
      <vt:lpstr>AdorshoLipi</vt:lpstr>
      <vt:lpstr>Microsoft YaHei</vt:lpstr>
      <vt:lpstr>Arial Unicode MS</vt:lpstr>
      <vt:lpstr>Calibri</vt:lpstr>
      <vt:lpstr>Theme1</vt:lpstr>
      <vt:lpstr>Database Triggers</vt:lpstr>
      <vt:lpstr>Database Triggers</vt:lpstr>
      <vt:lpstr>Use of Triggers</vt:lpstr>
      <vt:lpstr>Note about Trigger</vt:lpstr>
      <vt:lpstr>Types of Triggers</vt:lpstr>
      <vt:lpstr>Types of Triggers</vt:lpstr>
      <vt:lpstr>Types of Triggers</vt:lpstr>
      <vt:lpstr>Types of Triggers</vt:lpstr>
      <vt:lpstr>Syntax for Creating Trigger</vt:lpstr>
      <vt:lpstr>Keywords and Parameters</vt:lpstr>
      <vt:lpstr>Keywords and Parameters</vt:lpstr>
      <vt:lpstr>Trigger Example 01</vt:lpstr>
      <vt:lpstr>Trigger Example 02</vt:lpstr>
      <vt:lpstr>Trigger Example 02</vt:lpstr>
      <vt:lpstr>Trigger Example 03</vt:lpstr>
      <vt:lpstr>Trigger Assignment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Trigger</dc:title>
  <dc:creator>Tohid</dc:creator>
  <cp:lastModifiedBy>Lenovo</cp:lastModifiedBy>
  <cp:revision>32</cp:revision>
  <dcterms:created xsi:type="dcterms:W3CDTF">2014-09-08T01:22:00Z</dcterms:created>
  <dcterms:modified xsi:type="dcterms:W3CDTF">2025-09-10T12:16:25Z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396FF5FBDB3D4B58942662D1D15FA31D_12</vt:lpwstr>
  </property>
  <property fmtid="{D5CDD505-2E9C-101B-9397-08002B2CF9AE}" pid="3" name="KSOProductBuildVer">
    <vt:lpwstr>1033-12.2.0.22549</vt:lpwstr>
  </property>
</Properties>
</file>