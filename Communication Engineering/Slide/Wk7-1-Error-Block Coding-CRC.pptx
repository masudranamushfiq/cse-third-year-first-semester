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8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38" autoAdjust="0"/>
    <p:restoredTop sz="61265" autoAdjust="0"/>
  </p:normalViewPr>
  <p:slideViewPr>
    <p:cSldViewPr>
      <p:cViewPr varScale="1">
        <p:scale>
          <a:sx n="68" d="100"/>
          <a:sy n="68" d="100"/>
        </p:scale>
        <p:origin x="140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09-Jul-25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09-Jul-25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09-Jul-25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09-Jul-25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09-Jul-25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09-Jul-25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09-Jul-25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09-Jul-25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09-Jul-25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09-Jul-25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09-Jul-25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09-Jul-25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09-Jul-25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09-Jul-25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09-Jul-25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22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Types </a:t>
            </a:r>
            <a:r>
              <a:rPr lang="en-US" b="1" cap="small" dirty="0" smtClean="0"/>
              <a:t>of </a:t>
            </a:r>
            <a:r>
              <a:rPr lang="en-US" b="1" cap="small" dirty="0"/>
              <a:t>Errors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100" y="1600200"/>
            <a:ext cx="8229600" cy="269230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smtClean="0"/>
              <a:t> of 22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4678096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The central concept in detecting or correcting errors is redundancy.</a:t>
            </a:r>
          </a:p>
        </p:txBody>
      </p:sp>
    </p:spTree>
    <p:extLst>
      <p:ext uri="{BB962C8B-B14F-4D97-AF65-F5344CB8AC3E}">
        <p14:creationId xmlns:p14="http://schemas.microsoft.com/office/powerpoint/2010/main" val="166874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Detection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+mn-lt"/>
                <a:ea typeface="+mn-ea"/>
                <a:cs typeface="+mn-cs"/>
              </a:rPr>
              <a:t>vs</a:t>
            </a:r>
            <a:r>
              <a:rPr lang="en-US" b="1" cap="small" dirty="0" smtClean="0"/>
              <a:t> </a:t>
            </a:r>
            <a:r>
              <a:rPr lang="en-US" b="1" cap="small" dirty="0"/>
              <a:t>Correction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correction</a:t>
            </a:r>
            <a:r>
              <a:rPr lang="en-US" sz="2400" dirty="0"/>
              <a:t> of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errors</a:t>
            </a:r>
            <a:r>
              <a:rPr lang="en-US" sz="2400" dirty="0"/>
              <a:t> is more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difficult</a:t>
            </a:r>
            <a:r>
              <a:rPr lang="en-US" sz="2400" dirty="0"/>
              <a:t> than the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detection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error detection</a:t>
            </a:r>
            <a:r>
              <a:rPr lang="en-US" sz="2400" i="1" dirty="0"/>
              <a:t>, </a:t>
            </a:r>
            <a:r>
              <a:rPr lang="en-US" sz="2400" dirty="0"/>
              <a:t>we </a:t>
            </a:r>
            <a:r>
              <a:rPr lang="en-US" sz="2400" dirty="0" smtClean="0"/>
              <a:t>are only </a:t>
            </a:r>
            <a:r>
              <a:rPr lang="en-US" sz="2400" dirty="0"/>
              <a:t>looking to see if any error has occurred.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answer is a simple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yes</a:t>
            </a:r>
            <a:r>
              <a:rPr lang="en-US" sz="2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or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no.</a:t>
            </a:r>
          </a:p>
          <a:p>
            <a:r>
              <a:rPr lang="en-US" sz="2400" dirty="0"/>
              <a:t>In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error correction</a:t>
            </a:r>
            <a:r>
              <a:rPr lang="en-US" sz="2400" dirty="0"/>
              <a:t>, we need to know the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exact</a:t>
            </a:r>
            <a:r>
              <a:rPr lang="en-US" sz="2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number</a:t>
            </a:r>
            <a:r>
              <a:rPr lang="en-US" sz="2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/>
              <a:t>of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bits</a:t>
            </a:r>
            <a:r>
              <a:rPr lang="en-US" sz="2400" dirty="0"/>
              <a:t> that are </a:t>
            </a:r>
            <a:r>
              <a:rPr lang="en-US" sz="2400" dirty="0" smtClean="0"/>
              <a:t>corrupted and</a:t>
            </a:r>
            <a:r>
              <a:rPr lang="en-US" sz="2400" dirty="0"/>
              <a:t>, more importantly, their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location</a:t>
            </a:r>
            <a:r>
              <a:rPr lang="en-US" sz="2400" dirty="0"/>
              <a:t> in the message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/>
              <a:t>If we need to correct a single error in an </a:t>
            </a:r>
            <a:r>
              <a:rPr lang="en-US" sz="2000" dirty="0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8-bit</a:t>
            </a:r>
            <a:r>
              <a:rPr lang="en-US" sz="2000" dirty="0" smtClean="0"/>
              <a:t> data </a:t>
            </a:r>
            <a:r>
              <a:rPr lang="en-US" sz="2000" dirty="0"/>
              <a:t>unit, we need to consider </a:t>
            </a:r>
            <a:r>
              <a:rPr lang="en-US" sz="2000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eight possible </a:t>
            </a:r>
            <a:r>
              <a:rPr lang="en-US" sz="2000" dirty="0"/>
              <a:t>error locations; </a:t>
            </a:r>
            <a:endParaRPr lang="en-US" sz="2000" dirty="0" smtClean="0"/>
          </a:p>
          <a:p>
            <a:pPr lvl="1"/>
            <a:r>
              <a:rPr lang="en-US" sz="2000" dirty="0" smtClean="0"/>
              <a:t>if </a:t>
            </a:r>
            <a:r>
              <a:rPr lang="en-US" sz="2000" dirty="0"/>
              <a:t>we need to correct </a:t>
            </a:r>
            <a:r>
              <a:rPr lang="en-US" sz="2000" dirty="0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two errors </a:t>
            </a:r>
            <a:r>
              <a:rPr lang="en-US" sz="2000" dirty="0"/>
              <a:t>in a data unit of the same size, we need to consider 28 </a:t>
            </a:r>
            <a:r>
              <a:rPr lang="en-US" sz="2000" dirty="0" smtClean="0"/>
              <a:t>possibilities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/>
            <a:r>
              <a:rPr lang="en-US" sz="2000" dirty="0" smtClean="0"/>
              <a:t>.. imagine </a:t>
            </a:r>
            <a:r>
              <a:rPr lang="en-US" sz="2000" dirty="0"/>
              <a:t>the receiver’s difficulty in finding </a:t>
            </a:r>
            <a:r>
              <a:rPr lang="en-US" sz="2000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10 errors </a:t>
            </a:r>
            <a:r>
              <a:rPr lang="en-US" sz="2000" dirty="0"/>
              <a:t>in a data unit </a:t>
            </a:r>
            <a:r>
              <a:rPr lang="en-US" sz="2000" dirty="0" smtClean="0"/>
              <a:t>of </a:t>
            </a:r>
            <a:r>
              <a:rPr lang="en-US" sz="2000" dirty="0" smtClean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1000 </a:t>
            </a:r>
            <a:r>
              <a:rPr lang="en-US" sz="2000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bits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smtClean="0"/>
              <a:t> of 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51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302168"/>
              </p:ext>
            </p:extLst>
          </p:nvPr>
        </p:nvGraphicFramePr>
        <p:xfrm>
          <a:off x="609600" y="304800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smtClean="0"/>
              <a:t> of 22</a:t>
            </a:r>
            <a:endParaRPr lang="en-US" dirty="0"/>
          </a:p>
        </p:txBody>
      </p:sp>
      <p:graphicFrame>
        <p:nvGraphicFramePr>
          <p:cNvPr id="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426036"/>
              </p:ext>
            </p:extLst>
          </p:nvPr>
        </p:nvGraphicFramePr>
        <p:xfrm>
          <a:off x="609600" y="1069702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3693488"/>
              </p:ext>
            </p:extLst>
          </p:nvPr>
        </p:nvGraphicFramePr>
        <p:xfrm>
          <a:off x="609600" y="1834604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graphicFrame>
        <p:nvGraphicFramePr>
          <p:cNvPr id="8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7111660"/>
              </p:ext>
            </p:extLst>
          </p:nvPr>
        </p:nvGraphicFramePr>
        <p:xfrm>
          <a:off x="609600" y="2599506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graphicFrame>
        <p:nvGraphicFramePr>
          <p:cNvPr id="9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3626202"/>
              </p:ext>
            </p:extLst>
          </p:nvPr>
        </p:nvGraphicFramePr>
        <p:xfrm>
          <a:off x="609600" y="687251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graphicFrame>
        <p:nvGraphicFramePr>
          <p:cNvPr id="10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2021592"/>
              </p:ext>
            </p:extLst>
          </p:nvPr>
        </p:nvGraphicFramePr>
        <p:xfrm>
          <a:off x="609600" y="1452153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graphicFrame>
        <p:nvGraphicFramePr>
          <p:cNvPr id="11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3563086"/>
              </p:ext>
            </p:extLst>
          </p:nvPr>
        </p:nvGraphicFramePr>
        <p:xfrm>
          <a:off x="609600" y="2217055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8953223"/>
              </p:ext>
            </p:extLst>
          </p:nvPr>
        </p:nvGraphicFramePr>
        <p:xfrm>
          <a:off x="609600" y="2981960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graphicFrame>
        <p:nvGraphicFramePr>
          <p:cNvPr id="13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85346"/>
              </p:ext>
            </p:extLst>
          </p:nvPr>
        </p:nvGraphicFramePr>
        <p:xfrm>
          <a:off x="609600" y="3915861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graphicFrame>
        <p:nvGraphicFramePr>
          <p:cNvPr id="1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8107157"/>
              </p:ext>
            </p:extLst>
          </p:nvPr>
        </p:nvGraphicFramePr>
        <p:xfrm>
          <a:off x="609600" y="4277360"/>
          <a:ext cx="822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8638367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90076593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71836805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85185306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61397522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780727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28681616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2497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54382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60673" y="4849619"/>
            <a:ext cx="963725" cy="1015663"/>
          </a:xfrm>
          <a:prstGeom prst="rect">
            <a:avLst/>
          </a:prstGeom>
          <a:solidFill>
            <a:srgbClr val="738EC1"/>
          </a:solidFill>
        </p:spPr>
        <p:txBody>
          <a:bodyPr wrap="none" rtlCol="0">
            <a:spAutoFit/>
          </a:bodyPr>
          <a:lstStyle/>
          <a:p>
            <a:r>
              <a:rPr lang="en-US" sz="6000" dirty="0" smtClean="0">
                <a:solidFill>
                  <a:schemeClr val="bg1"/>
                </a:solidFill>
              </a:rPr>
              <a:t>28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61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Coding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Redundancy</a:t>
            </a:r>
            <a:r>
              <a:rPr lang="en-US" sz="2400" dirty="0"/>
              <a:t> is achieved through various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coding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schemes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We can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divide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coding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schemes</a:t>
            </a:r>
            <a:r>
              <a:rPr lang="en-US" sz="2400" dirty="0"/>
              <a:t> into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two</a:t>
            </a:r>
            <a:r>
              <a:rPr lang="en-US" sz="2400" dirty="0"/>
              <a:t> broad </a:t>
            </a:r>
            <a:r>
              <a:rPr lang="en-US" sz="2400" dirty="0" smtClean="0"/>
              <a:t>categories: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cap="small" dirty="0" smtClean="0"/>
              <a:t>Block coding</a:t>
            </a:r>
            <a:endParaRPr lang="en-US" sz="2400" cap="small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b="1" cap="small" dirty="0" smtClean="0"/>
              <a:t>Convolution coding</a:t>
            </a:r>
            <a:r>
              <a:rPr lang="en-US" sz="2400" i="1" dirty="0" smtClean="0"/>
              <a:t>. </a:t>
            </a:r>
            <a:br>
              <a:rPr lang="en-US" sz="2400" i="1" dirty="0" smtClean="0"/>
            </a:br>
            <a:r>
              <a:rPr lang="en-US" sz="2400" i="1" dirty="0"/>
              <a:t/>
            </a:r>
            <a:br>
              <a:rPr lang="en-US" sz="2400" i="1" dirty="0"/>
            </a:br>
            <a:r>
              <a:rPr lang="en-US" sz="2000" dirty="0">
                <a:solidFill>
                  <a:srgbClr val="FF0000"/>
                </a:solidFill>
              </a:rPr>
              <a:t>(convolution coding </a:t>
            </a:r>
            <a:r>
              <a:rPr lang="en-US" sz="2000" dirty="0" smtClean="0">
                <a:solidFill>
                  <a:srgbClr val="FF0000"/>
                </a:solidFill>
              </a:rPr>
              <a:t>is more </a:t>
            </a:r>
            <a:r>
              <a:rPr lang="en-US" sz="2000" dirty="0">
                <a:solidFill>
                  <a:srgbClr val="FF0000"/>
                </a:solidFill>
              </a:rPr>
              <a:t>complex and beyond the scope of this book)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smtClean="0"/>
              <a:t> of 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02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 smtClean="0"/>
              <a:t>Block Coding</a:t>
            </a:r>
            <a:endParaRPr lang="en-US" cap="smal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654675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sz="2400" dirty="0" smtClean="0"/>
                  <a:t>In block coding, </a:t>
                </a:r>
              </a:p>
              <a:p>
                <a:pPr>
                  <a:lnSpc>
                    <a:spcPct val="170000"/>
                  </a:lnSpc>
                </a:pPr>
                <a:r>
                  <a:rPr lang="en-US" sz="2400" dirty="0" smtClean="0"/>
                  <a:t>we </a:t>
                </a:r>
                <a:r>
                  <a:rPr lang="en-US" sz="2400" dirty="0"/>
                  <a:t>divide our message into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blocks</a:t>
                </a:r>
                <a:r>
                  <a:rPr lang="en-US" sz="2400" dirty="0"/>
                  <a:t>, each </a:t>
                </a:r>
                <a:r>
                  <a:rPr lang="en-US" sz="2400" b="1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of </a:t>
                </a:r>
                <a:r>
                  <a:rPr lang="en-US" sz="2400" b="1" i="1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k </a:t>
                </a:r>
                <a:r>
                  <a:rPr lang="en-US" sz="2400" b="1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bits</a:t>
                </a:r>
                <a:r>
                  <a:rPr lang="en-US" sz="2400" dirty="0"/>
                  <a:t>, called </a:t>
                </a:r>
                <a:r>
                  <a:rPr lang="en-US" sz="2400" b="1" i="1" dirty="0"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datawords</a:t>
                </a:r>
                <a:r>
                  <a:rPr lang="en-US" sz="2400" b="1" dirty="0"/>
                  <a:t>.</a:t>
                </a:r>
              </a:p>
              <a:p>
                <a:pPr>
                  <a:lnSpc>
                    <a:spcPct val="170000"/>
                  </a:lnSpc>
                </a:pPr>
                <a:r>
                  <a:rPr lang="en-US" sz="2400" dirty="0"/>
                  <a:t>We add </a:t>
                </a:r>
                <a:r>
                  <a:rPr lang="en-US" sz="2400" i="1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r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redundant bits</a:t>
                </a:r>
                <a:r>
                  <a:rPr lang="en-US" sz="2400" dirty="0"/>
                  <a:t> to each block to make the length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  <a:endParaRPr lang="en-US" sz="2400" dirty="0" smtClean="0"/>
              </a:p>
              <a:p>
                <a:pPr>
                  <a:lnSpc>
                    <a:spcPct val="170000"/>
                  </a:lnSpc>
                </a:pPr>
                <a:r>
                  <a:rPr lang="en-US" sz="2400" dirty="0" smtClean="0"/>
                  <a:t>The </a:t>
                </a:r>
                <a:r>
                  <a:rPr lang="en-US" sz="2400" dirty="0"/>
                  <a:t>resulting </a:t>
                </a:r>
                <a:r>
                  <a:rPr lang="en-US" sz="2400" i="1" dirty="0" smtClean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n</a:t>
                </a:r>
                <a:r>
                  <a:rPr lang="en-US" sz="2400" dirty="0" smtClean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-bit</a:t>
                </a:r>
                <a:r>
                  <a:rPr lang="en-US" sz="2400" dirty="0" smtClean="0"/>
                  <a:t> blocks </a:t>
                </a:r>
                <a:r>
                  <a:rPr lang="en-US" sz="2400" dirty="0"/>
                  <a:t>are called </a:t>
                </a:r>
                <a:r>
                  <a:rPr lang="en-US" sz="24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codewords</a:t>
                </a:r>
                <a:r>
                  <a:rPr lang="en-US" sz="2400" b="1" dirty="0" smtClean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.</a:t>
                </a:r>
              </a:p>
              <a:p>
                <a:pPr>
                  <a:lnSpc>
                    <a:spcPct val="170000"/>
                  </a:lnSpc>
                </a:pPr>
                <a:endParaRPr lang="en-US" sz="2400" b="1" dirty="0">
                  <a:solidFill>
                    <a:srgbClr val="FF0000"/>
                  </a:solidFill>
                  <a:effectLst>
                    <a:glow rad="228600">
                      <a:schemeClr val="accent6">
                        <a:satMod val="175000"/>
                        <a:alpha val="40000"/>
                      </a:schemeClr>
                    </a:glow>
                  </a:effectLst>
                </a:endParaRPr>
              </a:p>
              <a:p>
                <a:pPr>
                  <a:lnSpc>
                    <a:spcPct val="170000"/>
                  </a:lnSpc>
                </a:pP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With 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k bits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, we can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create a combination 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 datawords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; with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n bits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, we 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can </a:t>
                </a: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create a 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combination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 codewords</a:t>
                </a:r>
              </a:p>
              <a:p>
                <a:pPr>
                  <a:lnSpc>
                    <a:spcPct val="170000"/>
                  </a:lnSpc>
                </a:pPr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Since n &gt; k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 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codewords  &gt;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 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datawords</a:t>
                </a:r>
              </a:p>
              <a:p>
                <a:pPr>
                  <a:lnSpc>
                    <a:spcPct val="17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 </a:t>
                </a:r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>
                      <a:glow rad="228600">
                        <a:schemeClr val="accent4">
                          <a:satMod val="175000"/>
                          <a:alpha val="40000"/>
                        </a:schemeClr>
                      </a:glow>
                    </a:effectLst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>
                              <a:glow rad="228600">
                                <a:schemeClr val="accent4">
                                  <a:satMod val="175000"/>
                                  <a:alpha val="40000"/>
                                </a:schemeClr>
                              </a:glow>
                            </a:effectLst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codeword not in use</a:t>
                </a:r>
                <a:endParaRPr lang="en-US" sz="24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654675"/>
              </a:xfrm>
              <a:blipFill>
                <a:blip r:embed="rId2"/>
                <a:stretch>
                  <a:fillRect l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smtClean="0"/>
              <a:t> of 22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71800" y="1232972"/>
            <a:ext cx="2399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small" dirty="0" smtClean="0">
                <a:solidFill>
                  <a:srgbClr val="FF0000"/>
                </a:solidFill>
              </a:rPr>
              <a:t>Dataword </a:t>
            </a:r>
            <a:r>
              <a:rPr lang="en-US" b="1" cap="small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Codeword</a:t>
            </a:r>
            <a:endParaRPr lang="en-US" b="1" cap="smal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72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7533" y="76200"/>
            <a:ext cx="7448933" cy="332122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01" y="3657600"/>
            <a:ext cx="7696596" cy="22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5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677512"/>
            <a:ext cx="8229600" cy="114300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555274"/>
            <a:ext cx="8229600" cy="23164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smtClean="0"/>
              <a:t> of 22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352800" y="1555274"/>
            <a:ext cx="3962400" cy="3810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752600" y="2098853"/>
            <a:ext cx="2971800" cy="3810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048000" y="2433974"/>
            <a:ext cx="3429000" cy="3810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724400" y="2942750"/>
            <a:ext cx="1775012" cy="3810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47810"/>
          <a:stretch/>
        </p:blipFill>
        <p:spPr>
          <a:xfrm>
            <a:off x="685800" y="190721"/>
            <a:ext cx="7696596" cy="11964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530" y="4603670"/>
            <a:ext cx="7575939" cy="118116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62000" y="983219"/>
            <a:ext cx="3733800" cy="312181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69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Hamming Distance</a:t>
            </a:r>
            <a:endParaRPr lang="en-US" cap="smal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The Hamming distance between two words (of the same size) is the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number </a:t>
                </a:r>
                <a:r>
                  <a:rPr lang="en-US" sz="2400" dirty="0" smtClean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of differences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between the corresponding </a:t>
                </a:r>
                <a:r>
                  <a:rPr lang="en-US" sz="2400" dirty="0" smtClean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bits</a:t>
                </a:r>
                <a:r>
                  <a:rPr lang="en-US" sz="2400" dirty="0" smtClean="0"/>
                  <a:t>.</a:t>
                </a:r>
              </a:p>
              <a:p>
                <a:r>
                  <a:rPr lang="en-US" sz="2400" b="1" dirty="0" smtClean="0"/>
                  <a:t>Example: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 smtClean="0"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</a:rPr>
                      <m:t>d</m:t>
                    </m:r>
                    <m:r>
                      <m:rPr>
                        <m:nor/>
                      </m:rPr>
                      <a:rPr lang="en-US" sz="2400" smtClean="0">
                        <a:effectLst>
                          <a:glow rad="228600">
                            <a:schemeClr val="accent6">
                              <a:satMod val="175000"/>
                              <a:alpha val="40000"/>
                            </a:schemeClr>
                          </a:glow>
                        </a:effectLst>
                      </a:rPr>
                      <m:t>(00000, 01101) = 3.</m:t>
                    </m:r>
                  </m:oMath>
                </a14:m>
                <a:endParaRPr lang="en-US" sz="1800" dirty="0" smtClean="0">
                  <a:effectLst>
                    <a:glow rad="228600">
                      <a:schemeClr val="accent6">
                        <a:satMod val="175000"/>
                        <a:alpha val="40000"/>
                      </a:schemeClr>
                    </a:glow>
                  </a:effectLst>
                </a:endParaRPr>
              </a:p>
              <a:p>
                <a:r>
                  <a:rPr lang="en-US" sz="2400" dirty="0" smtClean="0"/>
                  <a:t>If </a:t>
                </a:r>
                <a:r>
                  <a:rPr lang="en-US" sz="2400" dirty="0"/>
                  <a:t>the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Hamming</a:t>
                </a:r>
                <a:r>
                  <a:rPr lang="en-US" sz="2400" dirty="0" smtClean="0"/>
                  <a:t>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distance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between the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sent</a:t>
                </a:r>
                <a:r>
                  <a:rPr lang="en-US" sz="2400" dirty="0"/>
                  <a:t> and the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received</a:t>
                </a:r>
                <a:r>
                  <a:rPr lang="en-US" sz="2400" dirty="0"/>
                  <a:t> codeword is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not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zero</a:t>
                </a:r>
                <a:r>
                  <a:rPr lang="en-US" sz="2400" dirty="0"/>
                  <a:t>, the codeword has </a:t>
                </a:r>
                <a:r>
                  <a:rPr lang="en-US" sz="2400" dirty="0" smtClean="0"/>
                  <a:t>been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corrupted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during transmission</a:t>
                </a:r>
                <a:r>
                  <a:rPr lang="en-US" sz="2400" dirty="0" smtClean="0"/>
                  <a:t>.</a:t>
                </a:r>
              </a:p>
              <a:p>
                <a:r>
                  <a:rPr lang="en-US" sz="2400" dirty="0"/>
                  <a:t>The Hamming distance can easily be found if we apply the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XOR operation (⊕) on </a:t>
                </a:r>
                <a:r>
                  <a:rPr lang="en-US" sz="2400" dirty="0" smtClean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the two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words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FF0000"/>
                    </a:solidFill>
                    <a:effectLst>
                      <a:glow rad="228600">
                        <a:schemeClr val="accent6">
                          <a:satMod val="175000"/>
                          <a:alpha val="40000"/>
                        </a:schemeClr>
                      </a:glow>
                    </a:effectLst>
                  </a:rPr>
                  <a:t>count the number of 1s</a:t>
                </a:r>
                <a:r>
                  <a:rPr lang="en-US" sz="2400" dirty="0"/>
                  <a:t> in the result.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5625"/>
            <a:ext cx="1857451" cy="117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01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457200"/>
            <a:ext cx="8229600" cy="11130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smtClean="0"/>
              <a:t> of 22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343400" y="762000"/>
            <a:ext cx="3962400" cy="457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800600" y="1149612"/>
            <a:ext cx="3962400" cy="457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81000" y="2667000"/>
            <a:ext cx="8458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Minimum Hamming Distance for Error </a:t>
            </a:r>
            <a:r>
              <a:rPr lang="en-US" sz="2400" b="1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Detection: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a set of </a:t>
            </a:r>
            <a:r>
              <a:rPr lang="en-US" sz="2400" dirty="0" err="1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codewords</a:t>
            </a:r>
            <a:r>
              <a:rPr lang="en-US" sz="2400" dirty="0"/>
              <a:t>, the minimum Hamming distance is the smallest Hamming </a:t>
            </a:r>
            <a:r>
              <a:rPr lang="en-US" sz="2400" dirty="0" smtClean="0"/>
              <a:t>distance between </a:t>
            </a:r>
            <a:r>
              <a:rPr lang="en-US" sz="2400" dirty="0"/>
              <a:t>all possible pairs of </a:t>
            </a:r>
            <a:r>
              <a:rPr lang="en-US" sz="2400" dirty="0" err="1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codewords</a:t>
            </a:r>
            <a:r>
              <a:rPr lang="en-US" sz="2400" dirty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13" y="4495800"/>
            <a:ext cx="8140387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7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7" y="228600"/>
            <a:ext cx="8575061" cy="1600200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7810"/>
          <a:stretch/>
        </p:blipFill>
        <p:spPr>
          <a:xfrm>
            <a:off x="685800" y="2133600"/>
            <a:ext cx="7696596" cy="11964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" y="643581"/>
            <a:ext cx="6553200" cy="270819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7201" y="3907909"/>
            <a:ext cx="8229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Linear Block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Almost all block codes used today belong to 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subset</a:t>
            </a:r>
            <a:r>
              <a:rPr lang="en-US" sz="2400" dirty="0"/>
              <a:t> of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block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codes</a:t>
            </a:r>
            <a:r>
              <a:rPr lang="en-US" sz="2400" dirty="0"/>
              <a:t> called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linear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block codes</a:t>
            </a:r>
            <a:r>
              <a:rPr lang="en-US" sz="24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/>
              <a:t>linear block code is a code in which the exclusive OR (</a:t>
            </a:r>
            <a:r>
              <a:rPr lang="en-US" sz="2400" dirty="0" smtClean="0"/>
              <a:t>addition modulo-2</a:t>
            </a:r>
            <a:r>
              <a:rPr lang="en-US" sz="2400" dirty="0"/>
              <a:t>) of two valid </a:t>
            </a:r>
            <a:r>
              <a:rPr lang="en-US" sz="2400" b="1" dirty="0" err="1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codewords</a:t>
            </a:r>
            <a:r>
              <a:rPr lang="en-US" sz="2400" dirty="0"/>
              <a:t> creates another valid </a:t>
            </a:r>
            <a:r>
              <a:rPr lang="en-US" sz="2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codeword</a:t>
            </a:r>
          </a:p>
        </p:txBody>
      </p:sp>
    </p:spTree>
    <p:extLst>
      <p:ext uri="{BB962C8B-B14F-4D97-AF65-F5344CB8AC3E}">
        <p14:creationId xmlns:p14="http://schemas.microsoft.com/office/powerpoint/2010/main" val="132627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33400"/>
            <a:ext cx="8590014" cy="11989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04800" y="533401"/>
            <a:ext cx="4495800" cy="2286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7810"/>
          <a:stretch/>
        </p:blipFill>
        <p:spPr>
          <a:xfrm>
            <a:off x="685800" y="2057400"/>
            <a:ext cx="7696596" cy="11964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65" y="3733800"/>
            <a:ext cx="8156643" cy="990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24528" y="4114800"/>
            <a:ext cx="3700272" cy="3048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228600" y="1087026"/>
            <a:ext cx="9677400" cy="752861"/>
            <a:chOff x="-228600" y="1087026"/>
            <a:chExt cx="9677400" cy="752861"/>
          </a:xfrm>
        </p:grpSpPr>
        <p:sp>
          <p:nvSpPr>
            <p:cNvPr id="8" name="Rounded Rectangle 7"/>
            <p:cNvSpPr/>
            <p:nvPr/>
          </p:nvSpPr>
          <p:spPr>
            <a:xfrm>
              <a:off x="914400" y="1087026"/>
              <a:ext cx="8534400" cy="360773"/>
            </a:xfrm>
            <a:prstGeom prst="roundRect">
              <a:avLst/>
            </a:prstGeom>
            <a:solidFill>
              <a:srgbClr val="FFFF00">
                <a:alpha val="25000"/>
              </a:srgbClr>
            </a:solidFill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-228600" y="1479114"/>
              <a:ext cx="2895600" cy="360773"/>
            </a:xfrm>
            <a:prstGeom prst="roundRect">
              <a:avLst/>
            </a:prstGeom>
            <a:solidFill>
              <a:srgbClr val="FFFF00">
                <a:alpha val="25000"/>
              </a:srgbClr>
            </a:solidFill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2630466" y="2893067"/>
            <a:ext cx="1865334" cy="231134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324600" y="2617520"/>
            <a:ext cx="1865334" cy="231134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6324600" y="2885487"/>
            <a:ext cx="1865334" cy="231134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9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Parity-Check 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087" y="2077255"/>
            <a:ext cx="8485826" cy="2971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626382"/>
            <a:ext cx="4737343" cy="4508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1" y="5162544"/>
            <a:ext cx="1295400" cy="50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76200"/>
            <a:ext cx="6852002" cy="38546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375" y="3884447"/>
            <a:ext cx="3245017" cy="488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54911"/>
            <a:ext cx="3435527" cy="3238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414715" y="4602645"/>
                <a:ext cx="3078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+ 0+ 1+1 =3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% 2=1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715" y="4602645"/>
                <a:ext cx="30780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135102" y="4307026"/>
                <a:ext cx="7505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1011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102" y="4307026"/>
                <a:ext cx="7505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325396" y="4278778"/>
                <a:ext cx="878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1011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5396" y="4278778"/>
                <a:ext cx="87876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24644" y="4602645"/>
                <a:ext cx="34820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 + 0+ 1+1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4 % 2=0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644" y="4602645"/>
                <a:ext cx="348204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22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585912"/>
            <a:ext cx="8424311" cy="51355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smtClean="0"/>
              <a:t> of 22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852311" y="1710881"/>
            <a:ext cx="3633216" cy="256032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76200"/>
            <a:ext cx="3555541" cy="12451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899690" y="679538"/>
            <a:ext cx="1757910" cy="139412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200400" y="1966912"/>
            <a:ext cx="2971800" cy="264535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142101" y="1966911"/>
            <a:ext cx="995337" cy="264535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76550" y="2231446"/>
            <a:ext cx="1553949" cy="359354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18564" y="2735090"/>
            <a:ext cx="2786636" cy="389110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588152" y="2735090"/>
            <a:ext cx="888847" cy="389110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718564" y="3268490"/>
            <a:ext cx="2634236" cy="389110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Content Placeholder 4"/>
          <p:cNvPicPr>
            <a:picLocks noChangeAspect="1"/>
          </p:cNvPicPr>
          <p:nvPr/>
        </p:nvPicPr>
        <p:blipFill rotWithShape="1">
          <a:blip r:embed="rId4"/>
          <a:srcRect t="77097" r="59603" b="10391"/>
          <a:stretch/>
        </p:blipFill>
        <p:spPr>
          <a:xfrm>
            <a:off x="4309683" y="321942"/>
            <a:ext cx="4363481" cy="76032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334000" y="3253973"/>
            <a:ext cx="888847" cy="389110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718564" y="4087712"/>
            <a:ext cx="4158236" cy="389110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934200" y="4087712"/>
            <a:ext cx="888847" cy="389110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730596" y="5124755"/>
            <a:ext cx="4298604" cy="389110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7248591" y="5178496"/>
            <a:ext cx="888847" cy="389110"/>
          </a:xfrm>
          <a:prstGeom prst="roundRect">
            <a:avLst/>
          </a:prstGeom>
          <a:solidFill>
            <a:srgbClr val="00206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0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 smtClean="0"/>
              <a:t>Cyclic Codes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Cyclic codes are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special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linear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block</a:t>
            </a:r>
            <a:r>
              <a:rPr lang="en-US" sz="2400" dirty="0"/>
              <a:t> codes with one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extra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property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In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cyclic code</a:t>
            </a:r>
            <a:r>
              <a:rPr lang="en-US" sz="2400" b="1" dirty="0"/>
              <a:t>, </a:t>
            </a:r>
            <a:r>
              <a:rPr lang="en-US" sz="2400" dirty="0" smtClean="0"/>
              <a:t>if a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codeword</a:t>
            </a:r>
            <a:r>
              <a:rPr lang="en-US" sz="2400" dirty="0"/>
              <a:t> is cyclically shifted (rotated), the result is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another</a:t>
            </a:r>
            <a:r>
              <a:rPr lang="en-US" sz="2400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codeword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For </a:t>
            </a:r>
            <a:r>
              <a:rPr lang="en-US" sz="2400" dirty="0" err="1" smtClean="0"/>
              <a:t>example,if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1011000</a:t>
            </a:r>
            <a:r>
              <a:rPr lang="en-US" sz="2400" dirty="0" smtClean="0"/>
              <a:t> </a:t>
            </a:r>
            <a:r>
              <a:rPr lang="en-US" sz="2400" dirty="0"/>
              <a:t>is 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codeword</a:t>
            </a:r>
            <a:r>
              <a:rPr lang="en-US" sz="2400" dirty="0"/>
              <a:t> and we cyclically left-shift, then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0110001</a:t>
            </a:r>
            <a:r>
              <a:rPr lang="en-US" sz="2400" dirty="0"/>
              <a:t> is also 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69" y="4419600"/>
            <a:ext cx="8565262" cy="6096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068284"/>
              </p:ext>
            </p:extLst>
          </p:nvPr>
        </p:nvGraphicFramePr>
        <p:xfrm>
          <a:off x="1371600" y="5206841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95439549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80660442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0585078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8123902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2938387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356676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5877118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54226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</a:t>
                      </a:r>
                      <a:endParaRPr kumimoji="0" 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</a:t>
                      </a:r>
                      <a:endParaRPr kumimoji="0" 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</a:t>
                      </a:r>
                      <a:endParaRPr kumimoji="0" 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0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89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860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6</a:t>
                      </a:r>
                      <a:endParaRPr kumimoji="0" 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en-US" sz="1800" b="0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5</a:t>
                      </a:r>
                      <a:endParaRPr kumimoji="0" lang="en-US" sz="18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0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7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22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09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small" dirty="0"/>
              <a:t>Cyclic Redundancy </a:t>
            </a:r>
            <a:r>
              <a:rPr lang="en-US" b="1" cap="small" dirty="0" smtClean="0"/>
              <a:t>Check (CRC)</a:t>
            </a:r>
            <a:endParaRPr lang="en-US" cap="smal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9759" y="1524000"/>
            <a:ext cx="7404481" cy="337837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smtClean="0"/>
              <a:t> of 22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438400" y="5257800"/>
            <a:ext cx="14638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0001011</a:t>
            </a:r>
          </a:p>
          <a:p>
            <a:r>
              <a:rPr lang="en-US" sz="2800" dirty="0" smtClean="0"/>
              <a:t>0010110</a:t>
            </a:r>
            <a:endParaRPr lang="en-US" sz="2800" dirty="0"/>
          </a:p>
        </p:txBody>
      </p:sp>
      <p:sp>
        <p:nvSpPr>
          <p:cNvPr id="6" name="Right Brace 5"/>
          <p:cNvSpPr/>
          <p:nvPr/>
        </p:nvSpPr>
        <p:spPr>
          <a:xfrm>
            <a:off x="4038600" y="5257800"/>
            <a:ext cx="609600" cy="12192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68769" y="5605790"/>
            <a:ext cx="146386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/>
              <a:t>0011101</a:t>
            </a:r>
            <a:endParaRPr lang="en-US" sz="2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80" y="5189818"/>
            <a:ext cx="1857451" cy="117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52400"/>
            <a:ext cx="7448933" cy="425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5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7885"/>
          <a:stretch/>
        </p:blipFill>
        <p:spPr>
          <a:xfrm>
            <a:off x="5181600" y="228600"/>
            <a:ext cx="3962904" cy="4343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smtClean="0"/>
              <a:t> of 22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28600" y="439796"/>
                <a:ext cx="5257800" cy="58477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In the encoder, </a:t>
                </a:r>
                <a:endParaRPr lang="en-US" sz="2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The </a:t>
                </a:r>
                <a:r>
                  <a:rPr lang="en-US" sz="2200" b="1" dirty="0"/>
                  <a:t>dataword</a:t>
                </a:r>
                <a:r>
                  <a:rPr lang="en-US" sz="2200" dirty="0"/>
                  <a:t> has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dirty="0"/>
                  <a:t> bits (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4 here</a:t>
                </a:r>
                <a:r>
                  <a:rPr lang="en-US" sz="2200" dirty="0"/>
                  <a:t>); </a:t>
                </a:r>
                <a:endParaRPr lang="en-US" sz="2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the </a:t>
                </a:r>
                <a:r>
                  <a:rPr lang="en-US" sz="2200" b="1" dirty="0"/>
                  <a:t>codeword</a:t>
                </a:r>
                <a:r>
                  <a:rPr lang="en-US" sz="2200" dirty="0"/>
                  <a:t> has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 bits (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7 here</a:t>
                </a:r>
                <a:r>
                  <a:rPr lang="en-US" sz="2200" dirty="0" smtClean="0"/>
                  <a:t>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size of the </a:t>
                </a:r>
                <a:r>
                  <a:rPr lang="en-US" sz="2200" b="1" dirty="0"/>
                  <a:t>dataword</a:t>
                </a:r>
                <a:r>
                  <a:rPr lang="en-US" sz="2200" dirty="0"/>
                  <a:t> is augmented by adding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(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3 here</a:t>
                </a:r>
                <a:r>
                  <a:rPr lang="en-US" sz="2200" dirty="0"/>
                  <a:t>)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0s</a:t>
                </a:r>
                <a:r>
                  <a:rPr lang="en-US" sz="2200" dirty="0"/>
                  <a:t> to the right-hand </a:t>
                </a:r>
                <a:r>
                  <a:rPr lang="en-US" sz="2200" dirty="0" smtClean="0"/>
                  <a:t>side of </a:t>
                </a:r>
                <a:r>
                  <a:rPr lang="en-US" sz="2200" dirty="0"/>
                  <a:t>the word</a:t>
                </a:r>
                <a:r>
                  <a:rPr lang="en-US" sz="2200" dirty="0" smtClean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</a:t>
                </a:r>
                <a:r>
                  <a:rPr lang="en-US" sz="2200" b="1" i="1" dirty="0">
                    <a:solidFill>
                      <a:srgbClr val="FF0000"/>
                    </a:solidFill>
                  </a:rPr>
                  <a:t>n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-bit</a:t>
                </a:r>
                <a:r>
                  <a:rPr lang="en-US" sz="2200" dirty="0"/>
                  <a:t> result is fed into the generator</a:t>
                </a:r>
                <a:r>
                  <a:rPr lang="en-US" sz="2200" dirty="0" smtClean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generator uses a divisor of </a:t>
                </a:r>
                <a:r>
                  <a:rPr lang="en-US" sz="2200" dirty="0" smtClean="0"/>
                  <a:t>size</a:t>
                </a:r>
                <a:br>
                  <a:rPr lang="en-US" sz="2200" dirty="0" smtClean="0"/>
                </a:br>
                <a:r>
                  <a:rPr lang="en-US" sz="2200" dirty="0" smtClean="0"/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+ 1 </m:t>
                    </m:r>
                  </m:oMath>
                </a14:m>
                <a:r>
                  <a:rPr lang="en-US" sz="2200" dirty="0"/>
                  <a:t>(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4 here</a:t>
                </a:r>
                <a:r>
                  <a:rPr lang="en-US" sz="2200" dirty="0"/>
                  <a:t>), predefined and agreed </a:t>
                </a:r>
                <a:r>
                  <a:rPr lang="en-US" sz="2200" dirty="0" smtClean="0"/>
                  <a:t>upon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generator </a:t>
                </a:r>
                <a:r>
                  <a:rPr lang="en-US" sz="2200" b="1" dirty="0"/>
                  <a:t>divides</a:t>
                </a:r>
                <a:r>
                  <a:rPr lang="en-US" sz="2200" dirty="0"/>
                  <a:t> the </a:t>
                </a:r>
                <a:r>
                  <a:rPr lang="en-US" sz="2200" dirty="0" smtClean="0"/>
                  <a:t>augmented </a:t>
                </a:r>
                <a:r>
                  <a:rPr lang="en-US" sz="2200" b="1" dirty="0" smtClean="0"/>
                  <a:t>dataword</a:t>
                </a:r>
                <a:r>
                  <a:rPr lang="en-US" sz="2200" dirty="0" smtClean="0"/>
                  <a:t> </a:t>
                </a:r>
                <a:r>
                  <a:rPr lang="en-US" sz="2200" dirty="0"/>
                  <a:t>by the divisor (modulo-2 division). </a:t>
                </a:r>
                <a:endParaRPr lang="en-US" sz="2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The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quotient</a:t>
                </a:r>
                <a:r>
                  <a:rPr lang="en-US" sz="2200" dirty="0"/>
                  <a:t> of the division is </a:t>
                </a:r>
                <a:r>
                  <a:rPr lang="en-US" sz="2200" b="1" dirty="0" smtClean="0">
                    <a:solidFill>
                      <a:srgbClr val="FF0000"/>
                    </a:solidFill>
                  </a:rPr>
                  <a:t>discarded</a:t>
                </a:r>
                <a:r>
                  <a:rPr lang="en-US" sz="2200" dirty="0"/>
                  <a:t>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The </a:t>
                </a:r>
                <a:r>
                  <a:rPr lang="en-US" sz="2200" dirty="0"/>
                  <a:t>remainder (</a:t>
                </a:r>
                <a:r>
                  <a:rPr lang="en-US" sz="2200" b="1" u="sng" dirty="0"/>
                  <a:t>r2r1r0</a:t>
                </a:r>
                <a:r>
                  <a:rPr lang="en-US" sz="2200" dirty="0"/>
                  <a:t>) is appended to the dataword to create the codeword</a:t>
                </a:r>
                <a:endParaRPr lang="en-US" sz="2200" dirty="0" smtClean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39796"/>
                <a:ext cx="5257800" cy="5847755"/>
              </a:xfrm>
              <a:prstGeom prst="rect">
                <a:avLst/>
              </a:prstGeom>
              <a:blipFill>
                <a:blip r:embed="rId3"/>
                <a:stretch>
                  <a:fillRect l="-1392" t="-730" r="-1972" b="-1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864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smtClean="0"/>
              <a:t> of 22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771"/>
          <a:stretch/>
        </p:blipFill>
        <p:spPr>
          <a:xfrm>
            <a:off x="381000" y="1"/>
            <a:ext cx="4258575" cy="4038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639575" y="346988"/>
                <a:ext cx="4428225" cy="51706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decoder</a:t>
                </a:r>
                <a:r>
                  <a:rPr lang="en-US" sz="2200" dirty="0"/>
                  <a:t> receives the codeword (possibly corrupted in transition). A copy of </a:t>
                </a:r>
                <a:r>
                  <a:rPr lang="en-US" sz="2200" dirty="0" smtClean="0"/>
                  <a:t>all n </a:t>
                </a:r>
                <a:r>
                  <a:rPr lang="en-US" sz="2200" dirty="0"/>
                  <a:t>bits is fed to the checker, which is a replica of the generator. </a:t>
                </a:r>
                <a:endParaRPr lang="en-US" sz="2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The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remainder produced by </a:t>
                </a:r>
                <a:r>
                  <a:rPr lang="en-US" sz="2200" dirty="0"/>
                  <a:t>the checker is a syndrome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(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3 here</a:t>
                </a:r>
                <a:r>
                  <a:rPr lang="en-US" sz="2200" dirty="0"/>
                  <a:t>) bits, which is fed to the decision </a:t>
                </a:r>
                <a:r>
                  <a:rPr lang="en-US" sz="2200" dirty="0" smtClean="0"/>
                  <a:t>logic analyzer</a:t>
                </a:r>
                <a:r>
                  <a:rPr lang="en-US" sz="2200" dirty="0"/>
                  <a:t>. </a:t>
                </a:r>
                <a:endParaRPr lang="en-US" sz="2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If </a:t>
                </a:r>
                <a:r>
                  <a:rPr lang="en-US" sz="2200" dirty="0"/>
                  <a:t>the syndrome bits are all 0s, the 4 </a:t>
                </a:r>
                <a:r>
                  <a:rPr lang="en-US" sz="2200" dirty="0" smtClean="0"/>
                  <a:t>leftmost bits </a:t>
                </a:r>
                <a:r>
                  <a:rPr lang="en-US" sz="2200" dirty="0"/>
                  <a:t>of the codeword are accepted as the dataword (interpreted as no error); </a:t>
                </a:r>
                <a:endParaRPr lang="en-US" sz="2200" dirty="0" smtClean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 smtClean="0"/>
                  <a:t>otherwise, the </a:t>
                </a:r>
                <a:r>
                  <a:rPr lang="en-US" sz="2200" dirty="0"/>
                  <a:t>4 bits are discarded (error).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75" y="346988"/>
                <a:ext cx="4428225" cy="5170646"/>
              </a:xfrm>
              <a:prstGeom prst="rect">
                <a:avLst/>
              </a:prstGeom>
              <a:blipFill>
                <a:blip r:embed="rId3"/>
                <a:stretch>
                  <a:fillRect l="-1513" t="-825" r="-2476" b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898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828" y="27638"/>
            <a:ext cx="7215277" cy="54864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 smtClean="0"/>
              <a:t> of 22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3429000" y="1648325"/>
            <a:ext cx="762000" cy="251901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438400" y="1648324"/>
            <a:ext cx="762000" cy="251901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342374" y="1333900"/>
            <a:ext cx="289560" cy="2286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384084" y="1900224"/>
            <a:ext cx="806915" cy="233375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631934" y="1656066"/>
            <a:ext cx="559065" cy="815257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4267774" y="1648324"/>
            <a:ext cx="151826" cy="822999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520440" y="1333900"/>
            <a:ext cx="289560" cy="2286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626720" y="2537463"/>
            <a:ext cx="806915" cy="233375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3813609" y="2922099"/>
            <a:ext cx="559065" cy="202513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4435011" y="1612878"/>
            <a:ext cx="184313" cy="1511734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3766686" y="1352120"/>
            <a:ext cx="289560" cy="2286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787541" y="3155604"/>
            <a:ext cx="806915" cy="233375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040088" y="3526841"/>
            <a:ext cx="559065" cy="202513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654154" y="1648324"/>
            <a:ext cx="184313" cy="2081030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989840" y="1341641"/>
            <a:ext cx="289560" cy="228600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053241" y="3786472"/>
            <a:ext cx="806915" cy="233375"/>
          </a:xfrm>
          <a:prstGeom prst="roundRect">
            <a:avLst/>
          </a:prstGeom>
          <a:solidFill>
            <a:srgbClr val="FFFF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4267774" y="4180064"/>
            <a:ext cx="559065" cy="202513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4115597" y="4984892"/>
            <a:ext cx="559065" cy="202513"/>
          </a:xfrm>
          <a:prstGeom prst="round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5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533400"/>
            <a:ext cx="8765229" cy="5334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r>
              <a:rPr lang="en-US" smtClean="0"/>
              <a:t> of 22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828800" y="4419600"/>
            <a:ext cx="2133600" cy="381000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638800" y="4417996"/>
            <a:ext cx="2590800" cy="382604"/>
          </a:xfrm>
          <a:prstGeom prst="round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9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39333</TotalTime>
  <Words>796</Words>
  <Application>Microsoft Office PowerPoint</Application>
  <PresentationFormat>On-screen Show (4:3)</PresentationFormat>
  <Paragraphs>194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Types of Errors</vt:lpstr>
      <vt:lpstr>Detection vs Correction</vt:lpstr>
      <vt:lpstr>PowerPoint Presentation</vt:lpstr>
      <vt:lpstr>Coding</vt:lpstr>
      <vt:lpstr>Block Coding</vt:lpstr>
      <vt:lpstr>PowerPoint Presentation</vt:lpstr>
      <vt:lpstr>PowerPoint Presentation</vt:lpstr>
      <vt:lpstr>Hamming Distance</vt:lpstr>
      <vt:lpstr>PowerPoint Presentation</vt:lpstr>
      <vt:lpstr>PowerPoint Presentation</vt:lpstr>
      <vt:lpstr>PowerPoint Presentation</vt:lpstr>
      <vt:lpstr>Parity-Check Code</vt:lpstr>
      <vt:lpstr>PowerPoint Presentation</vt:lpstr>
      <vt:lpstr>PowerPoint Presentation</vt:lpstr>
      <vt:lpstr>Cyclic Codes</vt:lpstr>
      <vt:lpstr>Cyclic Redundancy Check (CRC)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1032</cp:revision>
  <cp:lastPrinted>2017-11-05T03:12:43Z</cp:lastPrinted>
  <dcterms:created xsi:type="dcterms:W3CDTF">2006-08-16T00:00:00Z</dcterms:created>
  <dcterms:modified xsi:type="dcterms:W3CDTF">2025-07-09T05:45:31Z</dcterms:modified>
</cp:coreProperties>
</file>