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256" r:id="rId3"/>
    <p:sldId id="271" r:id="rId5"/>
    <p:sldId id="272" r:id="rId6"/>
    <p:sldId id="273" r:id="rId7"/>
    <p:sldId id="274" r:id="rId8"/>
    <p:sldId id="275" r:id="rId9"/>
    <p:sldId id="276" r:id="rId10"/>
    <p:sldId id="277" r:id="rId11"/>
    <p:sldId id="285" r:id="rId12"/>
    <p:sldId id="289" r:id="rId13"/>
    <p:sldId id="286" r:id="rId14"/>
    <p:sldId id="278" r:id="rId15"/>
    <p:sldId id="279" r:id="rId16"/>
    <p:sldId id="280" r:id="rId17"/>
    <p:sldId id="281" r:id="rId18"/>
    <p:sldId id="282" r:id="rId19"/>
    <p:sldId id="283" r:id="rId20"/>
    <p:sldId id="287" r:id="rId21"/>
    <p:sldId id="284" r:id="rId22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83" autoAdjust="0"/>
    <p:restoredTop sz="61265" autoAdjust="0"/>
  </p:normalViewPr>
  <p:slideViewPr>
    <p:cSldViewPr showGuides="1">
      <p:cViewPr varScale="1">
        <p:scale>
          <a:sx n="68" d="100"/>
          <a:sy n="68" d="100"/>
        </p:scale>
        <p:origin x="668" y="48"/>
      </p:cViewPr>
      <p:guideLst>
        <p:guide orient="horz" pos="2156"/>
        <p:guide pos="2880"/>
      </p:guideLst>
    </p:cSldViewPr>
  </p:slideViewPr>
  <p:outlineViewPr>
    <p:cViewPr>
      <p:scale>
        <a:sx n="33" d="100"/>
        <a:sy n="33" d="100"/>
      </p:scale>
      <p:origin x="0" y="-57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E446D6-31F8-4159-85EC-3D37B00A864E}" type="doc">
      <dgm:prSet loTypeId="urn:microsoft.com/office/officeart/2008/layout/HalfCircleOrganizationChart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18DF94-ED6E-4274-BA45-59BD63442112}">
      <dgm:prSet phldrT="[Text]"/>
      <dgm:spPr/>
      <dgm:t>
        <a:bodyPr/>
        <a:lstStyle/>
        <a:p>
          <a:r>
            <a:rPr lang="en-US" dirty="0" smtClean="0"/>
            <a:t>Data</a:t>
          </a:r>
          <a:endParaRPr lang="en-US" dirty="0"/>
        </a:p>
      </dgm:t>
    </dgm:pt>
    <dgm:pt modelId="{95084019-9D30-42A3-BC77-5819C37730ED}" cxnId="{EC6DD299-9301-4B4B-8FFE-DDEAF556F3E1}" type="parTrans">
      <dgm:prSet/>
      <dgm:spPr/>
      <dgm:t>
        <a:bodyPr/>
        <a:lstStyle/>
        <a:p>
          <a:endParaRPr lang="en-US"/>
        </a:p>
      </dgm:t>
    </dgm:pt>
    <dgm:pt modelId="{CE50401D-1F4F-4CEF-9A79-43E0B1B64390}" cxnId="{EC6DD299-9301-4B4B-8FFE-DDEAF556F3E1}" type="sibTrans">
      <dgm:prSet/>
      <dgm:spPr/>
      <dgm:t>
        <a:bodyPr/>
        <a:lstStyle/>
        <a:p>
          <a:endParaRPr lang="en-US"/>
        </a:p>
      </dgm:t>
    </dgm:pt>
    <dgm:pt modelId="{4BD61D8A-6E43-4EDD-9853-F5EE970B11AC}">
      <dgm:prSet phldrT="[Text]"/>
      <dgm:spPr/>
      <dgm:t>
        <a:bodyPr/>
        <a:lstStyle/>
        <a:p>
          <a:r>
            <a:rPr lang="en-US" dirty="0" smtClean="0"/>
            <a:t>Digital</a:t>
          </a:r>
          <a:endParaRPr lang="en-US" dirty="0"/>
        </a:p>
      </dgm:t>
    </dgm:pt>
    <dgm:pt modelId="{EF5A41C5-DC17-44EA-B5E9-1E5208FD6647}" cxnId="{D5526E48-2F0A-4C4D-BD8C-39F39E877421}" type="parTrans">
      <dgm:prSet/>
      <dgm:spPr/>
      <dgm:t>
        <a:bodyPr/>
        <a:lstStyle/>
        <a:p>
          <a:endParaRPr lang="en-US"/>
        </a:p>
      </dgm:t>
    </dgm:pt>
    <dgm:pt modelId="{A7230838-E336-41DE-99FC-64FD4255DA32}" cxnId="{D5526E48-2F0A-4C4D-BD8C-39F39E877421}" type="sibTrans">
      <dgm:prSet/>
      <dgm:spPr/>
      <dgm:t>
        <a:bodyPr/>
        <a:lstStyle/>
        <a:p>
          <a:endParaRPr lang="en-US"/>
        </a:p>
      </dgm:t>
    </dgm:pt>
    <dgm:pt modelId="{4EA4D731-2ABB-4C09-9567-D629AEBCD13C}">
      <dgm:prSet phldrT="[Text]"/>
      <dgm:spPr/>
      <dgm:t>
        <a:bodyPr/>
        <a:lstStyle/>
        <a:p>
          <a:r>
            <a:rPr lang="en-US" dirty="0" smtClean="0"/>
            <a:t>Analog</a:t>
          </a:r>
          <a:endParaRPr lang="en-US" dirty="0"/>
        </a:p>
      </dgm:t>
    </dgm:pt>
    <dgm:pt modelId="{6F2E9D15-4DCE-43EF-9E50-11E5745779AA}" cxnId="{EB82C062-6560-411E-A4FB-2AF7302C0300}" type="parTrans">
      <dgm:prSet/>
      <dgm:spPr/>
      <dgm:t>
        <a:bodyPr/>
        <a:lstStyle/>
        <a:p>
          <a:endParaRPr lang="en-US"/>
        </a:p>
      </dgm:t>
    </dgm:pt>
    <dgm:pt modelId="{B6687E9B-0060-4FE0-9120-562B149C804F}" cxnId="{EB82C062-6560-411E-A4FB-2AF7302C0300}" type="sibTrans">
      <dgm:prSet/>
      <dgm:spPr/>
      <dgm:t>
        <a:bodyPr/>
        <a:lstStyle/>
        <a:p>
          <a:endParaRPr lang="en-US"/>
        </a:p>
      </dgm:t>
    </dgm:pt>
    <dgm:pt modelId="{4FFB6B6C-92B3-4877-8169-5BABD03CD325}" type="pres">
      <dgm:prSet presAssocID="{DFE446D6-31F8-4159-85EC-3D37B00A864E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B2F5CEAE-6AA2-42B3-B2A8-9AFABBACD022}" type="pres">
      <dgm:prSet presAssocID="{D918DF94-ED6E-4274-BA45-59BD63442112}" presName="hierRoot1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4B721934-DFA2-4DAE-B7DD-97470DDD5BE1}" type="pres">
      <dgm:prSet presAssocID="{D918DF94-ED6E-4274-BA45-59BD63442112}" presName="rootComposite1" presStyleCnt="0"/>
      <dgm:spPr/>
      <dgm:t>
        <a:bodyPr/>
        <a:lstStyle/>
        <a:p>
          <a:endParaRPr lang="en-US"/>
        </a:p>
      </dgm:t>
    </dgm:pt>
    <dgm:pt modelId="{752D1F57-2D4B-40AD-81EB-932BF3004B67}" type="pres">
      <dgm:prSet presAssocID="{D918DF94-ED6E-4274-BA45-59BD63442112}" presName="rootText1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AE6FA83-E8A7-4296-ACB3-EB2B2F7FA6AC}" type="pres">
      <dgm:prSet presAssocID="{D918DF94-ED6E-4274-BA45-59BD63442112}" presName="topArc1" presStyleLbl="parChTrans1D1" presStyleIdx="0" presStyleCnt="6"/>
      <dgm:spPr/>
      <dgm:t>
        <a:bodyPr/>
        <a:lstStyle/>
        <a:p>
          <a:endParaRPr lang="en-US"/>
        </a:p>
      </dgm:t>
    </dgm:pt>
    <dgm:pt modelId="{5CED6571-FBA7-4176-A40F-4FEB83C2DBE8}" type="pres">
      <dgm:prSet presAssocID="{D918DF94-ED6E-4274-BA45-59BD63442112}" presName="bottomArc1" presStyleLbl="parChTrans1D1" presStyleIdx="1" presStyleCnt="6"/>
      <dgm:spPr/>
      <dgm:t>
        <a:bodyPr/>
        <a:lstStyle/>
        <a:p>
          <a:endParaRPr lang="en-US"/>
        </a:p>
      </dgm:t>
    </dgm:pt>
    <dgm:pt modelId="{8D1AE5A1-7E5E-4B8B-A021-DB61E5250C1A}" type="pres">
      <dgm:prSet presAssocID="{D918DF94-ED6E-4274-BA45-59BD63442112}" presName="topConnNode1" presStyleLbl="node1" presStyleIdx="0" presStyleCnt="0"/>
      <dgm:spPr/>
      <dgm:t>
        <a:bodyPr/>
        <a:lstStyle/>
        <a:p>
          <a:endParaRPr lang="en-US"/>
        </a:p>
      </dgm:t>
    </dgm:pt>
    <dgm:pt modelId="{FEE9A4A2-F67B-4954-97E7-5E6881AAD980}" type="pres">
      <dgm:prSet presAssocID="{D918DF94-ED6E-4274-BA45-59BD63442112}" presName="hierChild2" presStyleCnt="0"/>
      <dgm:spPr/>
      <dgm:t>
        <a:bodyPr/>
        <a:lstStyle/>
        <a:p>
          <a:endParaRPr lang="en-US"/>
        </a:p>
      </dgm:t>
    </dgm:pt>
    <dgm:pt modelId="{1DD42476-4BBC-4868-9E23-BBA7B5E8FBE8}" type="pres">
      <dgm:prSet presAssocID="{EF5A41C5-DC17-44EA-B5E9-1E5208FD6647}" presName="Name28" presStyleLbl="parChTrans1D2" presStyleIdx="0" presStyleCnt="2"/>
      <dgm:spPr/>
      <dgm:t>
        <a:bodyPr/>
        <a:lstStyle/>
        <a:p>
          <a:endParaRPr lang="en-US"/>
        </a:p>
      </dgm:t>
    </dgm:pt>
    <dgm:pt modelId="{4418DDA4-2692-499A-BE48-652E307B92C4}" type="pres">
      <dgm:prSet presAssocID="{4BD61D8A-6E43-4EDD-9853-F5EE970B11AC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6B556ABB-89A8-4B22-AFCE-D5EB8208B5DA}" type="pres">
      <dgm:prSet presAssocID="{4BD61D8A-6E43-4EDD-9853-F5EE970B11AC}" presName="rootComposite2" presStyleCnt="0"/>
      <dgm:spPr/>
      <dgm:t>
        <a:bodyPr/>
        <a:lstStyle/>
        <a:p>
          <a:endParaRPr lang="en-US"/>
        </a:p>
      </dgm:t>
    </dgm:pt>
    <dgm:pt modelId="{3A4C9CCE-5652-4E96-8925-1CCF156D513C}" type="pres">
      <dgm:prSet presAssocID="{4BD61D8A-6E43-4EDD-9853-F5EE970B11AC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41FE230-58E7-4E4D-BD5E-3E6D219E0A6A}" type="pres">
      <dgm:prSet presAssocID="{4BD61D8A-6E43-4EDD-9853-F5EE970B11AC}" presName="topArc2" presStyleLbl="parChTrans1D1" presStyleIdx="2" presStyleCnt="6"/>
      <dgm:spPr/>
      <dgm:t>
        <a:bodyPr/>
        <a:lstStyle/>
        <a:p>
          <a:endParaRPr lang="en-US"/>
        </a:p>
      </dgm:t>
    </dgm:pt>
    <dgm:pt modelId="{E96DC2CB-F1DD-4664-A101-83E9E4216ECF}" type="pres">
      <dgm:prSet presAssocID="{4BD61D8A-6E43-4EDD-9853-F5EE970B11AC}" presName="bottomArc2" presStyleLbl="parChTrans1D1" presStyleIdx="3" presStyleCnt="6"/>
      <dgm:spPr/>
      <dgm:t>
        <a:bodyPr/>
        <a:lstStyle/>
        <a:p>
          <a:endParaRPr lang="en-US"/>
        </a:p>
      </dgm:t>
    </dgm:pt>
    <dgm:pt modelId="{BB50B94F-D136-42BD-AF60-2A6D9A7EBA96}" type="pres">
      <dgm:prSet presAssocID="{4BD61D8A-6E43-4EDD-9853-F5EE970B11AC}" presName="topConnNode2" presStyleLbl="node2" presStyleIdx="0" presStyleCnt="0"/>
      <dgm:spPr/>
      <dgm:t>
        <a:bodyPr/>
        <a:lstStyle/>
        <a:p>
          <a:endParaRPr lang="en-US"/>
        </a:p>
      </dgm:t>
    </dgm:pt>
    <dgm:pt modelId="{93FC9FBD-5770-4252-B0E2-868E5344DBD5}" type="pres">
      <dgm:prSet presAssocID="{4BD61D8A-6E43-4EDD-9853-F5EE970B11AC}" presName="hierChild4" presStyleCnt="0"/>
      <dgm:spPr/>
      <dgm:t>
        <a:bodyPr/>
        <a:lstStyle/>
        <a:p>
          <a:endParaRPr lang="en-US"/>
        </a:p>
      </dgm:t>
    </dgm:pt>
    <dgm:pt modelId="{80EF49BA-9DC4-4D11-B659-1EDB2122D22E}" type="pres">
      <dgm:prSet presAssocID="{4BD61D8A-6E43-4EDD-9853-F5EE970B11AC}" presName="hierChild5" presStyleCnt="0"/>
      <dgm:spPr/>
      <dgm:t>
        <a:bodyPr/>
        <a:lstStyle/>
        <a:p>
          <a:endParaRPr lang="en-US"/>
        </a:p>
      </dgm:t>
    </dgm:pt>
    <dgm:pt modelId="{DCF2E1B9-192E-42A0-89A0-E1247A5D7287}" type="pres">
      <dgm:prSet presAssocID="{6F2E9D15-4DCE-43EF-9E50-11E5745779AA}" presName="Name28" presStyleLbl="parChTrans1D2" presStyleIdx="1" presStyleCnt="2"/>
      <dgm:spPr/>
      <dgm:t>
        <a:bodyPr/>
        <a:lstStyle/>
        <a:p>
          <a:endParaRPr lang="en-US"/>
        </a:p>
      </dgm:t>
    </dgm:pt>
    <dgm:pt modelId="{4427E9FE-93F7-456D-8BD4-880E4C6A9BB6}" type="pres">
      <dgm:prSet presAssocID="{4EA4D731-2ABB-4C09-9567-D629AEBCD13C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215831C3-51DA-4119-BFF7-CC19C31F37B3}" type="pres">
      <dgm:prSet presAssocID="{4EA4D731-2ABB-4C09-9567-D629AEBCD13C}" presName="rootComposite2" presStyleCnt="0"/>
      <dgm:spPr/>
      <dgm:t>
        <a:bodyPr/>
        <a:lstStyle/>
        <a:p>
          <a:endParaRPr lang="en-US"/>
        </a:p>
      </dgm:t>
    </dgm:pt>
    <dgm:pt modelId="{1F8C6FF1-65E1-4579-846B-93E107C549D6}" type="pres">
      <dgm:prSet presAssocID="{4EA4D731-2ABB-4C09-9567-D629AEBCD13C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3332EEF-D708-4EBC-B667-0257908D065C}" type="pres">
      <dgm:prSet presAssocID="{4EA4D731-2ABB-4C09-9567-D629AEBCD13C}" presName="topArc2" presStyleLbl="parChTrans1D1" presStyleIdx="4" presStyleCnt="6"/>
      <dgm:spPr/>
      <dgm:t>
        <a:bodyPr/>
        <a:lstStyle/>
        <a:p>
          <a:endParaRPr lang="en-US"/>
        </a:p>
      </dgm:t>
    </dgm:pt>
    <dgm:pt modelId="{D7D463D1-503C-4D97-AD23-69D06ED84B01}" type="pres">
      <dgm:prSet presAssocID="{4EA4D731-2ABB-4C09-9567-D629AEBCD13C}" presName="bottomArc2" presStyleLbl="parChTrans1D1" presStyleIdx="5" presStyleCnt="6"/>
      <dgm:spPr/>
      <dgm:t>
        <a:bodyPr/>
        <a:lstStyle/>
        <a:p>
          <a:endParaRPr lang="en-US"/>
        </a:p>
      </dgm:t>
    </dgm:pt>
    <dgm:pt modelId="{E6EE2184-4D14-4B8C-825B-DFFC8A6C30A2}" type="pres">
      <dgm:prSet presAssocID="{4EA4D731-2ABB-4C09-9567-D629AEBCD13C}" presName="topConnNode2" presStyleLbl="node2" presStyleIdx="0" presStyleCnt="0"/>
      <dgm:spPr/>
      <dgm:t>
        <a:bodyPr/>
        <a:lstStyle/>
        <a:p>
          <a:endParaRPr lang="en-US"/>
        </a:p>
      </dgm:t>
    </dgm:pt>
    <dgm:pt modelId="{8E70A884-5C4F-40CB-9136-AB0CB77BC869}" type="pres">
      <dgm:prSet presAssocID="{4EA4D731-2ABB-4C09-9567-D629AEBCD13C}" presName="hierChild4" presStyleCnt="0"/>
      <dgm:spPr/>
      <dgm:t>
        <a:bodyPr/>
        <a:lstStyle/>
        <a:p>
          <a:endParaRPr lang="en-US"/>
        </a:p>
      </dgm:t>
    </dgm:pt>
    <dgm:pt modelId="{019445A1-05DE-4461-B3E4-5A35DFE2868F}" type="pres">
      <dgm:prSet presAssocID="{4EA4D731-2ABB-4C09-9567-D629AEBCD13C}" presName="hierChild5" presStyleCnt="0"/>
      <dgm:spPr/>
      <dgm:t>
        <a:bodyPr/>
        <a:lstStyle/>
        <a:p>
          <a:endParaRPr lang="en-US"/>
        </a:p>
      </dgm:t>
    </dgm:pt>
    <dgm:pt modelId="{D7064126-98FC-4F34-B422-6A337562E9A4}" type="pres">
      <dgm:prSet presAssocID="{D918DF94-ED6E-4274-BA45-59BD63442112}" presName="hierChild3" presStyleCnt="0"/>
      <dgm:spPr/>
      <dgm:t>
        <a:bodyPr/>
        <a:lstStyle/>
        <a:p>
          <a:endParaRPr lang="en-US"/>
        </a:p>
      </dgm:t>
    </dgm:pt>
  </dgm:ptLst>
  <dgm:cxnLst>
    <dgm:cxn modelId="{C1E14487-FF56-4309-8D65-1B3938C6278E}" type="presOf" srcId="{D918DF94-ED6E-4274-BA45-59BD63442112}" destId="{8D1AE5A1-7E5E-4B8B-A021-DB61E5250C1A}" srcOrd="1" destOrd="0" presId="urn:microsoft.com/office/officeart/2008/layout/HalfCircleOrganizationChart"/>
    <dgm:cxn modelId="{EC6DD299-9301-4B4B-8FFE-DDEAF556F3E1}" srcId="{DFE446D6-31F8-4159-85EC-3D37B00A864E}" destId="{D918DF94-ED6E-4274-BA45-59BD63442112}" srcOrd="0" destOrd="0" parTransId="{95084019-9D30-42A3-BC77-5819C37730ED}" sibTransId="{CE50401D-1F4F-4CEF-9A79-43E0B1B64390}"/>
    <dgm:cxn modelId="{0A32AABA-F6A8-4993-A5E8-1F876A0EADF2}" type="presOf" srcId="{D918DF94-ED6E-4274-BA45-59BD63442112}" destId="{752D1F57-2D4B-40AD-81EB-932BF3004B67}" srcOrd="0" destOrd="0" presId="urn:microsoft.com/office/officeart/2008/layout/HalfCircleOrganizationChart"/>
    <dgm:cxn modelId="{D2C75199-49BD-44FB-9D23-9176F4339D5A}" type="presOf" srcId="{6F2E9D15-4DCE-43EF-9E50-11E5745779AA}" destId="{DCF2E1B9-192E-42A0-89A0-E1247A5D7287}" srcOrd="0" destOrd="0" presId="urn:microsoft.com/office/officeart/2008/layout/HalfCircleOrganizationChart"/>
    <dgm:cxn modelId="{D390BEB0-ECE0-4620-B1F9-47FD7728E17E}" type="presOf" srcId="{DFE446D6-31F8-4159-85EC-3D37B00A864E}" destId="{4FFB6B6C-92B3-4877-8169-5BABD03CD325}" srcOrd="0" destOrd="0" presId="urn:microsoft.com/office/officeart/2008/layout/HalfCircleOrganizationChart"/>
    <dgm:cxn modelId="{3AD96270-7E40-424A-A188-F6C612113CA0}" type="presOf" srcId="{EF5A41C5-DC17-44EA-B5E9-1E5208FD6647}" destId="{1DD42476-4BBC-4868-9E23-BBA7B5E8FBE8}" srcOrd="0" destOrd="0" presId="urn:microsoft.com/office/officeart/2008/layout/HalfCircleOrganizationChart"/>
    <dgm:cxn modelId="{122B4E68-AC08-4A36-9767-9903A0DAAC91}" type="presOf" srcId="{4EA4D731-2ABB-4C09-9567-D629AEBCD13C}" destId="{E6EE2184-4D14-4B8C-825B-DFFC8A6C30A2}" srcOrd="1" destOrd="0" presId="urn:microsoft.com/office/officeart/2008/layout/HalfCircleOrganizationChart"/>
    <dgm:cxn modelId="{8D003ABF-1CBA-449D-B9B3-D6FE02897035}" type="presOf" srcId="{4BD61D8A-6E43-4EDD-9853-F5EE970B11AC}" destId="{3A4C9CCE-5652-4E96-8925-1CCF156D513C}" srcOrd="0" destOrd="0" presId="urn:microsoft.com/office/officeart/2008/layout/HalfCircleOrganizationChart"/>
    <dgm:cxn modelId="{990802E7-8AD3-4884-980F-1E2ECE96E4E7}" type="presOf" srcId="{4EA4D731-2ABB-4C09-9567-D629AEBCD13C}" destId="{1F8C6FF1-65E1-4579-846B-93E107C549D6}" srcOrd="0" destOrd="0" presId="urn:microsoft.com/office/officeart/2008/layout/HalfCircleOrganizationChart"/>
    <dgm:cxn modelId="{D5526E48-2F0A-4C4D-BD8C-39F39E877421}" srcId="{D918DF94-ED6E-4274-BA45-59BD63442112}" destId="{4BD61D8A-6E43-4EDD-9853-F5EE970B11AC}" srcOrd="0" destOrd="0" parTransId="{EF5A41C5-DC17-44EA-B5E9-1E5208FD6647}" sibTransId="{A7230838-E336-41DE-99FC-64FD4255DA32}"/>
    <dgm:cxn modelId="{EB82C062-6560-411E-A4FB-2AF7302C0300}" srcId="{D918DF94-ED6E-4274-BA45-59BD63442112}" destId="{4EA4D731-2ABB-4C09-9567-D629AEBCD13C}" srcOrd="1" destOrd="0" parTransId="{6F2E9D15-4DCE-43EF-9E50-11E5745779AA}" sibTransId="{B6687E9B-0060-4FE0-9120-562B149C804F}"/>
    <dgm:cxn modelId="{ACEEF62E-4C74-45F4-8C16-4AB6CF8D04A4}" type="presOf" srcId="{4BD61D8A-6E43-4EDD-9853-F5EE970B11AC}" destId="{BB50B94F-D136-42BD-AF60-2A6D9A7EBA96}" srcOrd="1" destOrd="0" presId="urn:microsoft.com/office/officeart/2008/layout/HalfCircleOrganizationChart"/>
    <dgm:cxn modelId="{961E23A0-FB03-460F-995B-7CAC673AC42F}" type="presParOf" srcId="{4FFB6B6C-92B3-4877-8169-5BABD03CD325}" destId="{B2F5CEAE-6AA2-42B3-B2A8-9AFABBACD022}" srcOrd="0" destOrd="0" presId="urn:microsoft.com/office/officeart/2008/layout/HalfCircleOrganizationChart"/>
    <dgm:cxn modelId="{FD9A3730-BD4F-4763-83E6-D4AF03B0686E}" type="presParOf" srcId="{B2F5CEAE-6AA2-42B3-B2A8-9AFABBACD022}" destId="{4B721934-DFA2-4DAE-B7DD-97470DDD5BE1}" srcOrd="0" destOrd="0" presId="urn:microsoft.com/office/officeart/2008/layout/HalfCircleOrganizationChart"/>
    <dgm:cxn modelId="{8FB11B99-AC4D-4D01-A318-1858E54FDD8B}" type="presParOf" srcId="{4B721934-DFA2-4DAE-B7DD-97470DDD5BE1}" destId="{752D1F57-2D4B-40AD-81EB-932BF3004B67}" srcOrd="0" destOrd="0" presId="urn:microsoft.com/office/officeart/2008/layout/HalfCircleOrganizationChart"/>
    <dgm:cxn modelId="{C3321BE7-A83F-4AC9-8B3F-20412601F3C0}" type="presParOf" srcId="{4B721934-DFA2-4DAE-B7DD-97470DDD5BE1}" destId="{6AE6FA83-E8A7-4296-ACB3-EB2B2F7FA6AC}" srcOrd="1" destOrd="0" presId="urn:microsoft.com/office/officeart/2008/layout/HalfCircleOrganizationChart"/>
    <dgm:cxn modelId="{037276A0-E4D2-42DB-8065-918CE29C7EED}" type="presParOf" srcId="{4B721934-DFA2-4DAE-B7DD-97470DDD5BE1}" destId="{5CED6571-FBA7-4176-A40F-4FEB83C2DBE8}" srcOrd="2" destOrd="0" presId="urn:microsoft.com/office/officeart/2008/layout/HalfCircleOrganizationChart"/>
    <dgm:cxn modelId="{00CA7D5D-F822-4A18-8E63-B38D6CCD7CF0}" type="presParOf" srcId="{4B721934-DFA2-4DAE-B7DD-97470DDD5BE1}" destId="{8D1AE5A1-7E5E-4B8B-A021-DB61E5250C1A}" srcOrd="3" destOrd="0" presId="urn:microsoft.com/office/officeart/2008/layout/HalfCircleOrganizationChart"/>
    <dgm:cxn modelId="{4924629E-A19C-4985-87B6-2C2AD9A9AC5A}" type="presParOf" srcId="{B2F5CEAE-6AA2-42B3-B2A8-9AFABBACD022}" destId="{FEE9A4A2-F67B-4954-97E7-5E6881AAD980}" srcOrd="1" destOrd="0" presId="urn:microsoft.com/office/officeart/2008/layout/HalfCircleOrganizationChart"/>
    <dgm:cxn modelId="{FF047808-519D-4BE5-8942-23B7B487D296}" type="presParOf" srcId="{FEE9A4A2-F67B-4954-97E7-5E6881AAD980}" destId="{1DD42476-4BBC-4868-9E23-BBA7B5E8FBE8}" srcOrd="0" destOrd="0" presId="urn:microsoft.com/office/officeart/2008/layout/HalfCircleOrganizationChart"/>
    <dgm:cxn modelId="{36ECCE1D-7E81-40D9-83A2-754540BE0F28}" type="presParOf" srcId="{FEE9A4A2-F67B-4954-97E7-5E6881AAD980}" destId="{4418DDA4-2692-499A-BE48-652E307B92C4}" srcOrd="1" destOrd="0" presId="urn:microsoft.com/office/officeart/2008/layout/HalfCircleOrganizationChart"/>
    <dgm:cxn modelId="{DA2D4A86-C90D-4038-B45C-EF5355678539}" type="presParOf" srcId="{4418DDA4-2692-499A-BE48-652E307B92C4}" destId="{6B556ABB-89A8-4B22-AFCE-D5EB8208B5DA}" srcOrd="0" destOrd="0" presId="urn:microsoft.com/office/officeart/2008/layout/HalfCircleOrganizationChart"/>
    <dgm:cxn modelId="{104544E7-EF3C-442F-BF98-6B85739EE224}" type="presParOf" srcId="{6B556ABB-89A8-4B22-AFCE-D5EB8208B5DA}" destId="{3A4C9CCE-5652-4E96-8925-1CCF156D513C}" srcOrd="0" destOrd="0" presId="urn:microsoft.com/office/officeart/2008/layout/HalfCircleOrganizationChart"/>
    <dgm:cxn modelId="{5129BEDD-8384-4F32-8A2B-3E09BBF1B1B4}" type="presParOf" srcId="{6B556ABB-89A8-4B22-AFCE-D5EB8208B5DA}" destId="{941FE230-58E7-4E4D-BD5E-3E6D219E0A6A}" srcOrd="1" destOrd="0" presId="urn:microsoft.com/office/officeart/2008/layout/HalfCircleOrganizationChart"/>
    <dgm:cxn modelId="{6AD25E73-1792-4642-A492-E0A1C179BE6C}" type="presParOf" srcId="{6B556ABB-89A8-4B22-AFCE-D5EB8208B5DA}" destId="{E96DC2CB-F1DD-4664-A101-83E9E4216ECF}" srcOrd="2" destOrd="0" presId="urn:microsoft.com/office/officeart/2008/layout/HalfCircleOrganizationChart"/>
    <dgm:cxn modelId="{F98D570D-1C97-47F3-A395-C3392DFBCF0D}" type="presParOf" srcId="{6B556ABB-89A8-4B22-AFCE-D5EB8208B5DA}" destId="{BB50B94F-D136-42BD-AF60-2A6D9A7EBA96}" srcOrd="3" destOrd="0" presId="urn:microsoft.com/office/officeart/2008/layout/HalfCircleOrganizationChart"/>
    <dgm:cxn modelId="{6AAFC7EC-06C1-4F88-86A4-DD0B1FFDA668}" type="presParOf" srcId="{4418DDA4-2692-499A-BE48-652E307B92C4}" destId="{93FC9FBD-5770-4252-B0E2-868E5344DBD5}" srcOrd="1" destOrd="0" presId="urn:microsoft.com/office/officeart/2008/layout/HalfCircleOrganizationChart"/>
    <dgm:cxn modelId="{4035CC77-B746-4C4E-9788-E04ABC8B254B}" type="presParOf" srcId="{4418DDA4-2692-499A-BE48-652E307B92C4}" destId="{80EF49BA-9DC4-4D11-B659-1EDB2122D22E}" srcOrd="2" destOrd="0" presId="urn:microsoft.com/office/officeart/2008/layout/HalfCircleOrganizationChart"/>
    <dgm:cxn modelId="{DD92576D-3C70-4E0B-BEBA-7B8022837B70}" type="presParOf" srcId="{FEE9A4A2-F67B-4954-97E7-5E6881AAD980}" destId="{DCF2E1B9-192E-42A0-89A0-E1247A5D7287}" srcOrd="2" destOrd="0" presId="urn:microsoft.com/office/officeart/2008/layout/HalfCircleOrganizationChart"/>
    <dgm:cxn modelId="{9A5ED5DF-EF5E-4EB5-8867-93C881ADC90F}" type="presParOf" srcId="{FEE9A4A2-F67B-4954-97E7-5E6881AAD980}" destId="{4427E9FE-93F7-456D-8BD4-880E4C6A9BB6}" srcOrd="3" destOrd="0" presId="urn:microsoft.com/office/officeart/2008/layout/HalfCircleOrganizationChart"/>
    <dgm:cxn modelId="{703FB2B9-B7FB-4446-BFFD-6A017FEDBFA0}" type="presParOf" srcId="{4427E9FE-93F7-456D-8BD4-880E4C6A9BB6}" destId="{215831C3-51DA-4119-BFF7-CC19C31F37B3}" srcOrd="0" destOrd="0" presId="urn:microsoft.com/office/officeart/2008/layout/HalfCircleOrganizationChart"/>
    <dgm:cxn modelId="{247CC898-CA6F-4966-A0B3-021FC0FCFA6C}" type="presParOf" srcId="{215831C3-51DA-4119-BFF7-CC19C31F37B3}" destId="{1F8C6FF1-65E1-4579-846B-93E107C549D6}" srcOrd="0" destOrd="0" presId="urn:microsoft.com/office/officeart/2008/layout/HalfCircleOrganizationChart"/>
    <dgm:cxn modelId="{E4BCE3CD-0C02-4D45-8433-4122D804B061}" type="presParOf" srcId="{215831C3-51DA-4119-BFF7-CC19C31F37B3}" destId="{D3332EEF-D708-4EBC-B667-0257908D065C}" srcOrd="1" destOrd="0" presId="urn:microsoft.com/office/officeart/2008/layout/HalfCircleOrganizationChart"/>
    <dgm:cxn modelId="{60B9F88F-65F3-42E6-B25C-E522F417939D}" type="presParOf" srcId="{215831C3-51DA-4119-BFF7-CC19C31F37B3}" destId="{D7D463D1-503C-4D97-AD23-69D06ED84B01}" srcOrd="2" destOrd="0" presId="urn:microsoft.com/office/officeart/2008/layout/HalfCircleOrganizationChart"/>
    <dgm:cxn modelId="{D8C57241-F2CA-4C34-8E99-3033EB5E8C97}" type="presParOf" srcId="{215831C3-51DA-4119-BFF7-CC19C31F37B3}" destId="{E6EE2184-4D14-4B8C-825B-DFFC8A6C30A2}" srcOrd="3" destOrd="0" presId="urn:microsoft.com/office/officeart/2008/layout/HalfCircleOrganizationChart"/>
    <dgm:cxn modelId="{8DC76E03-EB42-4BE5-A655-4B88B4F0C4AB}" type="presParOf" srcId="{4427E9FE-93F7-456D-8BD4-880E4C6A9BB6}" destId="{8E70A884-5C4F-40CB-9136-AB0CB77BC869}" srcOrd="1" destOrd="0" presId="urn:microsoft.com/office/officeart/2008/layout/HalfCircleOrganizationChart"/>
    <dgm:cxn modelId="{8394DCD2-772F-40D3-B4DE-C2133EAC7520}" type="presParOf" srcId="{4427E9FE-93F7-456D-8BD4-880E4C6A9BB6}" destId="{019445A1-05DE-4461-B3E4-5A35DFE2868F}" srcOrd="2" destOrd="0" presId="urn:microsoft.com/office/officeart/2008/layout/HalfCircleOrganizationChart"/>
    <dgm:cxn modelId="{ED0B663C-4A64-4118-ADD6-790B045C7F86}" type="presParOf" srcId="{B2F5CEAE-6AA2-42B3-B2A8-9AFABBACD022}" destId="{D7064126-98FC-4F34-B422-6A337562E9A4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4038600" cy="2514601"/>
        <a:chOff x="0" y="0"/>
        <a:chExt cx="4038600" cy="2514601"/>
      </a:xfrm>
    </dsp:grpSpPr>
    <dsp:sp modelId="{1DD42476-4BBC-4868-9E23-BBA7B5E8FBE8}">
      <dsp:nvSpPr>
        <dsp:cNvPr id="7" name="Freeform 6"/>
        <dsp:cNvSpPr/>
      </dsp:nvSpPr>
      <dsp:spPr bwMode="white">
        <a:xfrm>
          <a:off x="913710" y="1065421"/>
          <a:ext cx="1105590" cy="383758"/>
        </a:xfrm>
        <a:custGeom>
          <a:avLst/>
          <a:gdLst/>
          <a:ahLst/>
          <a:cxnLst/>
          <a:pathLst>
            <a:path w="1741" h="604">
              <a:moveTo>
                <a:pt x="1741" y="0"/>
              </a:moveTo>
              <a:lnTo>
                <a:pt x="1741" y="302"/>
              </a:lnTo>
              <a:lnTo>
                <a:pt x="0" y="302"/>
              </a:lnTo>
              <a:lnTo>
                <a:pt x="0" y="604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913710" y="1065421"/>
        <a:ext cx="1105590" cy="383758"/>
      </dsp:txXfrm>
    </dsp:sp>
    <dsp:sp modelId="{DCF2E1B9-192E-42A0-89A0-E1247A5D7287}">
      <dsp:nvSpPr>
        <dsp:cNvPr id="12" name="Freeform 11"/>
        <dsp:cNvSpPr/>
      </dsp:nvSpPr>
      <dsp:spPr bwMode="white">
        <a:xfrm>
          <a:off x="2019300" y="1065421"/>
          <a:ext cx="1105590" cy="383758"/>
        </a:xfrm>
        <a:custGeom>
          <a:avLst/>
          <a:gdLst/>
          <a:ahLst/>
          <a:cxnLst/>
          <a:pathLst>
            <a:path w="1741" h="604">
              <a:moveTo>
                <a:pt x="0" y="0"/>
              </a:moveTo>
              <a:lnTo>
                <a:pt x="0" y="302"/>
              </a:lnTo>
              <a:lnTo>
                <a:pt x="1741" y="302"/>
              </a:lnTo>
              <a:lnTo>
                <a:pt x="1741" y="604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2019300" y="1065421"/>
        <a:ext cx="1105590" cy="383758"/>
      </dsp:txXfrm>
    </dsp:sp>
    <dsp:sp modelId="{6AE6FA83-E8A7-4296-ACB3-EB2B2F7FA6AC}">
      <dsp:nvSpPr>
        <dsp:cNvPr id="4" name="Arc 3"/>
        <dsp:cNvSpPr/>
      </dsp:nvSpPr>
      <dsp:spPr bwMode="white">
        <a:xfrm>
          <a:off x="1562445" y="151711"/>
          <a:ext cx="913710" cy="913710"/>
        </a:xfrm>
        <a:prstGeom prst="arc">
          <a:avLst>
            <a:gd name="adj1" fmla="val 13200000"/>
            <a:gd name="adj2" fmla="val 19200000"/>
          </a:avLst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562445" y="151711"/>
        <a:ext cx="913710" cy="913710"/>
      </dsp:txXfrm>
    </dsp:sp>
    <dsp:sp modelId="{5CED6571-FBA7-4176-A40F-4FEB83C2DBE8}">
      <dsp:nvSpPr>
        <dsp:cNvPr id="5" name="Arc 4"/>
        <dsp:cNvSpPr/>
      </dsp:nvSpPr>
      <dsp:spPr bwMode="white">
        <a:xfrm>
          <a:off x="1562445" y="151711"/>
          <a:ext cx="913710" cy="913710"/>
        </a:xfrm>
        <a:prstGeom prst="arc">
          <a:avLst>
            <a:gd name="adj1" fmla="val 2400000"/>
            <a:gd name="adj2" fmla="val 8400000"/>
          </a:avLst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562445" y="151711"/>
        <a:ext cx="913710" cy="913710"/>
      </dsp:txXfrm>
    </dsp:sp>
    <dsp:sp modelId="{941FE230-58E7-4E4D-BD5E-3E6D219E0A6A}">
      <dsp:nvSpPr>
        <dsp:cNvPr id="9" name="Arc 8"/>
        <dsp:cNvSpPr/>
      </dsp:nvSpPr>
      <dsp:spPr bwMode="white">
        <a:xfrm>
          <a:off x="456855" y="1449180"/>
          <a:ext cx="913710" cy="913710"/>
        </a:xfrm>
        <a:prstGeom prst="arc">
          <a:avLst>
            <a:gd name="adj1" fmla="val 13200000"/>
            <a:gd name="adj2" fmla="val 19200000"/>
          </a:avLst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456855" y="1449180"/>
        <a:ext cx="913710" cy="913710"/>
      </dsp:txXfrm>
    </dsp:sp>
    <dsp:sp modelId="{E96DC2CB-F1DD-4664-A101-83E9E4216ECF}">
      <dsp:nvSpPr>
        <dsp:cNvPr id="10" name="Arc 9"/>
        <dsp:cNvSpPr/>
      </dsp:nvSpPr>
      <dsp:spPr bwMode="white">
        <a:xfrm>
          <a:off x="456855" y="1449180"/>
          <a:ext cx="913710" cy="913710"/>
        </a:xfrm>
        <a:prstGeom prst="arc">
          <a:avLst>
            <a:gd name="adj1" fmla="val 2400000"/>
            <a:gd name="adj2" fmla="val 8400000"/>
          </a:avLst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456855" y="1449180"/>
        <a:ext cx="913710" cy="913710"/>
      </dsp:txXfrm>
    </dsp:sp>
    <dsp:sp modelId="{D3332EEF-D708-4EBC-B667-0257908D065C}">
      <dsp:nvSpPr>
        <dsp:cNvPr id="14" name="Arc 13"/>
        <dsp:cNvSpPr/>
      </dsp:nvSpPr>
      <dsp:spPr bwMode="white">
        <a:xfrm>
          <a:off x="2668034" y="1449180"/>
          <a:ext cx="913710" cy="913710"/>
        </a:xfrm>
        <a:prstGeom prst="arc">
          <a:avLst>
            <a:gd name="adj1" fmla="val 13200000"/>
            <a:gd name="adj2" fmla="val 19200000"/>
          </a:avLst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2668034" y="1449180"/>
        <a:ext cx="913710" cy="913710"/>
      </dsp:txXfrm>
    </dsp:sp>
    <dsp:sp modelId="{D7D463D1-503C-4D97-AD23-69D06ED84B01}">
      <dsp:nvSpPr>
        <dsp:cNvPr id="15" name="Arc 14"/>
        <dsp:cNvSpPr/>
      </dsp:nvSpPr>
      <dsp:spPr bwMode="white">
        <a:xfrm>
          <a:off x="2668034" y="1449180"/>
          <a:ext cx="913710" cy="913710"/>
        </a:xfrm>
        <a:prstGeom prst="arc">
          <a:avLst>
            <a:gd name="adj1" fmla="val 2400000"/>
            <a:gd name="adj2" fmla="val 8400000"/>
          </a:avLst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2668034" y="1449180"/>
        <a:ext cx="913710" cy="913710"/>
      </dsp:txXfrm>
    </dsp:sp>
    <dsp:sp modelId="{752D1F57-2D4B-40AD-81EB-932BF3004B67}">
      <dsp:nvSpPr>
        <dsp:cNvPr id="3" name="Rectangles 2"/>
        <dsp:cNvSpPr/>
      </dsp:nvSpPr>
      <dsp:spPr bwMode="white">
        <a:xfrm>
          <a:off x="1105590" y="316179"/>
          <a:ext cx="1827421" cy="584775"/>
        </a:xfrm>
        <a:prstGeom prst="rect">
          <a:avLst/>
        </a:prstGeom>
        <a:noFill/>
        <a:ln>
          <a:noFill/>
        </a:ln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lIns="22225" tIns="22225" rIns="22225" bIns="22225" anchor="ctr"/>
        <a:lstStyle>
          <a:lvl1pPr algn="ctr">
            <a:defRPr sz="35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solidFill>
                <a:schemeClr val="dk1"/>
              </a:solidFill>
            </a:rPr>
            <a:t>Data</a:t>
          </a:r>
          <a:endParaRPr lang="en-US" dirty="0">
            <a:solidFill>
              <a:schemeClr val="dk1"/>
            </a:solidFill>
          </a:endParaRPr>
        </a:p>
      </dsp:txBody>
      <dsp:txXfrm>
        <a:off x="1105590" y="316179"/>
        <a:ext cx="1827421" cy="584775"/>
      </dsp:txXfrm>
    </dsp:sp>
    <dsp:sp modelId="{8D1AE5A1-7E5E-4B8B-A021-DB61E5250C1A}">
      <dsp:nvSpPr>
        <dsp:cNvPr id="6" name="Rectangles 5" hidden="1"/>
        <dsp:cNvSpPr/>
      </dsp:nvSpPr>
      <dsp:spPr>
        <a:xfrm>
          <a:off x="1672090" y="151711"/>
          <a:ext cx="694420" cy="164468"/>
        </a:xfrm>
        <a:prstGeom prst="rect">
          <a:avLst/>
        </a:prstGeom>
      </dsp:spPr>
      <dsp:txXfrm>
        <a:off x="1672090" y="151711"/>
        <a:ext cx="694420" cy="164468"/>
      </dsp:txXfrm>
    </dsp:sp>
    <dsp:sp modelId="{3A4C9CCE-5652-4E96-8925-1CCF156D513C}">
      <dsp:nvSpPr>
        <dsp:cNvPr id="8" name="Rectangles 7"/>
        <dsp:cNvSpPr/>
      </dsp:nvSpPr>
      <dsp:spPr bwMode="white">
        <a:xfrm>
          <a:off x="0" y="1613648"/>
          <a:ext cx="1827421" cy="584775"/>
        </a:xfrm>
        <a:prstGeom prst="rect">
          <a:avLst/>
        </a:prstGeom>
        <a:noFill/>
        <a:ln>
          <a:noFill/>
        </a:ln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lIns="22225" tIns="22225" rIns="22225" bIns="22225" anchor="ctr"/>
        <a:lstStyle>
          <a:lvl1pPr algn="ctr">
            <a:defRPr sz="35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solidFill>
                <a:schemeClr val="dk1"/>
              </a:solidFill>
            </a:rPr>
            <a:t>Digital</a:t>
          </a:r>
          <a:endParaRPr lang="en-US" dirty="0">
            <a:solidFill>
              <a:schemeClr val="dk1"/>
            </a:solidFill>
          </a:endParaRPr>
        </a:p>
      </dsp:txBody>
      <dsp:txXfrm>
        <a:off x="0" y="1613648"/>
        <a:ext cx="1827421" cy="584775"/>
      </dsp:txXfrm>
    </dsp:sp>
    <dsp:sp modelId="{BB50B94F-D136-42BD-AF60-2A6D9A7EBA96}">
      <dsp:nvSpPr>
        <dsp:cNvPr id="11" name="Rectangles 10" hidden="1"/>
        <dsp:cNvSpPr/>
      </dsp:nvSpPr>
      <dsp:spPr>
        <a:xfrm>
          <a:off x="566500" y="1449180"/>
          <a:ext cx="694420" cy="164468"/>
        </a:xfrm>
        <a:prstGeom prst="rect">
          <a:avLst/>
        </a:prstGeom>
      </dsp:spPr>
      <dsp:txXfrm>
        <a:off x="566500" y="1449180"/>
        <a:ext cx="694420" cy="164468"/>
      </dsp:txXfrm>
    </dsp:sp>
    <dsp:sp modelId="{1F8C6FF1-65E1-4579-846B-93E107C549D6}">
      <dsp:nvSpPr>
        <dsp:cNvPr id="13" name="Rectangles 12"/>
        <dsp:cNvSpPr/>
      </dsp:nvSpPr>
      <dsp:spPr bwMode="white">
        <a:xfrm>
          <a:off x="2211179" y="1613648"/>
          <a:ext cx="1827421" cy="584775"/>
        </a:xfrm>
        <a:prstGeom prst="rect">
          <a:avLst/>
        </a:prstGeom>
        <a:noFill/>
        <a:ln>
          <a:noFill/>
        </a:ln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lIns="22225" tIns="22225" rIns="22225" bIns="22225" anchor="ctr"/>
        <a:lstStyle>
          <a:lvl1pPr algn="ctr">
            <a:defRPr sz="35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solidFill>
                <a:schemeClr val="dk1"/>
              </a:solidFill>
            </a:rPr>
            <a:t>Analog</a:t>
          </a:r>
          <a:endParaRPr lang="en-US" dirty="0">
            <a:solidFill>
              <a:schemeClr val="dk1"/>
            </a:solidFill>
          </a:endParaRPr>
        </a:p>
      </dsp:txBody>
      <dsp:txXfrm>
        <a:off x="2211179" y="1613648"/>
        <a:ext cx="1827421" cy="584775"/>
      </dsp:txXfrm>
    </dsp:sp>
    <dsp:sp modelId="{E6EE2184-4D14-4B8C-825B-DFFC8A6C30A2}">
      <dsp:nvSpPr>
        <dsp:cNvPr id="16" name="Rectangles 15" hidden="1"/>
        <dsp:cNvSpPr/>
      </dsp:nvSpPr>
      <dsp:spPr>
        <a:xfrm>
          <a:off x="2777680" y="1449180"/>
          <a:ext cx="694420" cy="164468"/>
        </a:xfrm>
        <a:prstGeom prst="rect">
          <a:avLst/>
        </a:prstGeom>
      </dsp:spPr>
      <dsp:txXfrm>
        <a:off x="2777680" y="1449180"/>
        <a:ext cx="694420" cy="1644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18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2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srcNode" val="bottomArc1"/>
                            <dgm:param type="dstNode" val="topArc2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if name="Name33" axis="par" ptType="asst" func="cnt" op="equ" val="1">
                          <dgm:alg type="conn">
                            <dgm:param type="srcNode" val="bottomArc3"/>
                            <dgm:param type="dstNode" val="topArc2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34">
                          <dgm:alg type="conn">
                            <dgm:param type="srcNode" val="bottomArc2"/>
                            <dgm:param type="dstNode" val="topArc2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srcNode" val="bottomArc1"/>
                                <dgm:param type="dstNode" val="topArc2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srcNode" val="bottomArc3"/>
                                <dgm:param type="dstNode" val="topArc2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if>
                            <dgm:else name="Name41">
                              <dgm:alg type="conn">
                                <dgm:param type="srcNode" val="bottomArc2"/>
                                <dgm:param type="dstNode" val="topArc2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srcNode" val="bottomArc1"/>
                                    <dgm:param type="dstNode" val="topConnNode2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bL bR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srcNode" val="bottomArc3"/>
                                    <dgm:param type="dstNode" val="topConnNode2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bL bR"/>
                                  </dgm:alg>
                                </dgm:if>
                                <dgm:else name="Name48">
                                  <dgm:alg type="conn">
                                    <dgm:param type="srcNode" val="bottomArc2"/>
                                    <dgm:param type="dstNode" val="topConnNode2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bL bR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srcNode" val="bottomArc1"/>
                                    <dgm:param type="dstNode" val="topArc2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tCtr"/>
                                    <dgm:param type="bendPt" val="end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srcNode" val="bottomArc3"/>
                                    <dgm:param type="dstNode" val="topArc2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tCtr"/>
                                    <dgm:param type="bendPt" val="end"/>
                                  </dgm:alg>
                                </dgm:if>
                                <dgm:else name="Name53">
                                  <dgm:alg type="conn">
                                    <dgm:param type="srcNode" val="bottomArc2"/>
                                    <dgm:param type="dstNode" val="topArc2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tCtr"/>
                                    <dgm:param type="bendPt" val="end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srcNode" val="bottomArc1"/>
                            <dgm:param type="dstNode" val="topConnNode2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bL bR"/>
                          </dgm:alg>
                        </dgm:if>
                        <dgm:if name="Name57" axis="par" ptType="asst" func="cnt" op="equ" val="1">
                          <dgm:alg type="conn">
                            <dgm:param type="srcNode" val="bottomArc3"/>
                            <dgm:param type="dstNode" val="topConnNode2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bL bR"/>
                          </dgm:alg>
                        </dgm:if>
                        <dgm:else name="Name58">
                          <dgm:alg type="conn">
                            <dgm:param type="srcNode" val="bottomArc2"/>
                            <dgm:param type="dstNode" val="topConnNode2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bL b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7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7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9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9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srcNode" val="bottomArc1"/>
                        <dgm:param type="dstNode" val="topConnNode3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bL bR"/>
                      </dgm:alg>
                    </dgm:if>
                    <dgm:if name="Name104" axis="par" ptType="asst" func="cnt" op="equ" val="1">
                      <dgm:alg type="conn">
                        <dgm:param type="srcNode" val="bottomArc3"/>
                        <dgm:param type="dstNode" val="topConnNode3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bL bR"/>
                      </dgm:alg>
                    </dgm:if>
                    <dgm:else name="Name105">
                      <dgm:alg type="conn">
                        <dgm:param type="srcNode" val="bottomArc2"/>
                        <dgm:param type="dstNode" val="topConnNode3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bL b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3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27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0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r">
              <a:defRPr sz="1100"/>
            </a:lvl1pPr>
          </a:lstStyle>
          <a:p>
            <a:fld id="{5CAE133A-4028-4E2B-B049-6F148B77E5AB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r">
              <a:defRPr sz="1100"/>
            </a:lvl1pPr>
          </a:lstStyle>
          <a:p>
            <a:fld id="{4825AA9F-B079-466D-A19E-A0BED09FA17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r">
              <a:defRPr sz="1200"/>
            </a:lvl1pPr>
          </a:lstStyle>
          <a:p>
            <a:fld id="{A9B5FCE6-2331-4AF4-8362-9D091070A463}" type="datetime1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231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701" tIns="43851" rIns="87701" bIns="438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87701" tIns="43851" rIns="87701" bIns="43851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r">
              <a:defRPr sz="1200"/>
            </a:lvl1pPr>
          </a:lstStyle>
          <a:p>
            <a:fld id="{7106D8DA-1A55-4414-9F6D-9B871CCC3BE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899B3EB-F4B9-4EC3-8874-9456869D1B5F}" type="datetime1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E520-94D8-471E-9246-3DA957E543C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913C-A7DD-4021-AFBC-947EB765CE4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64FA-CC1B-47DB-A93A-6B4BBC43604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BA4E8-8C0A-4D25-81B1-03C2082B47D6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D4E8-1CCE-4EFF-A36C-E105DDD56AAD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C7D-1228-46DC-9402-5957496C3C04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4DF6C-52F4-4529-BC53-6E2674900ED7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8FFD2-C90D-4BD9-95AC-D49FE82B0BB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32C9-888E-4264-AE70-E187E0827B99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A059-0900-46A5-86CD-6CBACA225E8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0799-E2B8-4119-BEA9-5BBF8CE2B0F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C945B-C34E-410F-BC8F-BE6BC04FBFD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549" y="4859834"/>
            <a:ext cx="723900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800" cap="small" dirty="0"/>
              <a:t>Dr. Asif Zaman</a:t>
            </a:r>
            <a:endParaRPr lang="en-US" sz="2800" cap="small" dirty="0"/>
          </a:p>
          <a:p>
            <a:pPr lvl="0" algn="ctr"/>
            <a:r>
              <a:rPr lang="en-US" cap="small" dirty="0" smtClean="0"/>
              <a:t>Professor</a:t>
            </a:r>
            <a:r>
              <a:rPr lang="en-US" cap="small" dirty="0"/>
              <a:t>, CSE, RU</a:t>
            </a:r>
            <a:endParaRPr lang="en-US" sz="1600" cap="small" dirty="0"/>
          </a:p>
        </p:txBody>
      </p:sp>
      <p:sp>
        <p:nvSpPr>
          <p:cNvPr id="6" name="TextBox 5"/>
          <p:cNvSpPr txBox="1"/>
          <p:nvPr/>
        </p:nvSpPr>
        <p:spPr>
          <a:xfrm>
            <a:off x="228598" y="363512"/>
            <a:ext cx="87249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50000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ICE 3161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50000"/>
            </a:pPr>
            <a:r>
              <a:rPr lang="en-US" sz="40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ENGINEERING</a:t>
            </a:r>
            <a:endParaRPr lang="en-US" sz="4000" b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8150" y="2477464"/>
            <a:ext cx="1545795" cy="14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6628" y="6504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Digital Transmission</a:t>
            </a:r>
            <a:endParaRPr lang="en-US" cap="small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295400"/>
          <a:ext cx="4038600" cy="2514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" y="4322750"/>
            <a:ext cx="7430678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How </a:t>
            </a:r>
            <a:r>
              <a:rPr lang="en-US" sz="28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can we represent digital data by using digital </a:t>
            </a:r>
            <a:r>
              <a:rPr lang="en-US" sz="2800" b="1" dirty="0" smtClean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signals?</a:t>
            </a:r>
            <a:endParaRPr lang="en-US" sz="2800" b="1" dirty="0">
              <a:solidFill>
                <a:srgbClr val="FF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566" y="1159663"/>
            <a:ext cx="4066063" cy="1393037"/>
          </a:xfrm>
          <a:prstGeom prst="rect">
            <a:avLst/>
          </a:prstGeom>
        </p:spPr>
      </p:pic>
      <p:pic>
        <p:nvPicPr>
          <p:cNvPr id="8" name="Content Placeholder 4"/>
          <p:cNvPicPr>
            <a:picLocks noChangeAspect="1"/>
          </p:cNvPicPr>
          <p:nvPr/>
        </p:nvPicPr>
        <p:blipFill rotWithShape="1">
          <a:blip r:embed="rId7"/>
          <a:srcRect t="21301"/>
          <a:stretch>
            <a:fillRect/>
          </a:stretch>
        </p:blipFill>
        <p:spPr>
          <a:xfrm>
            <a:off x="4503656" y="2846778"/>
            <a:ext cx="4572000" cy="11818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582" y="4322750"/>
            <a:ext cx="4096867" cy="23593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Digital-to-digital Conversion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smtClean="0"/>
              <a:t>conversion involves </a:t>
            </a:r>
            <a:r>
              <a:rPr lang="en-US" dirty="0"/>
              <a:t>three techniques: </a:t>
            </a: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3200" cap="small" dirty="0" smtClean="0">
                <a:highlight>
                  <a:srgbClr val="FFFF00"/>
                </a:highlight>
              </a:rPr>
              <a:t>line coding</a:t>
            </a:r>
            <a:endParaRPr lang="en-US" sz="3200" cap="small" dirty="0" smtClean="0">
              <a:highlight>
                <a:srgbClr val="FFFF00"/>
              </a:highlight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3200" cap="small" dirty="0" smtClean="0">
                <a:highlight>
                  <a:srgbClr val="FFFF00"/>
                </a:highlight>
              </a:rPr>
              <a:t>block coding</a:t>
            </a:r>
            <a:endParaRPr lang="en-US" sz="3200" cap="small" dirty="0" smtClean="0">
              <a:highlight>
                <a:srgbClr val="FFFF00"/>
              </a:highlight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3200" cap="small" dirty="0" smtClean="0">
                <a:highlight>
                  <a:srgbClr val="FFFF00"/>
                </a:highlight>
              </a:rPr>
              <a:t>scrambling</a:t>
            </a:r>
            <a:endParaRPr lang="en-US" sz="3200" dirty="0" smtClean="0">
              <a:highlight>
                <a:srgbClr val="FFFF00"/>
              </a:highlight>
            </a:endParaRPr>
          </a:p>
          <a:p>
            <a:pPr marL="457200" lvl="1" indent="0">
              <a:buNone/>
            </a:pPr>
            <a:endParaRPr lang="en-US" sz="3200" b="1" dirty="0" smtClean="0">
              <a:highlight>
                <a:srgbClr val="FFFF0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1676400" y="3886200"/>
            <a:ext cx="1016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FF0000"/>
                </a:solidFill>
              </a:rPr>
              <a:t>jhakuni</a:t>
            </a:r>
            <a:endParaRPr 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 smtClean="0"/>
              <a:t>Line Coding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05200"/>
            <a:ext cx="8229600" cy="2262982"/>
          </a:xfrm>
        </p:spPr>
        <p:txBody>
          <a:bodyPr>
            <a:noAutofit/>
          </a:bodyPr>
          <a:lstStyle/>
          <a:p>
            <a:r>
              <a:rPr lang="en-US" sz="2400" dirty="0"/>
              <a:t>We </a:t>
            </a:r>
            <a:r>
              <a:rPr lang="en-US" sz="2400" dirty="0">
                <a:solidFill>
                  <a:srgbClr val="FF0000"/>
                </a:solidFill>
              </a:rPr>
              <a:t>assume</a:t>
            </a:r>
            <a:r>
              <a:rPr lang="en-US" sz="2400" dirty="0"/>
              <a:t> </a:t>
            </a:r>
            <a:r>
              <a:rPr lang="en-US" sz="2400" dirty="0" smtClean="0"/>
              <a:t>that </a:t>
            </a:r>
            <a:r>
              <a:rPr lang="en-US" sz="2400" dirty="0" smtClean="0">
                <a:highlight>
                  <a:srgbClr val="FFFF00"/>
                </a:highlight>
              </a:rPr>
              <a:t>data</a:t>
            </a:r>
            <a:r>
              <a:rPr lang="en-US" sz="2400" dirty="0">
                <a:highlight>
                  <a:srgbClr val="FFFF00"/>
                </a:highlight>
              </a:rPr>
              <a:t>, </a:t>
            </a:r>
            <a:r>
              <a:rPr lang="en-US" sz="2400" dirty="0" smtClean="0">
                <a:highlight>
                  <a:srgbClr val="FFFF00"/>
                </a:highlight>
              </a:rPr>
              <a:t>… are </a:t>
            </a:r>
            <a:r>
              <a:rPr lang="en-US" sz="2400" dirty="0">
                <a:highlight>
                  <a:srgbClr val="FFFF00"/>
                </a:highlight>
              </a:rPr>
              <a:t>stored in </a:t>
            </a:r>
            <a:r>
              <a:rPr lang="en-US" sz="2400" dirty="0" smtClean="0">
                <a:highlight>
                  <a:srgbClr val="FFFF00"/>
                </a:highlight>
              </a:rPr>
              <a:t>computer memory </a:t>
            </a:r>
            <a:r>
              <a:rPr lang="en-US" sz="2400" dirty="0">
                <a:highlight>
                  <a:srgbClr val="FFFF00"/>
                </a:highlight>
              </a:rPr>
              <a:t>as sequences of </a:t>
            </a:r>
            <a:r>
              <a:rPr lang="en-US" sz="2400" dirty="0" smtClean="0">
                <a:highlight>
                  <a:srgbClr val="FFFF00"/>
                </a:highlight>
              </a:rPr>
              <a:t>bits. </a:t>
            </a:r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 smtClean="0">
                <a:highlight>
                  <a:srgbClr val="FFFF00"/>
                </a:highlight>
              </a:rPr>
              <a:t>Line </a:t>
            </a:r>
            <a:r>
              <a:rPr lang="en-US" sz="2400" dirty="0">
                <a:highlight>
                  <a:srgbClr val="FFFF00"/>
                </a:highlight>
              </a:rPr>
              <a:t>coding converts a sequence </a:t>
            </a:r>
            <a:r>
              <a:rPr lang="en-US" sz="2400" dirty="0" smtClean="0">
                <a:highlight>
                  <a:srgbClr val="FFFF00"/>
                </a:highlight>
              </a:rPr>
              <a:t>of bits </a:t>
            </a:r>
            <a:r>
              <a:rPr lang="en-US" sz="2400" dirty="0">
                <a:highlight>
                  <a:srgbClr val="FFFF00"/>
                </a:highlight>
              </a:rPr>
              <a:t>to a digital signal. </a:t>
            </a:r>
            <a:endParaRPr lang="en-US" sz="2400" dirty="0" smtClean="0"/>
          </a:p>
          <a:p>
            <a:r>
              <a:rPr lang="en-US" sz="2400" b="1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At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the </a:t>
            </a:r>
            <a:r>
              <a:rPr lang="en-US" sz="2400" b="1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sender: </a:t>
            </a:r>
            <a:r>
              <a:rPr lang="en-US" sz="2400" dirty="0"/>
              <a:t>digital data are encoded into a digital signal; </a:t>
            </a:r>
            <a:endParaRPr lang="en-US" sz="2400" dirty="0" smtClean="0"/>
          </a:p>
          <a:p>
            <a:r>
              <a:rPr lang="en-US" sz="2400" b="1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at the receiver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:</a:t>
            </a:r>
            <a:r>
              <a:rPr lang="en-US" sz="2400" dirty="0" smtClean="0"/>
              <a:t> </a:t>
            </a:r>
            <a:r>
              <a:rPr lang="en-US" sz="2400" dirty="0"/>
              <a:t>the digital data are recreated by decoding the digital signal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582" y="1295400"/>
            <a:ext cx="7902836" cy="21274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Line Coding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cap="small" dirty="0" smtClean="0"/>
              <a:t>Characteristics</a:t>
            </a:r>
            <a:endParaRPr lang="en-US" sz="2800" b="1" cap="small" dirty="0" smtClean="0"/>
          </a:p>
          <a:p>
            <a:pPr lvl="1"/>
            <a:r>
              <a:rPr lang="nn-NO" dirty="0"/>
              <a:t>Signal Element </a:t>
            </a:r>
            <a:r>
              <a:rPr lang="nn-NO" dirty="0" smtClean="0"/>
              <a:t>&amp; </a:t>
            </a:r>
            <a:r>
              <a:rPr lang="nn-NO" dirty="0"/>
              <a:t>Data </a:t>
            </a:r>
            <a:r>
              <a:rPr lang="nn-NO" dirty="0" smtClean="0"/>
              <a:t>Element</a:t>
            </a:r>
            <a:endParaRPr lang="nn-NO" dirty="0" smtClean="0"/>
          </a:p>
          <a:p>
            <a:pPr lvl="1"/>
            <a:r>
              <a:rPr lang="en-US" dirty="0"/>
              <a:t>Data Rate </a:t>
            </a:r>
            <a:r>
              <a:rPr lang="en-US" dirty="0" smtClean="0"/>
              <a:t>&amp; </a:t>
            </a:r>
            <a:r>
              <a:rPr lang="en-US" dirty="0"/>
              <a:t>Signal </a:t>
            </a:r>
            <a:r>
              <a:rPr lang="en-US" dirty="0" smtClean="0"/>
              <a:t>Rate</a:t>
            </a:r>
            <a:endParaRPr lang="en-US" dirty="0" smtClean="0"/>
          </a:p>
          <a:p>
            <a:pPr lvl="1"/>
            <a:r>
              <a:rPr lang="en-US" dirty="0" smtClean="0"/>
              <a:t>Bandwidth</a:t>
            </a:r>
            <a:endParaRPr lang="en-US" dirty="0" smtClean="0"/>
          </a:p>
          <a:p>
            <a:pPr lvl="1"/>
            <a:r>
              <a:rPr lang="en-US" dirty="0"/>
              <a:t>Baseline </a:t>
            </a:r>
            <a:r>
              <a:rPr lang="en-US" dirty="0" smtClean="0"/>
              <a:t>Wandering</a:t>
            </a:r>
            <a:endParaRPr lang="en-US" dirty="0" smtClean="0"/>
          </a:p>
          <a:p>
            <a:pPr lvl="1"/>
            <a:r>
              <a:rPr lang="en-US" dirty="0" smtClean="0"/>
              <a:t>Self-synchronization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n-NO" cap="small" dirty="0"/>
              <a:t>Signal Element </a:t>
            </a:r>
            <a:r>
              <a:rPr lang="nn-NO" cap="small" dirty="0" smtClean="0"/>
              <a:t>&amp; </a:t>
            </a:r>
            <a:r>
              <a:rPr lang="nn-NO" cap="small" dirty="0"/>
              <a:t>Data </a:t>
            </a:r>
            <a:r>
              <a:rPr lang="nn-NO" cap="small" dirty="0" smtClean="0"/>
              <a:t>Element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 smtClean="0"/>
              <a:t>A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data element </a:t>
            </a:r>
            <a:r>
              <a:rPr lang="en-US" sz="2400" dirty="0"/>
              <a:t>is the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smallest entity </a:t>
            </a:r>
            <a:r>
              <a:rPr lang="en-US" sz="2400" dirty="0"/>
              <a:t>that </a:t>
            </a:r>
            <a:r>
              <a:rPr lang="en-US" sz="2400" dirty="0" smtClean="0"/>
              <a:t>can represent </a:t>
            </a:r>
            <a:r>
              <a:rPr lang="en-US" sz="2400" dirty="0"/>
              <a:t>a piece of information: </a:t>
            </a:r>
            <a:r>
              <a:rPr lang="en-US" sz="2400" b="1" u="sng" dirty="0"/>
              <a:t>this is the bit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 lvl="1"/>
            <a:r>
              <a:rPr lang="en-US" sz="2400" dirty="0"/>
              <a:t>A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signal element</a:t>
            </a:r>
            <a:r>
              <a:rPr lang="en-US" sz="2400" dirty="0"/>
              <a:t> is the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shortest</a:t>
            </a:r>
            <a:r>
              <a:rPr lang="en-US" sz="2400" dirty="0"/>
              <a:t>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unit</a:t>
            </a:r>
            <a:r>
              <a:rPr lang="en-US" sz="2400" dirty="0"/>
              <a:t> (</a:t>
            </a:r>
            <a:r>
              <a:rPr lang="en-US" sz="2400" dirty="0" err="1"/>
              <a:t>timewise</a:t>
            </a:r>
            <a:r>
              <a:rPr lang="en-US" sz="2400" dirty="0"/>
              <a:t>) of a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digital</a:t>
            </a:r>
            <a:r>
              <a:rPr lang="en-US" sz="2400" dirty="0" smtClean="0"/>
              <a:t>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signal</a:t>
            </a:r>
            <a:r>
              <a:rPr lang="en-US" sz="2400" dirty="0"/>
              <a:t>.</a:t>
            </a:r>
            <a:endParaRPr lang="en-US" sz="2400" dirty="0" smtClean="0"/>
          </a:p>
          <a:p>
            <a:pPr lvl="1"/>
            <a:r>
              <a:rPr lang="en-US" sz="2400" dirty="0" smtClean="0"/>
              <a:t>a signal element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carries</a:t>
            </a:r>
            <a:r>
              <a:rPr lang="en-US" sz="2400" dirty="0"/>
              <a:t> data elements. </a:t>
            </a:r>
            <a:r>
              <a:rPr lang="en-US" sz="2400" dirty="0" smtClean="0"/>
              <a:t> </a:t>
            </a:r>
            <a:endParaRPr lang="en-US" sz="2400" dirty="0" smtClean="0"/>
          </a:p>
          <a:p>
            <a:pPr lvl="1"/>
            <a:r>
              <a:rPr lang="en-US" sz="2400" dirty="0" smtClean="0"/>
              <a:t>Data </a:t>
            </a:r>
            <a:r>
              <a:rPr lang="en-US" sz="2400" dirty="0"/>
              <a:t>elements are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what</a:t>
            </a:r>
            <a:r>
              <a:rPr lang="en-US" sz="2400" dirty="0"/>
              <a:t> we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need</a:t>
            </a:r>
            <a:r>
              <a:rPr lang="en-US" sz="2400" dirty="0"/>
              <a:t> to send; </a:t>
            </a:r>
            <a:br>
              <a:rPr lang="en-US" sz="2400" dirty="0" smtClean="0"/>
            </a:br>
            <a:r>
              <a:rPr lang="en-US" sz="2400" dirty="0" smtClean="0"/>
              <a:t>signal </a:t>
            </a:r>
            <a:r>
              <a:rPr lang="en-US" sz="2400" dirty="0"/>
              <a:t>elements </a:t>
            </a:r>
            <a:r>
              <a:rPr lang="en-US" sz="2400" dirty="0" smtClean="0"/>
              <a:t>are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what</a:t>
            </a:r>
            <a:r>
              <a:rPr lang="en-US" sz="2400" dirty="0" smtClean="0"/>
              <a:t> </a:t>
            </a:r>
            <a:r>
              <a:rPr lang="en-US" sz="2400" dirty="0"/>
              <a:t>we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can</a:t>
            </a:r>
            <a:r>
              <a:rPr lang="en-US" sz="2400" dirty="0"/>
              <a:t> send. </a:t>
            </a:r>
            <a:endParaRPr lang="en-US" sz="2400" dirty="0" smtClean="0"/>
          </a:p>
          <a:p>
            <a:pPr lvl="1"/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Data</a:t>
            </a:r>
            <a:r>
              <a:rPr lang="en-US" sz="2400" dirty="0" smtClean="0"/>
              <a:t>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elements</a:t>
            </a:r>
            <a:r>
              <a:rPr lang="en-US" sz="2400" dirty="0"/>
              <a:t> are being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carried</a:t>
            </a:r>
            <a:r>
              <a:rPr lang="en-US" sz="2400" dirty="0"/>
              <a:t>; </a:t>
            </a:r>
            <a:br>
              <a:rPr lang="en-US" sz="2400" dirty="0" smtClean="0"/>
            </a:b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signal</a:t>
            </a:r>
            <a:r>
              <a:rPr lang="en-US" sz="2400" dirty="0" smtClean="0"/>
              <a:t> </a:t>
            </a:r>
            <a:r>
              <a:rPr lang="en-US" sz="2400" dirty="0"/>
              <a:t>elements are the </a:t>
            </a: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carriers</a:t>
            </a:r>
            <a:r>
              <a:rPr lang="en-US" sz="2400" dirty="0"/>
              <a:t>.</a:t>
            </a:r>
            <a:endParaRPr lang="nn-NO" sz="6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4400" y="533400"/>
            <a:ext cx="7349963" cy="5486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14400" y="196850"/>
            <a:ext cx="762000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We define a ratio </a:t>
            </a:r>
            <a:r>
              <a:rPr lang="en-US" sz="2400" b="1" i="1" dirty="0">
                <a:highlight>
                  <a:srgbClr val="FFFF00"/>
                </a:highlight>
              </a:rPr>
              <a:t>r</a:t>
            </a:r>
            <a:r>
              <a:rPr lang="en-US" sz="2400" i="1" dirty="0">
                <a:highlight>
                  <a:srgbClr val="FFFF00"/>
                </a:highlight>
              </a:rPr>
              <a:t> </a:t>
            </a:r>
            <a:r>
              <a:rPr lang="en-US" sz="2400" dirty="0">
                <a:highlight>
                  <a:srgbClr val="FFFF00"/>
                </a:highlight>
              </a:rPr>
              <a:t>which is the number of data elements carried by each signal element.</a:t>
            </a:r>
            <a:endParaRPr lang="en-US" sz="24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Data Rate Versus Signal Rate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data rate defines </a:t>
            </a:r>
            <a:r>
              <a:rPr lang="en-US" sz="2800" dirty="0">
                <a:highlight>
                  <a:srgbClr val="FFFF00"/>
                </a:highlight>
              </a:rPr>
              <a:t>the number of data elements (bits) sent in 1s.</a:t>
            </a:r>
            <a:r>
              <a:rPr lang="en-US" sz="2800" dirty="0"/>
              <a:t> </a:t>
            </a:r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unit is bits </a:t>
            </a:r>
            <a:r>
              <a:rPr lang="en-US" sz="2800" dirty="0" smtClean="0"/>
              <a:t>per second </a:t>
            </a:r>
            <a:r>
              <a:rPr lang="en-US" sz="2800" dirty="0"/>
              <a:t>(</a:t>
            </a:r>
            <a:r>
              <a:rPr lang="en-US" sz="2800" b="1" u="sng" dirty="0">
                <a:solidFill>
                  <a:srgbClr val="FF0000"/>
                </a:solidFill>
              </a:rPr>
              <a:t>bps</a:t>
            </a:r>
            <a:r>
              <a:rPr lang="en-US" sz="2800" dirty="0"/>
              <a:t>). </a:t>
            </a:r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signal rate is </a:t>
            </a:r>
            <a:r>
              <a:rPr lang="en-US" sz="2800" dirty="0">
                <a:highlight>
                  <a:srgbClr val="FFFF00"/>
                </a:highlight>
              </a:rPr>
              <a:t>the number of signal elements sent in 1s</a:t>
            </a:r>
            <a:r>
              <a:rPr lang="en-US" sz="2800" dirty="0"/>
              <a:t>. The unit </a:t>
            </a:r>
            <a:r>
              <a:rPr lang="en-US" sz="2800" dirty="0" smtClean="0"/>
              <a:t>is the </a:t>
            </a:r>
            <a:r>
              <a:rPr lang="en-US" sz="2800" b="1" u="sng" dirty="0">
                <a:solidFill>
                  <a:srgbClr val="FF0000"/>
                </a:solidFill>
              </a:rPr>
              <a:t>baud</a:t>
            </a:r>
            <a:r>
              <a:rPr lang="en-US" sz="2800" dirty="0"/>
              <a:t>. </a:t>
            </a:r>
            <a:endParaRPr lang="en-US" sz="2800" dirty="0" smtClean="0"/>
          </a:p>
          <a:p>
            <a:r>
              <a:rPr lang="en-US" sz="2800" dirty="0" smtClean="0"/>
              <a:t>pulse </a:t>
            </a:r>
            <a:r>
              <a:rPr lang="en-US" sz="2800" dirty="0"/>
              <a:t>rate, </a:t>
            </a:r>
            <a:r>
              <a:rPr lang="en-US" sz="2800" dirty="0" smtClean="0"/>
              <a:t>the modulation </a:t>
            </a:r>
            <a:r>
              <a:rPr lang="en-US" sz="2800" dirty="0"/>
              <a:t>rate, or the baud </a:t>
            </a:r>
            <a:r>
              <a:rPr lang="en-US" sz="2800" dirty="0" smtClean="0"/>
              <a:t>rate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573" y="533400"/>
            <a:ext cx="8458200" cy="440313"/>
          </a:xfrm>
        </p:spPr>
        <p:txBody>
          <a:bodyPr>
            <a:noAutofit/>
          </a:bodyPr>
          <a:lstStyle/>
          <a:p>
            <a:r>
              <a:rPr lang="en-US" sz="2800" b="1" i="1" cap="small" dirty="0"/>
              <a:t>Bandwidth</a:t>
            </a:r>
            <a:endParaRPr lang="en-US" sz="2800" cap="smal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31949" y="1066800"/>
            <a:ext cx="8497824" cy="279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In networking, </a:t>
            </a:r>
            <a:br>
              <a:rPr lang="en-US" sz="2800" dirty="0" smtClean="0"/>
            </a:br>
            <a:r>
              <a:rPr lang="en-US" sz="2800" dirty="0" smtClean="0"/>
              <a:t>We </a:t>
            </a:r>
            <a:r>
              <a:rPr lang="en-US" sz="2800" dirty="0"/>
              <a:t>use the term </a:t>
            </a:r>
            <a:r>
              <a:rPr lang="en-US" sz="2800" u="sng" dirty="0"/>
              <a:t>bandwidth</a:t>
            </a:r>
            <a:r>
              <a:rPr lang="en-US" sz="2800" dirty="0"/>
              <a:t> in </a:t>
            </a:r>
            <a:r>
              <a:rPr lang="en-US" sz="2800" u="sng" dirty="0"/>
              <a:t>two</a:t>
            </a:r>
            <a:r>
              <a:rPr lang="en-US" sz="2800" dirty="0"/>
              <a:t> </a:t>
            </a:r>
            <a:r>
              <a:rPr lang="en-US" sz="2800" u="sng" dirty="0"/>
              <a:t>contexts</a:t>
            </a:r>
            <a:r>
              <a:rPr lang="en-US" sz="2800" dirty="0" smtClean="0"/>
              <a:t>.</a:t>
            </a:r>
            <a:endParaRPr lang="en-US" sz="28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400" dirty="0" smtClean="0"/>
              <a:t>The </a:t>
            </a:r>
            <a:r>
              <a:rPr lang="en-US" sz="2400" dirty="0"/>
              <a:t>first, </a:t>
            </a:r>
            <a:r>
              <a:rPr lang="en-US" sz="2400" dirty="0">
                <a:highlight>
                  <a:srgbClr val="FFFF00"/>
                </a:highlight>
              </a:rPr>
              <a:t>bandwidth in hertz</a:t>
            </a:r>
            <a:r>
              <a:rPr lang="en-US" sz="2400" dirty="0"/>
              <a:t>, </a:t>
            </a:r>
            <a:br>
              <a:rPr lang="en-US" sz="2400" dirty="0" smtClean="0"/>
            </a:br>
            <a:r>
              <a:rPr lang="en-US" sz="2400" dirty="0" smtClean="0"/>
              <a:t>refers </a:t>
            </a:r>
            <a:r>
              <a:rPr lang="en-US" sz="2400" dirty="0"/>
              <a:t>to </a:t>
            </a:r>
            <a:r>
              <a:rPr lang="en-US" sz="2400" dirty="0">
                <a:highlight>
                  <a:srgbClr val="FFFF00"/>
                </a:highlight>
              </a:rPr>
              <a:t>the range of frequencies</a:t>
            </a:r>
            <a:r>
              <a:rPr lang="en-US" sz="2400" dirty="0"/>
              <a:t> in a composite signal</a:t>
            </a:r>
            <a:r>
              <a:rPr lang="en-US" sz="2400" dirty="0" smtClean="0"/>
              <a:t> </a:t>
            </a:r>
            <a:r>
              <a:rPr lang="en-US" sz="2400" dirty="0"/>
              <a:t>or the range of frequencies that a channel can pass. </a:t>
            </a:r>
            <a:endParaRPr lang="en-US" sz="2400" dirty="0"/>
          </a:p>
          <a:p>
            <a:pPr marL="971550" lvl="1" indent="-514350">
              <a:buFont typeface="+mj-lt"/>
              <a:buAutoNum type="arabicPeriod"/>
            </a:pPr>
            <a:r>
              <a:rPr lang="en-US" sz="2400" dirty="0" smtClean="0"/>
              <a:t>The </a:t>
            </a:r>
            <a:r>
              <a:rPr lang="en-US" sz="2400" dirty="0"/>
              <a:t>second, </a:t>
            </a:r>
            <a:r>
              <a:rPr lang="en-US" sz="2400" dirty="0">
                <a:highlight>
                  <a:srgbClr val="FFFF00"/>
                </a:highlight>
              </a:rPr>
              <a:t>bandwidth in bits per second</a:t>
            </a:r>
            <a:r>
              <a:rPr lang="en-US" sz="2400" dirty="0"/>
              <a:t>, refers to </a:t>
            </a:r>
            <a:r>
              <a:rPr lang="en-US" sz="2400" dirty="0">
                <a:highlight>
                  <a:srgbClr val="FFFF00"/>
                </a:highlight>
              </a:rPr>
              <a:t>the speed of bit transmission in a </a:t>
            </a:r>
            <a:r>
              <a:rPr lang="en-US" sz="2400" dirty="0" smtClean="0">
                <a:highlight>
                  <a:srgbClr val="FFFF00"/>
                </a:highlight>
              </a:rPr>
              <a:t>channel </a:t>
            </a:r>
            <a:r>
              <a:rPr lang="en-US" sz="2400" dirty="0">
                <a:highlight>
                  <a:srgbClr val="FFFF00"/>
                </a:highlight>
              </a:rPr>
              <a:t>or link</a:t>
            </a:r>
            <a:r>
              <a:rPr lang="en-US" sz="2400" dirty="0"/>
              <a:t>. 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15909"/>
          <a:stretch>
            <a:fillRect/>
          </a:stretch>
        </p:blipFill>
        <p:spPr>
          <a:xfrm>
            <a:off x="331949" y="3867567"/>
            <a:ext cx="4569144" cy="2819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4230" b="13075"/>
          <a:stretch>
            <a:fillRect/>
          </a:stretch>
        </p:blipFill>
        <p:spPr>
          <a:xfrm>
            <a:off x="4495800" y="4578935"/>
            <a:ext cx="4597649" cy="1428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" y="762000"/>
            <a:ext cx="8497824" cy="5323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cap="small" dirty="0"/>
              <a:t>Baseline </a:t>
            </a:r>
            <a:r>
              <a:rPr lang="en-US" sz="3200" b="1" cap="small" dirty="0" smtClean="0"/>
              <a:t>Wandering (Drifting)</a:t>
            </a:r>
            <a:endParaRPr lang="en-US" sz="3200" b="1" cap="small" dirty="0"/>
          </a:p>
          <a:p>
            <a:pPr marL="742950" lvl="1" indent="-285750">
              <a:buSzPct val="70000"/>
              <a:buFont typeface="Wingdings" panose="05000000000000000000" pitchFamily="2" charset="2"/>
              <a:buChar char="q"/>
            </a:pPr>
            <a:r>
              <a:rPr lang="en-US" sz="2800" dirty="0"/>
              <a:t>In decoding a digital signal, </a:t>
            </a:r>
            <a:r>
              <a:rPr lang="en-US" sz="2800" dirty="0">
                <a:highlight>
                  <a:srgbClr val="FFFF00"/>
                </a:highlight>
              </a:rPr>
              <a:t>the receiver calculates a </a:t>
            </a:r>
            <a:r>
              <a:rPr lang="en-US" sz="2800" u="sng" dirty="0">
                <a:highlight>
                  <a:srgbClr val="FFFF00"/>
                </a:highlight>
              </a:rPr>
              <a:t>running average of the </a:t>
            </a:r>
            <a:r>
              <a:rPr lang="en-US" sz="2800" u="sng" dirty="0" smtClean="0">
                <a:highlight>
                  <a:srgbClr val="FFFF00"/>
                </a:highlight>
              </a:rPr>
              <a:t>received signal </a:t>
            </a:r>
            <a:r>
              <a:rPr lang="en-US" sz="2800" u="sng" dirty="0">
                <a:highlight>
                  <a:srgbClr val="FFFF00"/>
                </a:highlight>
              </a:rPr>
              <a:t>power</a:t>
            </a:r>
            <a:r>
              <a:rPr lang="en-US" sz="2800" dirty="0">
                <a:highlight>
                  <a:srgbClr val="FFFF00"/>
                </a:highlight>
              </a:rPr>
              <a:t>. </a:t>
            </a:r>
            <a:endParaRPr lang="en-US" sz="2800" dirty="0" smtClean="0"/>
          </a:p>
          <a:p>
            <a:pPr marL="742950" lvl="1" indent="-285750">
              <a:buSzPct val="70000"/>
              <a:buFont typeface="Wingdings" panose="05000000000000000000" pitchFamily="2" charset="2"/>
              <a:buChar char="q"/>
            </a:pPr>
            <a:endParaRPr lang="en-US" sz="2800" dirty="0" smtClean="0"/>
          </a:p>
          <a:p>
            <a:pPr marL="742950" lvl="1" indent="-285750">
              <a:buSzPct val="70000"/>
              <a:buFont typeface="Wingdings" panose="05000000000000000000" pitchFamily="2" charset="2"/>
              <a:buChar char="q"/>
            </a:pPr>
            <a:r>
              <a:rPr lang="en-US" sz="2800" dirty="0" smtClean="0"/>
              <a:t>This average is called the </a:t>
            </a:r>
            <a:r>
              <a:rPr lang="en-US" sz="2800" dirty="0" smtClean="0">
                <a:solidFill>
                  <a:srgbClr val="FF0000"/>
                </a:solidFill>
              </a:rPr>
              <a:t>baseline</a:t>
            </a:r>
            <a:r>
              <a:rPr lang="en-US" sz="2800" dirty="0" smtClean="0"/>
              <a:t>. </a:t>
            </a:r>
            <a:endParaRPr lang="en-US" sz="2800" dirty="0" smtClean="0"/>
          </a:p>
          <a:p>
            <a:pPr marL="742950" lvl="1" indent="-285750">
              <a:buSzPct val="70000"/>
              <a:buFont typeface="Wingdings" panose="05000000000000000000" pitchFamily="2" charset="2"/>
              <a:buChar char="q"/>
            </a:pPr>
            <a:endParaRPr lang="en-US" sz="2800" dirty="0" smtClean="0"/>
          </a:p>
          <a:p>
            <a:pPr marL="742950" lvl="1" indent="-285750">
              <a:buSzPct val="70000"/>
              <a:buFont typeface="Wingdings" panose="05000000000000000000" pitchFamily="2" charset="2"/>
              <a:buChar char="q"/>
            </a:pPr>
            <a:r>
              <a:rPr lang="en-US" sz="2800" dirty="0" smtClean="0"/>
              <a:t>The </a:t>
            </a:r>
            <a:r>
              <a:rPr lang="en-US" sz="2800" u="sng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incoming</a:t>
            </a:r>
            <a:r>
              <a:rPr lang="en-US" sz="2800" dirty="0"/>
              <a:t> </a:t>
            </a:r>
            <a:r>
              <a:rPr lang="en-US" sz="2800" u="sng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signal</a:t>
            </a:r>
            <a:r>
              <a:rPr lang="en-US" sz="2800" dirty="0"/>
              <a:t> </a:t>
            </a:r>
            <a:r>
              <a:rPr lang="en-US" sz="2800" u="sng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power</a:t>
            </a:r>
            <a:r>
              <a:rPr lang="en-US" sz="2800" dirty="0"/>
              <a:t> is </a:t>
            </a:r>
            <a:r>
              <a:rPr lang="en-US" sz="2800" dirty="0" smtClean="0"/>
              <a:t>evaluated against </a:t>
            </a:r>
            <a:r>
              <a:rPr lang="en-US" sz="2800" dirty="0"/>
              <a:t>this baseline to determine the </a:t>
            </a:r>
            <a:r>
              <a:rPr lang="en-US" sz="2800" u="sng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value</a:t>
            </a:r>
            <a:r>
              <a:rPr lang="en-US" sz="2800" dirty="0"/>
              <a:t> of the </a:t>
            </a:r>
            <a:r>
              <a:rPr lang="en-US" sz="2800" u="sng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data</a:t>
            </a:r>
            <a:r>
              <a:rPr lang="en-US" sz="2800" dirty="0"/>
              <a:t> </a:t>
            </a:r>
            <a:r>
              <a:rPr lang="en-US" sz="2800" u="sng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element</a:t>
            </a:r>
            <a:r>
              <a:rPr lang="en-US" sz="2800" dirty="0" smtClean="0"/>
              <a:t>.</a:t>
            </a:r>
            <a:endParaRPr lang="en-US" sz="2800" dirty="0" smtClean="0"/>
          </a:p>
          <a:p>
            <a:pPr marL="742950" lvl="1" indent="-285750">
              <a:buSzPct val="70000"/>
              <a:buFont typeface="Wingdings" panose="05000000000000000000" pitchFamily="2" charset="2"/>
              <a:buChar char="q"/>
            </a:pPr>
            <a:endParaRPr lang="en-US" sz="2800" dirty="0" smtClean="0"/>
          </a:p>
          <a:p>
            <a:pPr marL="742950" lvl="1" indent="-285750">
              <a:buSzPct val="70000"/>
              <a:buFont typeface="Wingdings" panose="05000000000000000000" pitchFamily="2" charset="2"/>
              <a:buChar char="q"/>
            </a:pPr>
            <a:r>
              <a:rPr lang="en-US" sz="2800" dirty="0" smtClean="0"/>
              <a:t> </a:t>
            </a:r>
            <a:r>
              <a:rPr lang="en-US" sz="2800" dirty="0"/>
              <a:t>A </a:t>
            </a:r>
            <a:r>
              <a:rPr lang="en-US" sz="2800" u="sng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long</a:t>
            </a:r>
            <a:r>
              <a:rPr lang="en-US" sz="2800" dirty="0"/>
              <a:t> string of </a:t>
            </a:r>
            <a:r>
              <a:rPr lang="en-US" sz="2800" u="sng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0s or 1s </a:t>
            </a:r>
            <a:r>
              <a:rPr lang="en-US" sz="2800" dirty="0" smtClean="0"/>
              <a:t>can </a:t>
            </a:r>
            <a:r>
              <a:rPr lang="en-US" sz="2800" dirty="0"/>
              <a:t>cause a </a:t>
            </a:r>
            <a:r>
              <a:rPr lang="en-US" sz="2800" u="sng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drift</a:t>
            </a:r>
            <a:r>
              <a:rPr lang="en-US" sz="2800" dirty="0"/>
              <a:t> in the </a:t>
            </a:r>
            <a:r>
              <a:rPr lang="en-US" sz="2800" u="sng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baseline</a:t>
            </a:r>
            <a:r>
              <a:rPr lang="en-US" sz="2800" dirty="0"/>
              <a:t> </a:t>
            </a:r>
            <a:r>
              <a:rPr lang="en-US" sz="2800" dirty="0" smtClean="0"/>
              <a:t>and </a:t>
            </a:r>
            <a:r>
              <a:rPr lang="en-US" sz="2800" dirty="0"/>
              <a:t>make it difficult for the </a:t>
            </a:r>
            <a:r>
              <a:rPr lang="en-US" sz="2800" dirty="0" smtClean="0"/>
              <a:t>receiver to </a:t>
            </a:r>
            <a:r>
              <a:rPr lang="en-US" sz="2800" dirty="0"/>
              <a:t>decode correctly</a:t>
            </a:r>
            <a:r>
              <a:rPr lang="en-US" sz="2400" dirty="0"/>
              <a:t>.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4000" cap="small" dirty="0" smtClean="0"/>
              <a:t>Self-synchronization</a:t>
            </a:r>
            <a:endParaRPr lang="en-US" sz="4000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57400" y="1828800"/>
            <a:ext cx="5188217" cy="342917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Line Coding Schemes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5347" y="1676400"/>
            <a:ext cx="9143190" cy="283464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304852" y="5257800"/>
            <a:ext cx="76200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Unipolar </a:t>
            </a:r>
            <a:r>
              <a:rPr lang="en-US" sz="2400" b="1" dirty="0" smtClean="0"/>
              <a:t>Scheme</a:t>
            </a:r>
            <a:endParaRPr lang="en-US" sz="24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In </a:t>
            </a:r>
            <a:r>
              <a:rPr lang="en-US" sz="2400" dirty="0"/>
              <a:t>a unipolar scheme, all the signal levels are on one side of the time axis, either </a:t>
            </a:r>
            <a:r>
              <a:rPr lang="en-US" sz="2400" dirty="0" smtClean="0"/>
              <a:t>above or </a:t>
            </a:r>
            <a:r>
              <a:rPr lang="en-US" sz="2400" dirty="0"/>
              <a:t>below.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 smtClean="0"/>
              <a:t>Unipolar NRZ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r="35227"/>
          <a:stretch>
            <a:fillRect/>
          </a:stretch>
        </p:blipFill>
        <p:spPr>
          <a:xfrm>
            <a:off x="1981200" y="17282"/>
            <a:ext cx="5410200" cy="331975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90600" y="3498070"/>
            <a:ext cx="6324600" cy="3046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NRZ (</a:t>
            </a:r>
            <a:r>
              <a:rPr lang="en-US" sz="2400" b="1" dirty="0" smtClean="0"/>
              <a:t>Non-Return-to-Zero)</a:t>
            </a:r>
            <a:endParaRPr lang="en-US" sz="24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Traditionally</a:t>
            </a:r>
            <a:r>
              <a:rPr lang="en-US" sz="2400" dirty="0"/>
              <a:t>, a unipolar scheme was designed as a </a:t>
            </a:r>
            <a:r>
              <a:rPr lang="en-US" sz="2400" b="1" dirty="0"/>
              <a:t>non-return-to-zero (NRZ) </a:t>
            </a:r>
            <a:r>
              <a:rPr lang="en-US" sz="2400" dirty="0" smtClean="0"/>
              <a:t>scheme in </a:t>
            </a:r>
            <a:r>
              <a:rPr lang="en-US" sz="2400" dirty="0"/>
              <a:t>which the positive voltage defines bit 1 and the zero voltage defines bit 0. </a:t>
            </a:r>
            <a:endParaRPr lang="en-US" sz="24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highlight>
                  <a:srgbClr val="FFFF00"/>
                </a:highlight>
              </a:rPr>
              <a:t>It </a:t>
            </a:r>
            <a:r>
              <a:rPr lang="en-US" sz="2400" dirty="0">
                <a:highlight>
                  <a:srgbClr val="FFFF00"/>
                </a:highlight>
              </a:rPr>
              <a:t>is </a:t>
            </a:r>
            <a:r>
              <a:rPr lang="en-US" sz="2400" dirty="0" smtClean="0">
                <a:highlight>
                  <a:srgbClr val="FFFF00"/>
                </a:highlight>
              </a:rPr>
              <a:t>called NRZ </a:t>
            </a:r>
            <a:r>
              <a:rPr lang="en-US" sz="2400" dirty="0">
                <a:highlight>
                  <a:srgbClr val="FFFF00"/>
                </a:highlight>
              </a:rPr>
              <a:t>because the signal does not return to zero at the middle of the bit.</a:t>
            </a:r>
            <a:endParaRPr lang="en-US" sz="24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 smtClean="0"/>
              <a:t>Polar Scheme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</a:t>
            </a:r>
            <a:r>
              <a:rPr lang="en-US" sz="2400" b="1" dirty="0"/>
              <a:t>polar </a:t>
            </a:r>
            <a:r>
              <a:rPr lang="en-US" sz="2400" dirty="0"/>
              <a:t>schemes, the voltages are </a:t>
            </a:r>
            <a:r>
              <a:rPr lang="en-US" sz="2400" b="1" u="sng" dirty="0"/>
              <a:t>on both sides of </a:t>
            </a:r>
            <a:r>
              <a:rPr lang="en-US" sz="2400" dirty="0"/>
              <a:t>the time axis. </a:t>
            </a:r>
            <a:endParaRPr lang="en-US" sz="2400" dirty="0" smtClean="0"/>
          </a:p>
          <a:p>
            <a:pPr lvl="1"/>
            <a:r>
              <a:rPr lang="en-US" sz="2400" dirty="0" smtClean="0"/>
              <a:t>For </a:t>
            </a:r>
            <a:r>
              <a:rPr lang="en-US" sz="2400" dirty="0"/>
              <a:t>example, the </a:t>
            </a:r>
            <a:r>
              <a:rPr lang="en-US" sz="2400" dirty="0" smtClean="0"/>
              <a:t>voltage level </a:t>
            </a:r>
            <a:r>
              <a:rPr lang="en-US" sz="2400" dirty="0"/>
              <a:t>for 0 can be positive and the voltage level for 1 can be </a:t>
            </a:r>
            <a:r>
              <a:rPr lang="en-US" sz="2400" dirty="0" smtClean="0"/>
              <a:t>negative</a:t>
            </a:r>
            <a:endParaRPr lang="en-US" sz="2400" dirty="0" smtClean="0"/>
          </a:p>
          <a:p>
            <a:r>
              <a:rPr lang="en-US" sz="2400" dirty="0"/>
              <a:t>In </a:t>
            </a:r>
            <a:r>
              <a:rPr lang="en-US" sz="2400" b="1" dirty="0"/>
              <a:t>polar NRZ </a:t>
            </a:r>
            <a:r>
              <a:rPr lang="en-US" sz="2400" dirty="0"/>
              <a:t>encoding, we use two levels of voltage amplitude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r>
              <a:rPr lang="en-US" sz="2400" dirty="0" smtClean="0"/>
              <a:t> </a:t>
            </a:r>
            <a:r>
              <a:rPr lang="en-US" sz="2400" dirty="0"/>
              <a:t>We can have </a:t>
            </a:r>
            <a:r>
              <a:rPr lang="en-US" sz="2400" dirty="0">
                <a:solidFill>
                  <a:srgbClr val="FF0000"/>
                </a:solidFill>
              </a:rPr>
              <a:t>two </a:t>
            </a:r>
            <a:r>
              <a:rPr lang="en-US" sz="2400" dirty="0" smtClean="0">
                <a:solidFill>
                  <a:srgbClr val="FF0000"/>
                </a:solidFill>
              </a:rPr>
              <a:t>versions of </a:t>
            </a:r>
            <a:r>
              <a:rPr lang="en-US" sz="2400" dirty="0">
                <a:solidFill>
                  <a:srgbClr val="FF0000"/>
                </a:solidFill>
              </a:rPr>
              <a:t>polar NRZ</a:t>
            </a:r>
            <a:r>
              <a:rPr lang="en-US" sz="2400" dirty="0"/>
              <a:t>: </a:t>
            </a:r>
            <a:endParaRPr lang="en-US" sz="24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 smtClean="0"/>
              <a:t>NRZ-L (NRZ-Level) </a:t>
            </a:r>
            <a:r>
              <a:rPr lang="en-US" sz="2400" dirty="0"/>
              <a:t>and </a:t>
            </a:r>
            <a:endParaRPr lang="en-US" sz="24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 smtClean="0"/>
              <a:t>NRZ-I (NRZ-Invert),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r="39754"/>
          <a:stretch>
            <a:fillRect/>
          </a:stretch>
        </p:blipFill>
        <p:spPr>
          <a:xfrm>
            <a:off x="1143000" y="457200"/>
            <a:ext cx="6172200" cy="40727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66800" y="4779620"/>
            <a:ext cx="7696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NRZ-I (</a:t>
            </a:r>
            <a:r>
              <a:rPr lang="en-US" sz="2400" b="1" dirty="0"/>
              <a:t>NRZ-Invert</a:t>
            </a:r>
            <a:r>
              <a:rPr lang="en-US" sz="2400" dirty="0"/>
              <a:t>), the change or lack of change in the level of the </a:t>
            </a:r>
            <a:r>
              <a:rPr lang="en-US" sz="2400" dirty="0" smtClean="0"/>
              <a:t>voltage determines </a:t>
            </a:r>
            <a:r>
              <a:rPr lang="en-US" sz="2400" dirty="0"/>
              <a:t>the value of the bit.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If </a:t>
            </a:r>
            <a:r>
              <a:rPr lang="en-US" sz="2400" dirty="0">
                <a:solidFill>
                  <a:srgbClr val="FF0000"/>
                </a:solidFill>
              </a:rPr>
              <a:t>there is no change, the bit is 0; if there is a change, </a:t>
            </a:r>
            <a:r>
              <a:rPr lang="en-US" sz="2400" dirty="0" smtClean="0">
                <a:solidFill>
                  <a:srgbClr val="FF0000"/>
                </a:solidFill>
              </a:rPr>
              <a:t>the bit </a:t>
            </a:r>
            <a:r>
              <a:rPr lang="en-US" sz="2400" dirty="0">
                <a:solidFill>
                  <a:srgbClr val="FF0000"/>
                </a:solidFill>
              </a:rPr>
              <a:t>is 1.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190750" y="2063750"/>
            <a:ext cx="533400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674251" y="2540000"/>
            <a:ext cx="595098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00400" y="2070100"/>
            <a:ext cx="595098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738777" y="2070100"/>
            <a:ext cx="595098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129052" y="3039533"/>
            <a:ext cx="595098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16200000">
            <a:off x="2462583" y="3276601"/>
            <a:ext cx="457200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674251" y="3505204"/>
            <a:ext cx="595098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269349" y="3484033"/>
            <a:ext cx="595098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97503" y="3488269"/>
            <a:ext cx="595098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6200000">
            <a:off x="4064001" y="3276603"/>
            <a:ext cx="457200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478616"/>
            <a:ext cx="8534400" cy="4068763"/>
          </a:xfrm>
        </p:spPr>
        <p:txBody>
          <a:bodyPr>
            <a:noAutofit/>
          </a:bodyPr>
          <a:lstStyle/>
          <a:p>
            <a:r>
              <a:rPr lang="en-US" sz="2800" dirty="0"/>
              <a:t>Return-to-Zero (RZ</a:t>
            </a:r>
            <a:r>
              <a:rPr lang="en-US" sz="2800" dirty="0" smtClean="0"/>
              <a:t>)</a:t>
            </a:r>
            <a:endParaRPr lang="en-US" sz="2800" dirty="0" smtClean="0"/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main problem with NRZ </a:t>
            </a:r>
            <a:r>
              <a:rPr lang="en-US" dirty="0"/>
              <a:t>encoding occurs when the </a:t>
            </a:r>
            <a:r>
              <a:rPr lang="en-US" dirty="0">
                <a:solidFill>
                  <a:srgbClr val="FF0000"/>
                </a:solidFill>
              </a:rPr>
              <a:t>sender and receiver </a:t>
            </a:r>
            <a:r>
              <a:rPr lang="en-US" dirty="0"/>
              <a:t>clocks </a:t>
            </a:r>
            <a:r>
              <a:rPr lang="en-US" dirty="0" smtClean="0"/>
              <a:t>are </a:t>
            </a:r>
            <a:r>
              <a:rPr lang="en-US" dirty="0" smtClean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not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synchronized</a:t>
            </a:r>
            <a:endParaRPr lang="en-US" dirty="0" smtClean="0">
              <a:solidFill>
                <a:srgbClr val="FF0000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  <a:p>
            <a:pPr lvl="1"/>
            <a:r>
              <a:rPr lang="en-US" dirty="0" smtClean="0"/>
              <a:t>One </a:t>
            </a:r>
            <a:r>
              <a:rPr lang="en-US" dirty="0"/>
              <a:t>solution is the </a:t>
            </a:r>
            <a:r>
              <a:rPr lang="en-US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return-to-zero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RZ</a:t>
            </a:r>
            <a:r>
              <a:rPr lang="en-US" dirty="0"/>
              <a:t>) scheme, which uses </a:t>
            </a:r>
            <a:r>
              <a:rPr lang="en-US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three</a:t>
            </a:r>
            <a:r>
              <a:rPr lang="en-US" dirty="0" smtClean="0"/>
              <a:t> </a:t>
            </a:r>
            <a:r>
              <a:rPr lang="en-US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values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positive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negative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zero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2400"/>
            <a:ext cx="6390400" cy="198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28729" y="274638"/>
            <a:ext cx="4686541" cy="203845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73608" y="2667000"/>
            <a:ext cx="8001000" cy="3305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sz="2400" dirty="0">
                <a:solidFill>
                  <a:prstClr val="black"/>
                </a:solidFill>
              </a:rPr>
              <a:t>In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RZ</a:t>
            </a:r>
            <a:r>
              <a:rPr lang="en-US" sz="2400" dirty="0">
                <a:solidFill>
                  <a:prstClr val="black"/>
                </a:solidFill>
              </a:rPr>
              <a:t>, the signal changes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not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between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bits</a:t>
            </a:r>
            <a:r>
              <a:rPr lang="en-US" sz="2400" dirty="0">
                <a:solidFill>
                  <a:prstClr val="black"/>
                </a:solidFill>
              </a:rPr>
              <a:t> but during the bit.</a:t>
            </a:r>
            <a:endParaRPr lang="en-US" sz="2400" dirty="0">
              <a:solidFill>
                <a:prstClr val="black"/>
              </a:solidFill>
            </a:endParaRPr>
          </a:p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sz="2400" dirty="0">
                <a:solidFill>
                  <a:prstClr val="black"/>
                </a:solidFill>
              </a:rPr>
              <a:t>the signal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goes to 0</a:t>
            </a:r>
            <a:r>
              <a:rPr lang="en-US" sz="2400" b="1" dirty="0">
                <a:solidFill>
                  <a:srgbClr val="FF0000"/>
                </a:solidFill>
              </a:rPr>
              <a:t> in the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middle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of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each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bit</a:t>
            </a:r>
            <a:r>
              <a:rPr lang="en-US" sz="2400" dirty="0">
                <a:solidFill>
                  <a:prstClr val="black"/>
                </a:solidFill>
              </a:rPr>
              <a:t>. </a:t>
            </a:r>
            <a:endParaRPr lang="en-US" sz="2400" dirty="0">
              <a:solidFill>
                <a:prstClr val="black"/>
              </a:solidFill>
            </a:endParaRPr>
          </a:p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sz="2400" dirty="0">
                <a:solidFill>
                  <a:prstClr val="black"/>
                </a:solidFill>
              </a:rPr>
              <a:t>It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remains</a:t>
            </a:r>
            <a:r>
              <a:rPr lang="en-US" sz="2400" dirty="0">
                <a:solidFill>
                  <a:prstClr val="black"/>
                </a:solidFill>
              </a:rPr>
              <a:t> there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until</a:t>
            </a:r>
            <a:r>
              <a:rPr lang="en-US" sz="2400" b="1" dirty="0">
                <a:solidFill>
                  <a:srgbClr val="FF0000"/>
                </a:solidFill>
              </a:rPr>
              <a:t> the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beginning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prstClr val="black"/>
                </a:solidFill>
              </a:rPr>
              <a:t>of the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next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bit</a:t>
            </a:r>
            <a:r>
              <a:rPr lang="en-US" sz="2400" dirty="0">
                <a:solidFill>
                  <a:prstClr val="black"/>
                </a:solidFill>
              </a:rPr>
              <a:t>. </a:t>
            </a:r>
            <a:endParaRPr lang="en-US" sz="2400" dirty="0">
              <a:solidFill>
                <a:prstClr val="black"/>
              </a:solidFill>
            </a:endParaRPr>
          </a:p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sz="2400" dirty="0">
                <a:solidFill>
                  <a:prstClr val="black"/>
                </a:solidFill>
              </a:rPr>
              <a:t>The main disadvantage of RZ encoding is that: it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requires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two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signal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changes</a:t>
            </a:r>
            <a:r>
              <a:rPr lang="en-US" sz="2400" dirty="0">
                <a:solidFill>
                  <a:prstClr val="black"/>
                </a:solidFill>
              </a:rPr>
              <a:t> to encode a bit and therefore occupies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greater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bandwidth</a:t>
            </a:r>
            <a:r>
              <a:rPr lang="en-US" sz="2400" dirty="0">
                <a:solidFill>
                  <a:prstClr val="black"/>
                </a:solidFill>
              </a:rPr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cap="small" dirty="0" err="1"/>
              <a:t>Biphase</a:t>
            </a:r>
            <a:r>
              <a:rPr lang="en-US" sz="3200" cap="small" dirty="0"/>
              <a:t>: Manchester and Differential Manchester</a:t>
            </a:r>
            <a:endParaRPr lang="en-US" sz="3200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b="45726"/>
          <a:stretch>
            <a:fillRect/>
          </a:stretch>
        </p:blipFill>
        <p:spPr>
          <a:xfrm>
            <a:off x="381000" y="1371600"/>
            <a:ext cx="4419600" cy="1981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876800" y="1417638"/>
            <a:ext cx="41910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The idea of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RZ</a:t>
            </a:r>
            <a:r>
              <a:rPr lang="en-US" sz="2400" dirty="0"/>
              <a:t> (</a:t>
            </a:r>
            <a:r>
              <a:rPr lang="en-US" sz="2400" dirty="0" smtClean="0"/>
              <a:t>transition </a:t>
            </a:r>
            <a:r>
              <a:rPr lang="en-US" sz="2400" dirty="0"/>
              <a:t>at the middle of the bit) and the idea of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NRZ-L</a:t>
            </a:r>
            <a:r>
              <a:rPr lang="en-US" sz="2400" dirty="0"/>
              <a:t> are </a:t>
            </a:r>
            <a:r>
              <a:rPr lang="en-US" sz="2400" dirty="0" smtClean="0"/>
              <a:t>combined into </a:t>
            </a:r>
            <a:r>
              <a:rPr lang="en-US" sz="2400" dirty="0"/>
              <a:t>the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Manchester</a:t>
            </a:r>
            <a:r>
              <a:rPr lang="en-US" sz="2400" b="1" dirty="0"/>
              <a:t> </a:t>
            </a:r>
            <a:r>
              <a:rPr lang="en-US" sz="2400" dirty="0"/>
              <a:t>scheme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 smtClean="0"/>
          </a:p>
        </p:txBody>
      </p:sp>
      <p:sp>
        <p:nvSpPr>
          <p:cNvPr id="3" name="Rectangle 2"/>
          <p:cNvSpPr/>
          <p:nvPr/>
        </p:nvSpPr>
        <p:spPr>
          <a:xfrm>
            <a:off x="685800" y="3618637"/>
            <a:ext cx="80010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Manchester encoding, the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duration</a:t>
            </a:r>
            <a:r>
              <a:rPr lang="en-US" sz="2400" dirty="0"/>
              <a:t> of the bit is </a:t>
            </a:r>
            <a:r>
              <a:rPr lang="en-US" sz="2400" dirty="0" smtClean="0"/>
              <a:t>divided into </a:t>
            </a:r>
            <a:r>
              <a:rPr lang="en-US" sz="2800" dirty="0" smtClean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two</a:t>
            </a:r>
            <a:r>
              <a:rPr lang="en-US" sz="2400" b="1" u="sng" dirty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levels</a:t>
            </a:r>
            <a:r>
              <a:rPr lang="en-US" sz="2400" dirty="0"/>
              <a:t>.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voltage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remains at one level during </a:t>
            </a:r>
            <a:r>
              <a:rPr lang="en-US" sz="2400" dirty="0"/>
              <a:t>the first half and moves to </a:t>
            </a:r>
            <a:r>
              <a:rPr lang="en-US" sz="2400" dirty="0" smtClean="0"/>
              <a:t>the other </a:t>
            </a:r>
            <a:r>
              <a:rPr lang="en-US" sz="2400" dirty="0"/>
              <a:t>level in the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second</a:t>
            </a:r>
            <a:r>
              <a:rPr lang="en-US" sz="2400" dirty="0"/>
              <a:t>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half</a:t>
            </a:r>
            <a:r>
              <a:rPr lang="en-US" sz="2400" dirty="0"/>
              <a:t>.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transition</a:t>
            </a:r>
            <a:r>
              <a:rPr lang="en-US" sz="2400" dirty="0"/>
              <a:t> at the </a:t>
            </a:r>
            <a:r>
              <a:rPr lang="en-US" sz="28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middle</a:t>
            </a:r>
            <a:r>
              <a:rPr lang="en-US" sz="2400" dirty="0"/>
              <a:t> of the bit provides synchronization</a:t>
            </a:r>
            <a:endParaRPr lang="en-US" sz="2400" dirty="0"/>
          </a:p>
        </p:txBody>
      </p:sp>
      <p:cxnSp>
        <p:nvCxnSpPr>
          <p:cNvPr id="14" name="Elbow Connector 13"/>
          <p:cNvCxnSpPr/>
          <p:nvPr/>
        </p:nvCxnSpPr>
        <p:spPr>
          <a:xfrm>
            <a:off x="1193802" y="2664133"/>
            <a:ext cx="571503" cy="545328"/>
          </a:xfrm>
          <a:prstGeom prst="bentConnector3">
            <a:avLst>
              <a:gd name="adj1" fmla="val 50001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/>
          <p:nvPr/>
        </p:nvCxnSpPr>
        <p:spPr>
          <a:xfrm flipV="1">
            <a:off x="1663701" y="2655667"/>
            <a:ext cx="571503" cy="545328"/>
          </a:xfrm>
          <a:prstGeom prst="bentConnector3">
            <a:avLst>
              <a:gd name="adj1" fmla="val 50001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/>
          <p:nvPr/>
        </p:nvCxnSpPr>
        <p:spPr>
          <a:xfrm>
            <a:off x="2161115" y="2664133"/>
            <a:ext cx="571503" cy="545328"/>
          </a:xfrm>
          <a:prstGeom prst="bentConnector3">
            <a:avLst>
              <a:gd name="adj1" fmla="val 50001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/>
          <p:nvPr/>
        </p:nvCxnSpPr>
        <p:spPr>
          <a:xfrm>
            <a:off x="2647948" y="2655667"/>
            <a:ext cx="571503" cy="545328"/>
          </a:xfrm>
          <a:prstGeom prst="bentConnector3">
            <a:avLst>
              <a:gd name="adj1" fmla="val 50001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cap="small" dirty="0" err="1"/>
              <a:t>Biphase</a:t>
            </a:r>
            <a:r>
              <a:rPr lang="en-US" sz="3200" cap="small" dirty="0"/>
              <a:t>: Manchester and Differential Manchester</a:t>
            </a:r>
            <a:endParaRPr lang="en-US" sz="3200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t="56361"/>
          <a:stretch>
            <a:fillRect/>
          </a:stretch>
        </p:blipFill>
        <p:spPr>
          <a:xfrm>
            <a:off x="423672" y="1524000"/>
            <a:ext cx="4419600" cy="159298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19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876800" y="1417638"/>
            <a:ext cx="4191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Differential</a:t>
            </a:r>
            <a:r>
              <a:rPr lang="en-US" sz="2400" b="1" dirty="0" smtClean="0"/>
              <a:t>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Manchester</a:t>
            </a:r>
            <a:r>
              <a:rPr lang="en-US" sz="2400" dirty="0"/>
              <a:t>, on the other hand, combines the ideas of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RZ</a:t>
            </a:r>
            <a:r>
              <a:rPr lang="en-US" sz="2400" dirty="0"/>
              <a:t> </a:t>
            </a:r>
            <a:r>
              <a:rPr lang="en-US" sz="2400" dirty="0" smtClean="0"/>
              <a:t>and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NRZ-I</a:t>
            </a:r>
            <a:r>
              <a:rPr lang="en-US" sz="2400" dirty="0"/>
              <a:t>. There is always a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transition</a:t>
            </a:r>
            <a:r>
              <a:rPr lang="en-US" sz="2400" dirty="0"/>
              <a:t> at the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middle</a:t>
            </a:r>
            <a:r>
              <a:rPr lang="en-US" sz="2400" dirty="0"/>
              <a:t> of the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bit</a:t>
            </a:r>
            <a:r>
              <a:rPr lang="en-US" sz="2400" dirty="0"/>
              <a:t>, but the bit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values</a:t>
            </a:r>
            <a:r>
              <a:rPr lang="en-US" sz="2400" dirty="0"/>
              <a:t> are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determined</a:t>
            </a:r>
            <a:r>
              <a:rPr lang="en-US" sz="2400" dirty="0" smtClean="0"/>
              <a:t> at </a:t>
            </a: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beginning</a:t>
            </a:r>
            <a:r>
              <a:rPr lang="en-US" sz="2400" dirty="0"/>
              <a:t> of the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bit</a:t>
            </a:r>
            <a:r>
              <a:rPr lang="en-US" sz="2400" dirty="0"/>
              <a:t>.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838200" y="4238038"/>
            <a:ext cx="7848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is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always</a:t>
            </a:r>
            <a:r>
              <a:rPr lang="en-US" sz="2400" dirty="0"/>
              <a:t> a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transition</a:t>
            </a:r>
            <a:r>
              <a:rPr lang="en-US" sz="2400" dirty="0"/>
              <a:t> at the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middle</a:t>
            </a:r>
            <a:r>
              <a:rPr lang="en-US" sz="2400" dirty="0"/>
              <a:t> of the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bit</a:t>
            </a:r>
            <a:r>
              <a:rPr lang="en-US" sz="2400" dirty="0"/>
              <a:t>, but the bit values are </a:t>
            </a:r>
            <a:r>
              <a:rPr lang="en-US" sz="2400" dirty="0" smtClean="0"/>
              <a:t>determined at </a:t>
            </a: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beginning</a:t>
            </a:r>
            <a:r>
              <a:rPr lang="en-US" sz="2400" dirty="0"/>
              <a:t> of the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bit</a:t>
            </a:r>
            <a:r>
              <a:rPr lang="en-US" sz="2400" dirty="0"/>
              <a:t>.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If </a:t>
            </a: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next</a:t>
            </a:r>
            <a:r>
              <a:rPr lang="en-US" sz="2400" dirty="0"/>
              <a:t> bit is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0</a:t>
            </a:r>
            <a:r>
              <a:rPr lang="en-US" sz="2400" dirty="0"/>
              <a:t>, there is a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transition</a:t>
            </a:r>
            <a:r>
              <a:rPr lang="en-US" sz="2400" dirty="0"/>
              <a:t>;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if </a:t>
            </a: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next</a:t>
            </a:r>
            <a:r>
              <a:rPr lang="en-US" sz="2400" dirty="0"/>
              <a:t> </a:t>
            </a:r>
            <a:r>
              <a:rPr lang="en-US" sz="2400" dirty="0" smtClean="0"/>
              <a:t>bit is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1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there</a:t>
            </a:r>
            <a:r>
              <a:rPr lang="en-US" sz="2400" dirty="0"/>
              <a:t> is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none</a:t>
            </a:r>
            <a:r>
              <a:rPr lang="en-US" sz="2400" dirty="0"/>
              <a:t>.</a:t>
            </a:r>
            <a:endParaRPr lang="en-US" sz="2400" dirty="0"/>
          </a:p>
        </p:txBody>
      </p:sp>
      <p:pic>
        <p:nvPicPr>
          <p:cNvPr id="7" name="Content Placeholder 4"/>
          <p:cNvPicPr>
            <a:picLocks noChangeAspect="1"/>
          </p:cNvPicPr>
          <p:nvPr/>
        </p:nvPicPr>
        <p:blipFill rotWithShape="1">
          <a:blip r:embed="rId1"/>
          <a:srcRect t="18787" b="68688"/>
          <a:stretch>
            <a:fillRect/>
          </a:stretch>
        </p:blipFill>
        <p:spPr>
          <a:xfrm>
            <a:off x="423672" y="1390206"/>
            <a:ext cx="4419600" cy="457200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1524000" y="2514600"/>
            <a:ext cx="2410119" cy="762000"/>
            <a:chOff x="1524000" y="2514600"/>
            <a:chExt cx="2410119" cy="762000"/>
          </a:xfrm>
        </p:grpSpPr>
        <p:cxnSp>
          <p:nvCxnSpPr>
            <p:cNvPr id="9" name="Straight Arrow Connector 8"/>
            <p:cNvCxnSpPr/>
            <p:nvPr/>
          </p:nvCxnSpPr>
          <p:spPr>
            <a:xfrm flipV="1">
              <a:off x="1524000" y="2514600"/>
              <a:ext cx="0" cy="7620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V="1">
              <a:off x="2970072" y="2514600"/>
              <a:ext cx="0" cy="7620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2006024" y="2514600"/>
              <a:ext cx="0" cy="7620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V="1">
              <a:off x="3452096" y="2514600"/>
              <a:ext cx="0" cy="7620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V="1">
              <a:off x="2488048" y="2514600"/>
              <a:ext cx="0" cy="7620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V="1">
              <a:off x="3934119" y="2514600"/>
              <a:ext cx="0" cy="7620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 flipV="1">
            <a:off x="1754329" y="549107"/>
            <a:ext cx="964048" cy="1823327"/>
            <a:chOff x="1524000" y="1997219"/>
            <a:chExt cx="964048" cy="1796759"/>
          </a:xfrm>
        </p:grpSpPr>
        <p:cxnSp>
          <p:nvCxnSpPr>
            <p:cNvPr id="17" name="Straight Arrow Connector 16"/>
            <p:cNvCxnSpPr/>
            <p:nvPr/>
          </p:nvCxnSpPr>
          <p:spPr>
            <a:xfrm flipV="1">
              <a:off x="1524000" y="2514600"/>
              <a:ext cx="0" cy="762000"/>
            </a:xfrm>
            <a:prstGeom prst="straightConnector1">
              <a:avLst/>
            </a:prstGeom>
            <a:ln w="7620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V="1">
              <a:off x="2006024" y="1997223"/>
              <a:ext cx="0" cy="1796755"/>
            </a:xfrm>
            <a:prstGeom prst="straightConnector1">
              <a:avLst/>
            </a:prstGeom>
            <a:ln w="7620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2488048" y="1997219"/>
              <a:ext cx="0" cy="1796755"/>
            </a:xfrm>
            <a:prstGeom prst="straightConnector1">
              <a:avLst/>
            </a:prstGeom>
            <a:ln w="7620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4540</Words>
  <Application>WPS Presentation</Application>
  <PresentationFormat>On-screen Show (4:3)</PresentationFormat>
  <Paragraphs>156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Digital Transmission</vt:lpstr>
      <vt:lpstr>Digital-to-digital Conversion</vt:lpstr>
      <vt:lpstr>Line Coding</vt:lpstr>
      <vt:lpstr>Line Coding</vt:lpstr>
      <vt:lpstr>Signal Element &amp; Data Element</vt:lpstr>
      <vt:lpstr>PowerPoint 演示文稿</vt:lpstr>
      <vt:lpstr>Data Rate Versus Signal Rate</vt:lpstr>
      <vt:lpstr>PowerPoint 演示文稿</vt:lpstr>
      <vt:lpstr>PowerPoint 演示文稿</vt:lpstr>
      <vt:lpstr>Self-synchronization</vt:lpstr>
      <vt:lpstr>Line Coding Schemes</vt:lpstr>
      <vt:lpstr>Unipolar NRZ</vt:lpstr>
      <vt:lpstr>Polar Scheme</vt:lpstr>
      <vt:lpstr>PowerPoint 演示文稿</vt:lpstr>
      <vt:lpstr>PowerPoint 演示文稿</vt:lpstr>
      <vt:lpstr>PowerPoint 演示文稿</vt:lpstr>
      <vt:lpstr>Biphase: Manchester and Differential Manchester</vt:lpstr>
      <vt:lpstr>Biphase: Manchester and Differential Manchester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all k-nearest neighbor queries in Hadoop</dc:title>
  <dc:creator>Administrator</dc:creator>
  <cp:lastModifiedBy>Lenovo</cp:lastModifiedBy>
  <cp:revision>909</cp:revision>
  <cp:lastPrinted>2017-11-05T03:12:00Z</cp:lastPrinted>
  <dcterms:created xsi:type="dcterms:W3CDTF">2006-08-16T00:00:00Z</dcterms:created>
  <dcterms:modified xsi:type="dcterms:W3CDTF">2025-07-20T15:39:42Z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02C99270972A4226B51118BE4CA0741D_12</vt:lpwstr>
  </property>
  <property fmtid="{D5CDD505-2E9C-101B-9397-08002B2CF9AE}" pid="3" name="KSOProductBuildVer">
    <vt:lpwstr>1033-12.2.0.21931</vt:lpwstr>
  </property>
</Properties>
</file>