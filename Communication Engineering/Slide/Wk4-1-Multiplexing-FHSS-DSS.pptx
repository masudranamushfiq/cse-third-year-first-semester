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83" autoAdjust="0"/>
    <p:restoredTop sz="61265" autoAdjust="0"/>
  </p:normalViewPr>
  <p:slideViewPr>
    <p:cSldViewPr>
      <p:cViewPr varScale="1">
        <p:scale>
          <a:sx n="102" d="100"/>
          <a:sy n="102" d="100"/>
        </p:scale>
        <p:origin x="279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23-Jun-25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23-Jun-25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23-Jun-25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Hopping </a:t>
            </a:r>
            <a:r>
              <a:rPr lang="en-US" dirty="0" smtClean="0">
                <a:sym typeface="Wingdings" panose="05000000000000000000" pitchFamily="2" charset="2"/>
              </a:rPr>
              <a:t> Jumping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B5FCE6-2331-4AF4-8362-9D091070A463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3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23-Jun-25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23-Jun-25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410" y="304800"/>
            <a:ext cx="3327901" cy="2438400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52400"/>
            <a:ext cx="3711388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3257507"/>
            <a:ext cx="3684382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996" y="3352800"/>
            <a:ext cx="367673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9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Multiplexing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00150"/>
            <a:ext cx="8229600" cy="13716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Multiplexing</a:t>
            </a:r>
            <a:r>
              <a:rPr lang="en-US" sz="2400" dirty="0"/>
              <a:t> is the set of </a:t>
            </a:r>
            <a:r>
              <a:rPr lang="en-US" sz="2400" dirty="0" smtClean="0"/>
              <a:t>techniques that </a:t>
            </a:r>
            <a:r>
              <a:rPr lang="en-US" sz="2400" dirty="0"/>
              <a:t>allow the simultaneous transmission of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 signals across a single data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link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1703" y="2285646"/>
            <a:ext cx="7217794" cy="1772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" y="4058438"/>
            <a:ext cx="853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a multiplexed system,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lines share the bandwidth of one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link</a:t>
            </a:r>
            <a:r>
              <a:rPr lang="en-US" sz="24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word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link</a:t>
            </a:r>
            <a:r>
              <a:rPr lang="en-US" sz="2400" b="1" dirty="0"/>
              <a:t> </a:t>
            </a:r>
            <a:r>
              <a:rPr lang="en-US" sz="2400" dirty="0"/>
              <a:t>refers to </a:t>
            </a:r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physical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path</a:t>
            </a:r>
            <a:r>
              <a:rPr lang="en-US" sz="2400" dirty="0"/>
              <a:t>.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word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channel</a:t>
            </a:r>
            <a:r>
              <a:rPr lang="en-US" sz="2400" b="1" dirty="0"/>
              <a:t> </a:t>
            </a:r>
            <a:r>
              <a:rPr lang="en-US" sz="2400" dirty="0"/>
              <a:t>refers to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portion of a link </a:t>
            </a:r>
            <a:r>
              <a:rPr lang="en-US" sz="2400" dirty="0"/>
              <a:t>that carries a </a:t>
            </a:r>
            <a:r>
              <a:rPr lang="en-US" sz="2400" dirty="0" smtClean="0"/>
              <a:t>transmission between </a:t>
            </a:r>
            <a:r>
              <a:rPr lang="en-US" sz="2400" dirty="0"/>
              <a:t>a given pair of lines.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One </a:t>
            </a:r>
            <a:r>
              <a:rPr lang="en-US" sz="2400" dirty="0"/>
              <a:t>link can have many (</a:t>
            </a:r>
            <a:r>
              <a:rPr lang="en-US" sz="2400" i="1" dirty="0"/>
              <a:t>n</a:t>
            </a:r>
            <a:r>
              <a:rPr lang="en-US" sz="2400" dirty="0"/>
              <a:t>) channels</a:t>
            </a:r>
          </a:p>
        </p:txBody>
      </p:sp>
    </p:spTree>
    <p:extLst>
      <p:ext uri="{BB962C8B-B14F-4D97-AF65-F5344CB8AC3E}">
        <p14:creationId xmlns:p14="http://schemas.microsoft.com/office/powerpoint/2010/main" val="254584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340" y="457200"/>
            <a:ext cx="6423660" cy="1752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743200"/>
            <a:ext cx="822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Frequency-Division </a:t>
            </a:r>
            <a:r>
              <a:rPr lang="en-US" sz="2400" b="1" dirty="0" smtClean="0"/>
              <a:t>Multiplexing: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FDM</a:t>
            </a:r>
            <a:r>
              <a:rPr lang="en-US" sz="2400" b="1" dirty="0" smtClean="0"/>
              <a:t> </a:t>
            </a:r>
            <a:r>
              <a:rPr lang="en-US" sz="2400" dirty="0"/>
              <a:t>is an analog technique that can be </a:t>
            </a:r>
            <a:r>
              <a:rPr lang="en-US" sz="2400" dirty="0" smtClean="0"/>
              <a:t>applied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when</a:t>
            </a:r>
            <a:r>
              <a:rPr lang="en-US" sz="2400" dirty="0" smtClean="0"/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bandwidth</a:t>
            </a:r>
            <a:r>
              <a:rPr lang="en-US" sz="2400" dirty="0"/>
              <a:t> of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link</a:t>
            </a:r>
            <a:r>
              <a:rPr lang="en-US" sz="2400" dirty="0"/>
              <a:t> (in hertz) is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greater</a:t>
            </a:r>
            <a:r>
              <a:rPr lang="en-US" sz="2400" dirty="0"/>
              <a:t> than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combined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bandwidths</a:t>
            </a:r>
            <a:r>
              <a:rPr lang="en-US" sz="2400" dirty="0"/>
              <a:t> </a:t>
            </a:r>
            <a:r>
              <a:rPr lang="en-US" sz="2400" dirty="0" smtClean="0"/>
              <a:t>of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signals</a:t>
            </a:r>
            <a:r>
              <a:rPr lang="en-US" sz="2400" dirty="0"/>
              <a:t> to be </a:t>
            </a:r>
            <a:r>
              <a:rPr lang="en-US" sz="2400" dirty="0" smtClean="0"/>
              <a:t>transmitted.</a:t>
            </a:r>
            <a:endParaRPr lang="en-US" sz="6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829" y="4461764"/>
            <a:ext cx="6171141" cy="174568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1524000" y="1371600"/>
            <a:ext cx="2133600" cy="609600"/>
          </a:xfrm>
          <a:prstGeom prst="ellipse">
            <a:avLst/>
          </a:prstGeom>
          <a:solidFill>
            <a:srgbClr val="FFC000">
              <a:alpha val="2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609600"/>
            <a:ext cx="6686411" cy="304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3962400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Each source </a:t>
            </a:r>
            <a:r>
              <a:rPr lang="en-US" sz="2400" dirty="0" smtClean="0">
                <a:latin typeface="+mj-lt"/>
              </a:rPr>
              <a:t>generates a </a:t>
            </a:r>
            <a:r>
              <a:rPr lang="en-US" sz="2400" dirty="0">
                <a:latin typeface="+mj-lt"/>
              </a:rPr>
              <a:t>signal of a similar frequency range.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Inside </a:t>
            </a:r>
            <a:r>
              <a:rPr lang="en-US" sz="2400" dirty="0">
                <a:latin typeface="+mj-lt"/>
              </a:rPr>
              <a:t>the multiplexer, these similar </a:t>
            </a:r>
            <a:r>
              <a:rPr lang="en-US" sz="2400" dirty="0" smtClean="0">
                <a:latin typeface="+mj-lt"/>
              </a:rPr>
              <a:t>signals modulate </a:t>
            </a:r>
            <a:r>
              <a:rPr lang="en-US" sz="2400" dirty="0">
                <a:latin typeface="+mj-lt"/>
              </a:rPr>
              <a:t>different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carrier frequencies (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1,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2, and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3)</a:t>
            </a:r>
            <a:r>
              <a:rPr lang="en-US" sz="2400" dirty="0">
                <a:latin typeface="+mj-lt"/>
              </a:rPr>
              <a:t>.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The </a:t>
            </a:r>
            <a:r>
              <a:rPr lang="en-US" sz="2400" dirty="0">
                <a:latin typeface="+mj-lt"/>
              </a:rPr>
              <a:t>resulting modulated </a:t>
            </a:r>
            <a:r>
              <a:rPr lang="en-US" sz="2400" dirty="0" smtClean="0">
                <a:latin typeface="+mj-lt"/>
              </a:rPr>
              <a:t>signals are </a:t>
            </a:r>
            <a:r>
              <a:rPr lang="en-US" sz="2400" dirty="0">
                <a:latin typeface="+mj-lt"/>
              </a:rPr>
              <a:t>then combined into a single composite signal that is sent out over a media link </a:t>
            </a:r>
            <a:r>
              <a:rPr lang="en-US" sz="2400" dirty="0" smtClean="0">
                <a:latin typeface="+mj-lt"/>
              </a:rPr>
              <a:t>that has </a:t>
            </a:r>
            <a:r>
              <a:rPr lang="en-US" sz="2400" dirty="0">
                <a:latin typeface="+mj-lt"/>
              </a:rPr>
              <a:t>enough bandwidth to accommodate </a:t>
            </a:r>
            <a:r>
              <a:rPr lang="en-US" sz="2400" dirty="0" smtClean="0">
                <a:latin typeface="+mj-lt"/>
              </a:rPr>
              <a:t>it.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044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609600"/>
            <a:ext cx="6096313" cy="30862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4230588"/>
            <a:ext cx="754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 err="1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demultiplexer</a:t>
            </a:r>
            <a:r>
              <a:rPr lang="en-US" sz="2400" dirty="0"/>
              <a:t> uses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series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filters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decompose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multiplexed</a:t>
            </a:r>
            <a:r>
              <a:rPr lang="en-US" sz="2400" dirty="0"/>
              <a:t> signal into </a:t>
            </a:r>
            <a:r>
              <a:rPr lang="en-US" sz="2400" dirty="0" smtClean="0"/>
              <a:t>its constituent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component</a:t>
            </a:r>
            <a:r>
              <a:rPr lang="en-US" sz="2400" dirty="0"/>
              <a:t> signals. 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individual</a:t>
            </a:r>
            <a:r>
              <a:rPr lang="en-US" sz="2400" dirty="0"/>
              <a:t> signals are then passed to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demodulator</a:t>
            </a:r>
            <a:r>
              <a:rPr lang="en-US" sz="2400" dirty="0" smtClean="0"/>
              <a:t> that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separates</a:t>
            </a:r>
            <a:r>
              <a:rPr lang="en-US" sz="2400" dirty="0"/>
              <a:t> them from their carriers and passes them to the output lines.</a:t>
            </a:r>
          </a:p>
        </p:txBody>
      </p:sp>
    </p:spTree>
    <p:extLst>
      <p:ext uri="{BB962C8B-B14F-4D97-AF65-F5344CB8AC3E}">
        <p14:creationId xmlns:p14="http://schemas.microsoft.com/office/powerpoint/2010/main" val="53560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999" y="381000"/>
            <a:ext cx="7508983" cy="1143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908" y="1988975"/>
            <a:ext cx="6751163" cy="433079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724400" y="533400"/>
            <a:ext cx="1066800" cy="515112"/>
          </a:xfrm>
          <a:prstGeom prst="ellipse">
            <a:avLst/>
          </a:prstGeom>
          <a:solidFill>
            <a:srgbClr val="FFC000">
              <a:alpha val="2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962400" y="856488"/>
            <a:ext cx="762000" cy="457200"/>
          </a:xfrm>
          <a:prstGeom prst="ellipse">
            <a:avLst/>
          </a:prstGeom>
          <a:solidFill>
            <a:srgbClr val="FFC000">
              <a:alpha val="2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2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381000"/>
            <a:ext cx="8025319" cy="1143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981200"/>
            <a:ext cx="5580016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6776" y="2514600"/>
            <a:ext cx="795528" cy="3026664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21736" y="2514600"/>
            <a:ext cx="244276" cy="3026664"/>
          </a:xfrm>
          <a:prstGeom prst="rect">
            <a:avLst/>
          </a:prstGeom>
          <a:solidFill>
            <a:srgbClr val="FF00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0728" y="2514600"/>
            <a:ext cx="795528" cy="3026664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84680" y="2514600"/>
            <a:ext cx="795528" cy="3026664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08632" y="2514600"/>
            <a:ext cx="795528" cy="3026664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32585" y="2514600"/>
            <a:ext cx="795528" cy="3026664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6506" y="685800"/>
            <a:ext cx="3806894" cy="381000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90777" y="1018921"/>
            <a:ext cx="1986223" cy="276479"/>
          </a:xfrm>
          <a:prstGeom prst="rect">
            <a:avLst/>
          </a:prstGeom>
          <a:solidFill>
            <a:srgbClr val="FF00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460417" y="2514600"/>
            <a:ext cx="244276" cy="3026664"/>
          </a:xfrm>
          <a:prstGeom prst="rect">
            <a:avLst/>
          </a:prstGeom>
          <a:solidFill>
            <a:srgbClr val="FF00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489954" y="2514600"/>
            <a:ext cx="244276" cy="3026664"/>
          </a:xfrm>
          <a:prstGeom prst="rect">
            <a:avLst/>
          </a:prstGeom>
          <a:solidFill>
            <a:srgbClr val="FF00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01204" y="2514600"/>
            <a:ext cx="244276" cy="3026664"/>
          </a:xfrm>
          <a:prstGeom prst="rect">
            <a:avLst/>
          </a:prstGeom>
          <a:solidFill>
            <a:srgbClr val="FF00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The Analog Carrier System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28800"/>
            <a:ext cx="6153466" cy="337202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8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small" dirty="0"/>
              <a:t>Wavelength-Division Multiplexing</a:t>
            </a:r>
            <a:endParaRPr lang="en-US" sz="4000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3327512"/>
            <a:ext cx="4496031" cy="21845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305" y="3327512"/>
            <a:ext cx="4756394" cy="236232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0782" y="3819462"/>
            <a:ext cx="1676400" cy="803450"/>
          </a:xfrm>
          <a:prstGeom prst="rect">
            <a:avLst/>
          </a:prstGeom>
          <a:solidFill>
            <a:srgbClr val="FFFF00">
              <a:alpha val="17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40" y="457200"/>
            <a:ext cx="6423660" cy="17526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341370" y="1415739"/>
            <a:ext cx="2133600" cy="609600"/>
          </a:xfrm>
          <a:prstGeom prst="ellipse">
            <a:avLst/>
          </a:prstGeom>
          <a:solidFill>
            <a:srgbClr val="FFC000">
              <a:alpha val="2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0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small" dirty="0"/>
              <a:t>Wavelength-Division Multiplexing</a:t>
            </a:r>
            <a:endParaRPr lang="en-US" sz="4000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525" y="1417638"/>
            <a:ext cx="6076950" cy="1676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657600"/>
            <a:ext cx="5150115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8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Time-Division </a:t>
            </a:r>
            <a:r>
              <a:rPr lang="en-US" b="1" cap="small" dirty="0" smtClean="0"/>
              <a:t>Multiplexing (TDM)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753" y="1417638"/>
            <a:ext cx="5702491" cy="29826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654365"/>
            <a:ext cx="4413477" cy="7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4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Time-Division Multiplexing (TDM)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can divide TDM into two different schemes: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synchronous </a:t>
            </a:r>
            <a:r>
              <a:rPr lang="en-US" sz="2400" dirty="0"/>
              <a:t>and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statistical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49435"/>
            <a:ext cx="6813900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2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381000"/>
            <a:ext cx="6966308" cy="28195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89404"/>
            <a:ext cx="4416620" cy="19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4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Time-Division Multiplexing (TDM)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Frame Synchronizing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233" y="2479626"/>
            <a:ext cx="4559534" cy="18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6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Statistical TDM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437" y="1524000"/>
            <a:ext cx="7433126" cy="372433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99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 Signal Service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219200"/>
            <a:ext cx="4091673" cy="21335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173" y="1222247"/>
            <a:ext cx="4485809" cy="21305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880718"/>
            <a:ext cx="6947257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2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Spread Spectrum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Multiplexing</a:t>
            </a:r>
            <a:r>
              <a:rPr lang="en-US" sz="2400" dirty="0"/>
              <a:t> combines signals from several sources to achieve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bandwidth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efficiency</a:t>
            </a:r>
            <a:r>
              <a:rPr lang="en-US" sz="2400" dirty="0" smtClean="0"/>
              <a:t>; the </a:t>
            </a:r>
            <a:r>
              <a:rPr lang="en-US" sz="2400" dirty="0"/>
              <a:t>available bandwidth of a link is divided between the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4699" t="5594" r="7616"/>
          <a:stretch/>
        </p:blipFill>
        <p:spPr>
          <a:xfrm>
            <a:off x="5105400" y="3332769"/>
            <a:ext cx="3886200" cy="20995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5008" y="3332769"/>
            <a:ext cx="53461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400" dirty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techniques</a:t>
            </a:r>
            <a:r>
              <a:rPr lang="en-US" sz="2400" dirty="0"/>
              <a:t> to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spread</a:t>
            </a:r>
            <a:r>
              <a:rPr lang="en-US" sz="2400" dirty="0"/>
              <a:t> the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bandwidth</a:t>
            </a:r>
            <a:r>
              <a:rPr lang="en-US" sz="2400" dirty="0"/>
              <a:t>: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frequency</a:t>
            </a:r>
            <a:r>
              <a:rPr lang="en-US" sz="2400" dirty="0" smtClean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hopping</a:t>
            </a:r>
            <a:r>
              <a:rPr lang="en-US" sz="2400" dirty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spread</a:t>
            </a:r>
            <a:r>
              <a:rPr lang="en-US" sz="2400" dirty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spectrum</a:t>
            </a:r>
            <a:r>
              <a:rPr lang="en-US" sz="2400" dirty="0" smtClean="0"/>
              <a:t> (FHSS</a:t>
            </a:r>
            <a:r>
              <a:rPr lang="en-US" sz="2400" dirty="0"/>
              <a:t>) and 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direct</a:t>
            </a:r>
            <a:r>
              <a:rPr lang="en-US" sz="2400" dirty="0" smtClean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sequence</a:t>
            </a:r>
            <a:r>
              <a:rPr lang="en-US" sz="2400" dirty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spread</a:t>
            </a:r>
            <a:r>
              <a:rPr lang="en-US" sz="2400" dirty="0"/>
              <a:t> </a:t>
            </a:r>
            <a:r>
              <a:rPr lang="en-US" sz="28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spectrum</a:t>
            </a:r>
            <a:r>
              <a:rPr lang="en-US" sz="2400" dirty="0"/>
              <a:t> (DSSS).</a:t>
            </a:r>
          </a:p>
        </p:txBody>
      </p:sp>
    </p:spTree>
    <p:extLst>
      <p:ext uri="{BB962C8B-B14F-4D97-AF65-F5344CB8AC3E}">
        <p14:creationId xmlns:p14="http://schemas.microsoft.com/office/powerpoint/2010/main" val="154743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7206"/>
            <a:ext cx="4711105" cy="3276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2966" y="1363138"/>
            <a:ext cx="4203834" cy="219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0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" b="-3821"/>
          <a:stretch/>
        </p:blipFill>
        <p:spPr>
          <a:xfrm>
            <a:off x="1860550" y="152400"/>
            <a:ext cx="5359675" cy="396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023015"/>
            <a:ext cx="5315223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1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312" y="246888"/>
            <a:ext cx="6401129" cy="25210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 smtClean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3214999"/>
            <a:ext cx="6883754" cy="273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0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37780</TotalTime>
  <Words>378</Words>
  <Application>Microsoft Office PowerPoint</Application>
  <PresentationFormat>On-screen Show (4:3)</PresentationFormat>
  <Paragraphs>60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Multiplexing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Analog Carrier System</vt:lpstr>
      <vt:lpstr>Wavelength-Division Multiplexing</vt:lpstr>
      <vt:lpstr>Wavelength-Division Multiplexing</vt:lpstr>
      <vt:lpstr>Time-Division Multiplexing (TDM)</vt:lpstr>
      <vt:lpstr>Time-Division Multiplexing (TDM)</vt:lpstr>
      <vt:lpstr>PowerPoint Presentation</vt:lpstr>
      <vt:lpstr>Time-Division Multiplexing (TDM)</vt:lpstr>
      <vt:lpstr>Statistical TDM</vt:lpstr>
      <vt:lpstr>Digital Signal Service</vt:lpstr>
      <vt:lpstr>Spread Spectrum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973</cp:revision>
  <cp:lastPrinted>2017-11-05T03:12:43Z</cp:lastPrinted>
  <dcterms:created xsi:type="dcterms:W3CDTF">2006-08-16T00:00:00Z</dcterms:created>
  <dcterms:modified xsi:type="dcterms:W3CDTF">2025-06-23T04:56:05Z</dcterms:modified>
</cp:coreProperties>
</file>