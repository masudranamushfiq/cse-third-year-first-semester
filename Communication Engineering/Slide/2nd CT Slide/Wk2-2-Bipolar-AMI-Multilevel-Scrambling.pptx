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72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83" autoAdjust="0"/>
    <p:restoredTop sz="61265" autoAdjust="0"/>
  </p:normalViewPr>
  <p:slideViewPr>
    <p:cSldViewPr showGuides="1">
      <p:cViewPr varScale="1">
        <p:scale>
          <a:sx n="68" d="100"/>
          <a:sy n="68" d="100"/>
        </p:scale>
        <p:origin x="12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17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  <a:endParaRPr lang="en-US" sz="2800" cap="small" dirty="0"/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  <a:endParaRPr lang="en-US" sz="4000" b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Digital-to-digital 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smtClean="0"/>
              <a:t>conversion involves </a:t>
            </a:r>
            <a:r>
              <a:rPr lang="en-US" sz="2400" dirty="0"/>
              <a:t>three techniques: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line </a:t>
            </a:r>
            <a:r>
              <a:rPr lang="en-US" sz="2400" cap="small" dirty="0"/>
              <a:t>coding,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block </a:t>
            </a:r>
            <a:r>
              <a:rPr lang="en-US" sz="2400" cap="small" dirty="0"/>
              <a:t>coding, and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cap="small" dirty="0" smtClean="0"/>
              <a:t>scrambling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457200" lvl="1" indent="0">
              <a:buNone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3505200"/>
            <a:ext cx="9436820" cy="292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Bipolar Schemes</a:t>
            </a:r>
            <a:endParaRPr lang="en-US" b="1" cap="smal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 </a:t>
            </a:r>
            <a:r>
              <a:rPr lang="en-US" sz="2400" b="1" dirty="0"/>
              <a:t>bipolar </a:t>
            </a:r>
            <a:r>
              <a:rPr lang="en-US" sz="2400" dirty="0"/>
              <a:t>encoding (sometimes called </a:t>
            </a:r>
            <a:r>
              <a:rPr lang="en-US" sz="2400" b="1" i="1" dirty="0"/>
              <a:t>multilevel binary</a:t>
            </a:r>
            <a:r>
              <a:rPr lang="en-US" sz="2400" dirty="0"/>
              <a:t>),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there</a:t>
            </a:r>
            <a:r>
              <a:rPr lang="en-US" sz="2400" dirty="0"/>
              <a:t> are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three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voltage</a:t>
            </a:r>
            <a:r>
              <a:rPr lang="en-US" sz="2400" dirty="0"/>
              <a:t> </a:t>
            </a:r>
            <a:r>
              <a:rPr lang="en-US" sz="2400" dirty="0" smtClean="0"/>
              <a:t>levels:</a:t>
            </a:r>
            <a:endParaRPr lang="en-US" sz="2400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cap="small" dirty="0"/>
              <a:t>,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sz="2400" cap="small" dirty="0"/>
              <a:t>, and 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sz="2400" cap="small" dirty="0"/>
              <a:t>. </a:t>
            </a:r>
            <a:endParaRPr lang="en-US" sz="2400" cap="small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voltage level </a:t>
            </a:r>
            <a:r>
              <a:rPr lang="en-US" sz="2400" dirty="0">
                <a:solidFill>
                  <a:srgbClr val="FF0000"/>
                </a:solidFill>
              </a:rPr>
              <a:t>for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one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data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element</a:t>
            </a:r>
            <a:r>
              <a:rPr lang="en-US" sz="2400" dirty="0">
                <a:solidFill>
                  <a:srgbClr val="FF0000"/>
                </a:solidFill>
              </a:rPr>
              <a:t> is at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sz="2400" dirty="0"/>
              <a:t>, </a:t>
            </a:r>
            <a:r>
              <a:rPr lang="en-US" sz="2400" dirty="0" smtClean="0"/>
              <a:t>while the </a:t>
            </a:r>
            <a:r>
              <a:rPr lang="en-US" sz="2400" dirty="0"/>
              <a:t>voltage level for the other element </a:t>
            </a:r>
            <a:r>
              <a:rPr lang="en-US" sz="2400" dirty="0">
                <a:solidFill>
                  <a:srgbClr val="FF0000"/>
                </a:solidFill>
              </a:rPr>
              <a:t>alternates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between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dirty="0">
                <a:solidFill>
                  <a:srgbClr val="FF0000"/>
                </a:solidFill>
              </a:rPr>
              <a:t> 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b="1" dirty="0" smtClean="0"/>
              <a:t>Two Scheme:</a:t>
            </a:r>
            <a:endParaRPr lang="en-US" sz="24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AMI</a:t>
            </a:r>
            <a:r>
              <a:rPr lang="en-US" sz="2400" b="1" dirty="0" smtClean="0"/>
              <a:t> </a:t>
            </a:r>
            <a:r>
              <a:rPr lang="en-US" sz="2400" b="1" dirty="0"/>
              <a:t>and </a:t>
            </a:r>
            <a:endParaRPr lang="en-US" sz="24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err="1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Pseudoternary</a:t>
            </a:r>
            <a:endParaRPr lang="en-US" sz="2400" dirty="0">
              <a:solidFill>
                <a:srgbClr val="FF00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Bipolar </a:t>
            </a:r>
            <a:r>
              <a:rPr lang="en-US" b="1" cap="small" dirty="0" smtClean="0"/>
              <a:t>Schemes: </a:t>
            </a:r>
            <a:r>
              <a:rPr lang="en-US" dirty="0" smtClean="0"/>
              <a:t>AMI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Alternate Mark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nversion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(AMI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).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endParaRPr lang="en-US" sz="2400" dirty="0" smtClean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sz="2400" dirty="0" smtClean="0"/>
              <a:t>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neutral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voltage represents binary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0</a:t>
            </a:r>
            <a:endParaRPr lang="en-US" sz="2400" dirty="0">
              <a:solidFill>
                <a:srgbClr val="FF0000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Binary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1s a</a:t>
            </a:r>
            <a:r>
              <a:rPr lang="en-US" sz="2400" dirty="0"/>
              <a:t>re represented by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alternating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dirty="0">
                <a:solidFill>
                  <a:srgbClr val="FF0000"/>
                </a:solidFill>
              </a:rPr>
              <a:t> 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sz="2400" dirty="0">
                <a:solidFill>
                  <a:srgbClr val="FF0000"/>
                </a:solidFill>
              </a:rPr>
              <a:t> voltages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3733800"/>
            <a:ext cx="5816739" cy="17526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514600" y="5029200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200400" y="4724400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257800" y="5344998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Bipolar Schemes: </a:t>
            </a:r>
            <a:r>
              <a:rPr lang="en-US" b="1" cap="small" dirty="0" err="1"/>
              <a:t>Pseudoternary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variation of </a:t>
            </a:r>
            <a:r>
              <a:rPr lang="en-US" sz="2400" dirty="0" smtClean="0"/>
              <a:t>AMI encoding </a:t>
            </a:r>
            <a:r>
              <a:rPr lang="en-US" sz="2400" dirty="0"/>
              <a:t>is called </a:t>
            </a:r>
            <a:r>
              <a:rPr lang="en-US" sz="2400" dirty="0" err="1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pseudoternary</a:t>
            </a:r>
            <a:r>
              <a:rPr lang="en-US" sz="2400" b="1" dirty="0"/>
              <a:t> </a:t>
            </a:r>
            <a:r>
              <a:rPr lang="en-US" sz="2400" dirty="0"/>
              <a:t>in </a:t>
            </a:r>
            <a:r>
              <a:rPr lang="en-US" sz="2400" dirty="0" smtClean="0"/>
              <a:t>which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1 bit </a:t>
            </a:r>
            <a:r>
              <a:rPr lang="en-US" sz="2400" dirty="0"/>
              <a:t>is encoded as 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zero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voltage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and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0 bit </a:t>
            </a:r>
            <a:r>
              <a:rPr lang="en-US" sz="2400" dirty="0"/>
              <a:t>is encoded as alternating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positive</a:t>
            </a:r>
            <a:r>
              <a:rPr lang="en-US" sz="2400" dirty="0">
                <a:solidFill>
                  <a:srgbClr val="FF0000"/>
                </a:solidFill>
              </a:rPr>
              <a:t> 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negative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voltages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427413"/>
            <a:ext cx="6251650" cy="269875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819400" y="5486400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505200" y="5486400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191000" y="5745163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800600" y="5486400"/>
            <a:ext cx="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Multilevel Schemes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9444"/>
            <a:ext cx="8229600" cy="3592085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mBnL</a:t>
            </a:r>
            <a:endParaRPr lang="en-US" sz="2400" b="1" dirty="0" smtClean="0">
              <a:solidFill>
                <a:srgbClr val="FF00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pPr lvl="1"/>
            <a:r>
              <a:rPr lang="en-US" sz="2400" dirty="0"/>
              <a:t>where </a:t>
            </a:r>
            <a:r>
              <a:rPr lang="en-US" sz="2400" i="1" dirty="0">
                <a:solidFill>
                  <a:srgbClr val="FF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is </a:t>
            </a:r>
            <a:r>
              <a:rPr lang="en-US" sz="2400" dirty="0" smtClean="0">
                <a:solidFill>
                  <a:srgbClr val="FF0000"/>
                </a:solidFill>
              </a:rPr>
              <a:t>the length </a:t>
            </a:r>
            <a:r>
              <a:rPr lang="en-US" sz="2400" dirty="0">
                <a:solidFill>
                  <a:srgbClr val="FF0000"/>
                </a:solidFill>
              </a:rPr>
              <a:t>of the binary pattern</a:t>
            </a:r>
            <a:r>
              <a:rPr lang="en-US" sz="2400" dirty="0"/>
              <a:t>, </a:t>
            </a:r>
            <a:endParaRPr lang="en-US" sz="2400" dirty="0" smtClean="0"/>
          </a:p>
          <a:p>
            <a:pPr lvl="1"/>
            <a:r>
              <a:rPr lang="en-US" sz="2400" i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B</a:t>
            </a:r>
            <a:r>
              <a:rPr lang="en-US" sz="2400" i="1" dirty="0" smtClean="0"/>
              <a:t> </a:t>
            </a:r>
            <a:r>
              <a:rPr lang="en-US" sz="2400" dirty="0"/>
              <a:t>means binary data, </a:t>
            </a:r>
            <a:endParaRPr lang="en-US" sz="2400" dirty="0" smtClean="0"/>
          </a:p>
          <a:p>
            <a:pPr lvl="1"/>
            <a:r>
              <a:rPr lang="en-US" sz="2400" i="1" dirty="0" smtClean="0">
                <a:solidFill>
                  <a:srgbClr val="FF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</a:t>
            </a:r>
            <a:r>
              <a:rPr lang="en-US" sz="2400" i="1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is the length of the signal pattern</a:t>
            </a:r>
            <a:r>
              <a:rPr lang="en-US" sz="2400" dirty="0" smtClean="0"/>
              <a:t>, and </a:t>
            </a:r>
            <a:endParaRPr lang="en-US" sz="2400" dirty="0" smtClean="0"/>
          </a:p>
          <a:p>
            <a:pPr lvl="1"/>
            <a:r>
              <a:rPr lang="en-US" sz="2400" i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L</a:t>
            </a:r>
            <a:r>
              <a:rPr lang="en-US" sz="2400" i="1" dirty="0" smtClean="0"/>
              <a:t> </a:t>
            </a:r>
            <a:r>
              <a:rPr lang="en-US" sz="2400" dirty="0"/>
              <a:t>is the number of </a:t>
            </a:r>
            <a:r>
              <a:rPr lang="en-US" sz="2400" dirty="0">
                <a:solidFill>
                  <a:srgbClr val="FF0000"/>
                </a:solidFill>
              </a:rPr>
              <a:t>levels in the signaling</a:t>
            </a:r>
            <a:r>
              <a:rPr lang="en-US" sz="2400" dirty="0"/>
              <a:t>. </a:t>
            </a:r>
            <a:endParaRPr lang="en-US" sz="2400" dirty="0" smtClean="0"/>
          </a:p>
          <a:p>
            <a:pPr lvl="2">
              <a:buSzPct val="80000"/>
              <a:buFont typeface="Wingdings" panose="05000000000000000000" pitchFamily="2" charset="2"/>
              <a:buChar char="Ø"/>
            </a:pPr>
            <a:r>
              <a:rPr lang="en-US" dirty="0" smtClean="0"/>
              <a:t>A </a:t>
            </a:r>
            <a:r>
              <a:rPr lang="en-US" dirty="0"/>
              <a:t>letter is often used in place of </a:t>
            </a:r>
            <a:r>
              <a:rPr lang="en-US" i="1" dirty="0"/>
              <a:t>L</a:t>
            </a:r>
            <a:r>
              <a:rPr lang="en-US" dirty="0"/>
              <a:t>: </a:t>
            </a:r>
            <a:endParaRPr lang="en-US" dirty="0" smtClean="0"/>
          </a:p>
          <a:p>
            <a:pPr lvl="2">
              <a:buSzPct val="80000"/>
              <a:buFont typeface="Wingdings" panose="05000000000000000000" pitchFamily="2" charset="2"/>
              <a:buChar char="Ø"/>
            </a:pPr>
            <a:r>
              <a:rPr lang="en-US" i="1" dirty="0" smtClean="0"/>
              <a:t>B</a:t>
            </a:r>
            <a:r>
              <a:rPr lang="en-US" dirty="0" smtClean="0"/>
              <a:t>(binary</a:t>
            </a:r>
            <a:r>
              <a:rPr lang="en-US" dirty="0"/>
              <a:t>) for </a:t>
            </a:r>
            <a:r>
              <a:rPr lang="en-US" i="1" dirty="0"/>
              <a:t>L </a:t>
            </a:r>
            <a:r>
              <a:rPr lang="en-US" dirty="0"/>
              <a:t>= 2, </a:t>
            </a:r>
            <a:endParaRPr lang="en-US" dirty="0" smtClean="0"/>
          </a:p>
          <a:p>
            <a:pPr lvl="2">
              <a:buSzPct val="80000"/>
              <a:buFont typeface="Wingdings" panose="05000000000000000000" pitchFamily="2" charset="2"/>
              <a:buChar char="Ø"/>
            </a:pPr>
            <a:r>
              <a:rPr lang="en-US" i="1" dirty="0" smtClean="0"/>
              <a:t>T </a:t>
            </a:r>
            <a:r>
              <a:rPr lang="en-US" dirty="0"/>
              <a:t>(ternary) for </a:t>
            </a:r>
            <a:r>
              <a:rPr lang="en-US" i="1" dirty="0"/>
              <a:t>L </a:t>
            </a:r>
            <a:r>
              <a:rPr lang="en-US" dirty="0"/>
              <a:t>= 3, and </a:t>
            </a:r>
            <a:endParaRPr lang="en-US" dirty="0" smtClean="0"/>
          </a:p>
          <a:p>
            <a:pPr lvl="2">
              <a:buSzPct val="80000"/>
              <a:buFont typeface="Wingdings" panose="05000000000000000000" pitchFamily="2" charset="2"/>
              <a:buChar char="Ø"/>
            </a:pPr>
            <a:r>
              <a:rPr lang="en-US" i="1" dirty="0" smtClean="0"/>
              <a:t>Q </a:t>
            </a:r>
            <a:r>
              <a:rPr lang="en-US" dirty="0"/>
              <a:t>(quaternary) for </a:t>
            </a:r>
            <a:r>
              <a:rPr lang="en-US" i="1" dirty="0"/>
              <a:t>L </a:t>
            </a:r>
            <a:r>
              <a:rPr lang="en-US" dirty="0"/>
              <a:t>= 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2600" y="1066800"/>
            <a:ext cx="5406510" cy="167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68074" y="4340843"/>
            <a:ext cx="987771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dirty="0"/>
              <a:t>2B1Q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7601737" y="5086986"/>
            <a:ext cx="920444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dirty="0"/>
              <a:t>8B6T</a:t>
            </a:r>
            <a:endParaRPr lang="en-US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3352800" y="2057400"/>
            <a:ext cx="3276600" cy="30480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Multilevel: 2B1Q scheme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600200"/>
            <a:ext cx="4876800" cy="32096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4809882"/>
            <a:ext cx="7315200" cy="1102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Multilevel: </a:t>
            </a:r>
            <a:r>
              <a:rPr lang="en-US" dirty="0"/>
              <a:t>8B6T</a:t>
            </a:r>
            <a:r>
              <a:rPr lang="en-US" cap="small" dirty="0" smtClean="0"/>
              <a:t> </a:t>
            </a:r>
            <a:r>
              <a:rPr lang="en-US" cap="small" dirty="0"/>
              <a:t>scheme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983" y="1676400"/>
            <a:ext cx="8626817" cy="2362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492" y="4458025"/>
            <a:ext cx="826730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In this </a:t>
            </a:r>
            <a:r>
              <a:rPr lang="en-US" sz="2400" dirty="0">
                <a:latin typeface="+mj-lt"/>
              </a:rPr>
              <a:t>type of scheme, </a:t>
            </a:r>
            <a:r>
              <a:rPr lang="en-US" sz="2400" dirty="0"/>
              <a:t>we can have </a:t>
            </a:r>
            <a:endParaRPr lang="en-US" sz="2400" dirty="0" smtClean="0"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2^8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= 256 </a:t>
            </a:r>
            <a:r>
              <a:rPr lang="en-US" sz="2400" dirty="0">
                <a:latin typeface="+mj-lt"/>
              </a:rPr>
              <a:t>different data patterns and </a:t>
            </a:r>
            <a:endParaRPr lang="en-US" sz="2400" dirty="0" smtClean="0">
              <a:latin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3^6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= 729 </a:t>
            </a:r>
            <a:r>
              <a:rPr lang="en-US" sz="2400" dirty="0" smtClean="0">
                <a:latin typeface="+mj-lt"/>
              </a:rPr>
              <a:t>different signal </a:t>
            </a:r>
            <a:r>
              <a:rPr lang="en-US" sz="2400" dirty="0">
                <a:latin typeface="+mj-lt"/>
              </a:rPr>
              <a:t>patterns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</a:t>
            </a:r>
            <a:r>
              <a:rPr lang="en-US" sz="2400" dirty="0">
                <a:solidFill>
                  <a:srgbClr val="FF0000"/>
                </a:solidFill>
              </a:rPr>
              <a:t>729 − 256 = </a:t>
            </a:r>
            <a:r>
              <a:rPr lang="en-US" sz="2400" dirty="0" smtClean="0">
                <a:solidFill>
                  <a:srgbClr val="FF0000"/>
                </a:solidFill>
              </a:rPr>
              <a:t>473 </a:t>
            </a:r>
            <a:r>
              <a:rPr lang="en-US" sz="2400" dirty="0" smtClean="0"/>
              <a:t>redundant </a:t>
            </a:r>
            <a:r>
              <a:rPr lang="en-US" sz="2400" dirty="0"/>
              <a:t>signal elements that provide synchronization and error </a:t>
            </a:r>
            <a:r>
              <a:rPr lang="en-US" sz="2400" dirty="0" smtClean="0"/>
              <a:t>detection.</a:t>
            </a:r>
            <a:endParaRPr lang="en-US" sz="2400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9556" y="1355851"/>
            <a:ext cx="25369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− 0 − 0 + + with weight </a:t>
            </a:r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325717" y="1362353"/>
            <a:ext cx="26459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dirty="0"/>
              <a:t>− + − + + 0 with weight +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41668" y="1144277"/>
            <a:ext cx="2714380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01010000 should be encoded as + − − + 0 + with weight +1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Block Coding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1600" y="1454214"/>
            <a:ext cx="6780158" cy="1219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2690336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Block </a:t>
            </a:r>
            <a:r>
              <a:rPr lang="en-US" sz="2400" dirty="0"/>
              <a:t>coding changes a block of </a:t>
            </a:r>
            <a:r>
              <a:rPr lang="en-US" sz="2400" b="1" u="sng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 bits </a:t>
            </a:r>
            <a:r>
              <a:rPr lang="en-US" sz="2400" dirty="0"/>
              <a:t>into a </a:t>
            </a:r>
            <a:r>
              <a:rPr lang="en-US" sz="2400" dirty="0" smtClean="0"/>
              <a:t>block of </a:t>
            </a:r>
            <a:r>
              <a:rPr lang="en-US" sz="2400" b="1" u="sng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 bits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where n is larger than m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. </a:t>
            </a:r>
            <a:endParaRPr lang="en-US" sz="2400" dirty="0" smtClean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Block </a:t>
            </a:r>
            <a:r>
              <a:rPr lang="en-US" sz="2400" dirty="0"/>
              <a:t>coding is referred to as an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nB</a:t>
            </a:r>
            <a:r>
              <a:rPr lang="en-US" sz="2400" dirty="0"/>
              <a:t> </a:t>
            </a:r>
            <a:r>
              <a:rPr lang="en-US" sz="2400" dirty="0" smtClean="0"/>
              <a:t>encoding technique</a:t>
            </a:r>
            <a:r>
              <a:rPr lang="en-US" sz="2400" dirty="0"/>
              <a:t>.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225" y="3883323"/>
            <a:ext cx="4184908" cy="2666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Four </a:t>
            </a:r>
            <a:r>
              <a:rPr lang="en-US" cap="small" dirty="0"/>
              <a:t>binary/five binary (4B/5B)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0200" y="1417638"/>
            <a:ext cx="5791498" cy="259093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286000" y="4316235"/>
            <a:ext cx="3994355" cy="1670671"/>
            <a:chOff x="1752600" y="4087356"/>
            <a:chExt cx="3994355" cy="167067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2600" y="4545115"/>
              <a:ext cx="3994355" cy="121291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3304" y="4087356"/>
              <a:ext cx="3702240" cy="45722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Four binary/five binary (4B/5B)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3000" y="2012949"/>
            <a:ext cx="6695433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6416" y="1211154"/>
            <a:ext cx="7848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Times-Roman"/>
              </a:rPr>
              <a:t>In 4B/5B, </a:t>
            </a:r>
            <a:r>
              <a:rPr lang="en-US" dirty="0" smtClean="0">
                <a:latin typeface="Times-Roman"/>
              </a:rPr>
              <a:t>…no </a:t>
            </a:r>
            <a:r>
              <a:rPr lang="en-US" dirty="0">
                <a:latin typeface="Times-Roman"/>
              </a:rPr>
              <a:t>more than </a:t>
            </a:r>
            <a:r>
              <a:rPr lang="en-US" dirty="0">
                <a:solidFill>
                  <a:srgbClr val="FF0000"/>
                </a:solidFill>
                <a:latin typeface="Times-Roman"/>
              </a:rPr>
              <a:t>one </a:t>
            </a:r>
            <a:r>
              <a:rPr lang="en-US" dirty="0" smtClean="0">
                <a:solidFill>
                  <a:srgbClr val="FF0000"/>
                </a:solidFill>
                <a:latin typeface="Times-Roman"/>
              </a:rPr>
              <a:t>leading zero </a:t>
            </a:r>
            <a:r>
              <a:rPr lang="en-US" dirty="0">
                <a:solidFill>
                  <a:srgbClr val="FF0000"/>
                </a:solidFill>
                <a:latin typeface="Times-Roman"/>
              </a:rPr>
              <a:t>(left bit)</a:t>
            </a:r>
            <a:r>
              <a:rPr lang="en-US" dirty="0">
                <a:latin typeface="Times-Roman"/>
              </a:rPr>
              <a:t> and no more than </a:t>
            </a:r>
            <a:r>
              <a:rPr lang="en-US" dirty="0">
                <a:solidFill>
                  <a:srgbClr val="FF0000"/>
                </a:solidFill>
                <a:latin typeface="Times-Roman"/>
              </a:rPr>
              <a:t>two trailing zeros (right bits)</a:t>
            </a:r>
            <a:r>
              <a:rPr lang="en-US" dirty="0">
                <a:latin typeface="Times-Roman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Scrambling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We are </a:t>
            </a:r>
            <a:r>
              <a:rPr lang="en-US" sz="2400" b="1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looking for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 technique </a:t>
            </a:r>
            <a:r>
              <a:rPr lang="en-US" sz="2400" dirty="0"/>
              <a:t>that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does not increase </a:t>
            </a:r>
            <a:r>
              <a:rPr lang="en-US" sz="2400" dirty="0"/>
              <a:t>the number of bits and </a:t>
            </a:r>
            <a:r>
              <a:rPr lang="en-US" sz="2400" dirty="0">
                <a:solidFill>
                  <a:srgbClr val="FF0000"/>
                </a:solidFill>
              </a:rPr>
              <a:t>does provide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synchronization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/>
              <a:t>We are </a:t>
            </a:r>
            <a:r>
              <a:rPr lang="en-US" sz="2400" b="1" dirty="0">
                <a:solidFill>
                  <a:srgbClr val="FF0000"/>
                </a:solidFill>
              </a:rPr>
              <a:t>looking for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solution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dirty="0">
                <a:solidFill>
                  <a:srgbClr val="FF0000"/>
                </a:solidFill>
              </a:rPr>
              <a:t>substitutes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long zero-level pulses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with a </a:t>
            </a:r>
            <a:r>
              <a:rPr lang="en-US" sz="2400" dirty="0" smtClean="0"/>
              <a:t>combination of </a:t>
            </a:r>
            <a:r>
              <a:rPr lang="en-US" sz="2400" dirty="0"/>
              <a:t>other levels to provide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synchronization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/>
              <a:t>One solution is called </a:t>
            </a:r>
            <a:r>
              <a:rPr lang="en-US" sz="2400" b="1" cap="small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scrambling</a:t>
            </a:r>
            <a:r>
              <a:rPr lang="en-US" sz="24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.</a:t>
            </a:r>
            <a:endParaRPr lang="en-US" sz="2400" dirty="0" smtClean="0"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en-US" sz="2400" dirty="0" smtClean="0"/>
              <a:t>Two common </a:t>
            </a:r>
            <a:r>
              <a:rPr lang="en-US" sz="2400" dirty="0"/>
              <a:t>scrambling techniques are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B8ZS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HDB3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small" dirty="0" smtClean="0"/>
              <a:t>Scrambling: </a:t>
            </a:r>
            <a:r>
              <a:rPr lang="en-US" b="1" dirty="0" smtClean="0"/>
              <a:t>B8ZS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Bipolar with 8-zero substitution (B8ZS)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167459"/>
            <a:ext cx="6705600" cy="736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2921169"/>
            <a:ext cx="8001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V</a:t>
            </a:r>
            <a:r>
              <a:rPr lang="en-US" sz="2400" dirty="0">
                <a:latin typeface="+mj-lt"/>
              </a:rPr>
              <a:t> in the sequence denotes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violation</a:t>
            </a:r>
            <a:r>
              <a:rPr lang="en-US" sz="2400" i="1" dirty="0">
                <a:latin typeface="+mj-lt"/>
              </a:rPr>
              <a:t>; </a:t>
            </a:r>
            <a:r>
              <a:rPr lang="en-US" sz="2400" dirty="0">
                <a:latin typeface="+mj-lt"/>
              </a:rPr>
              <a:t>this is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nonzero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voltage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that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breaks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an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AMI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rule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of encoding </a:t>
            </a:r>
            <a:r>
              <a:rPr lang="en-US" sz="2400" dirty="0" smtClean="0">
                <a:latin typeface="+mj-lt"/>
              </a:rPr>
              <a:t>(opposite polarity from the previous). 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The </a:t>
            </a:r>
            <a:r>
              <a:rPr lang="en-US" sz="2400" dirty="0">
                <a:latin typeface="+mj-lt"/>
              </a:rPr>
              <a:t>B in </a:t>
            </a:r>
            <a:r>
              <a:rPr lang="en-US" sz="2400" dirty="0" smtClean="0">
                <a:latin typeface="+mj-lt"/>
              </a:rPr>
              <a:t>the sequence denotes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bipolar</a:t>
            </a:r>
            <a:r>
              <a:rPr lang="en-US" sz="2400" i="1" dirty="0" smtClean="0">
                <a:latin typeface="+mj-lt"/>
              </a:rPr>
              <a:t>, </a:t>
            </a:r>
            <a:r>
              <a:rPr lang="en-US" sz="2400" dirty="0" smtClean="0">
                <a:latin typeface="+mj-lt"/>
              </a:rPr>
              <a:t>which means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nonzero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level</a:t>
            </a:r>
            <a:r>
              <a:rPr lang="en-US" sz="2400" dirty="0" smtClean="0">
                <a:latin typeface="+mj-lt"/>
              </a:rPr>
              <a:t> voltage in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accordance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with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AMI</a:t>
            </a:r>
            <a:r>
              <a:rPr lang="en-US" sz="2400" dirty="0" smtClean="0">
                <a:solidFill>
                  <a:srgbClr val="FF0000"/>
                </a:solidFill>
                <a:latin typeface="+mj-lt"/>
              </a:rPr>
              <a:t> rule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65" y="-73724"/>
            <a:ext cx="7927069" cy="23650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450" y="5006564"/>
            <a:ext cx="5816739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Scrambling:</a:t>
            </a:r>
            <a:r>
              <a:rPr lang="en-US" b="1" dirty="0"/>
              <a:t> HDB3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High-density bipolar 3-zero (HDB3) </a:t>
            </a:r>
            <a:r>
              <a:rPr lang="en-US" sz="2400" dirty="0"/>
              <a:t>is commonly used outside of North </a:t>
            </a:r>
            <a:r>
              <a:rPr lang="en-US" sz="2400" dirty="0" smtClean="0"/>
              <a:t>America.</a:t>
            </a:r>
            <a:endParaRPr lang="en-US" sz="2400" dirty="0" smtClean="0"/>
          </a:p>
          <a:p>
            <a:r>
              <a:rPr lang="en-US" sz="2400" dirty="0" smtClean="0"/>
              <a:t>Four </a:t>
            </a:r>
            <a:r>
              <a:rPr lang="en-US" sz="2400" dirty="0"/>
              <a:t>consecutive zero-level </a:t>
            </a:r>
            <a:r>
              <a:rPr lang="en-US" sz="2400" dirty="0" smtClean="0"/>
              <a:t>voltages are </a:t>
            </a:r>
            <a:r>
              <a:rPr lang="en-US" sz="2400" dirty="0"/>
              <a:t>replaced with a sequence of </a:t>
            </a:r>
            <a:r>
              <a:rPr lang="en-US" sz="2400" b="1" dirty="0">
                <a:solidFill>
                  <a:srgbClr val="FF0000"/>
                </a:solidFill>
              </a:rPr>
              <a:t>000V</a:t>
            </a:r>
            <a:r>
              <a:rPr lang="en-US" sz="2400" dirty="0"/>
              <a:t> or </a:t>
            </a:r>
            <a:r>
              <a:rPr lang="en-US" sz="2400" b="1" dirty="0" smtClean="0">
                <a:solidFill>
                  <a:srgbClr val="FF0000"/>
                </a:solidFill>
              </a:rPr>
              <a:t>B00V.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/>
              <a:t>The reason for two different </a:t>
            </a:r>
            <a:r>
              <a:rPr lang="en-US" sz="2400" dirty="0" smtClean="0"/>
              <a:t>substitutions is </a:t>
            </a:r>
            <a:r>
              <a:rPr lang="en-US" sz="2400" dirty="0"/>
              <a:t>to maintain the even number of nonzero pulses after each substitution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419600"/>
            <a:ext cx="8394621" cy="12192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Scrambling:</a:t>
            </a:r>
            <a:r>
              <a:rPr lang="en-US" b="1" dirty="0"/>
              <a:t> HDB3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9700" y="1431274"/>
            <a:ext cx="6324600" cy="354249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088682" y="2667000"/>
            <a:ext cx="654518" cy="2209800"/>
          </a:xfrm>
          <a:prstGeom prst="rect">
            <a:avLst/>
          </a:prstGeom>
          <a:solidFill>
            <a:srgbClr val="FFFF0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07450" y="4876800"/>
            <a:ext cx="2237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Non-Zero Pulse: EVEN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WPS Presentation</Application>
  <PresentationFormat>On-screen Show (4:3)</PresentationFormat>
  <Paragraphs>131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Times-Roman</vt:lpstr>
      <vt:lpstr>Calibri</vt:lpstr>
      <vt:lpstr>Microsoft YaHei</vt:lpstr>
      <vt:lpstr>Arial Unicode MS</vt:lpstr>
      <vt:lpstr>Office Theme</vt:lpstr>
      <vt:lpstr>PowerPoint 演示文稿</vt:lpstr>
      <vt:lpstr>Digital-to-digital Conversion</vt:lpstr>
      <vt:lpstr>Bipolar Schemes</vt:lpstr>
      <vt:lpstr>Bipolar Schemes: AMI</vt:lpstr>
      <vt:lpstr>Bipolar Schemes: Pseudoternary</vt:lpstr>
      <vt:lpstr>Multilevel Schemes</vt:lpstr>
      <vt:lpstr>Multilevel: 2B1Q scheme</vt:lpstr>
      <vt:lpstr>Multilevel: 8B6T scheme</vt:lpstr>
      <vt:lpstr>Block Coding</vt:lpstr>
      <vt:lpstr>Four binary/five binary (4B/5B)</vt:lpstr>
      <vt:lpstr>Four binary/five binary (4B/5B)</vt:lpstr>
      <vt:lpstr>Scrambling</vt:lpstr>
      <vt:lpstr>Scrambling: B8ZS</vt:lpstr>
      <vt:lpstr>Scrambling: HDB3</vt:lpstr>
      <vt:lpstr>Scrambling: HDB3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Lenovo</cp:lastModifiedBy>
  <cp:revision>915</cp:revision>
  <cp:lastPrinted>2017-11-05T03:12:00Z</cp:lastPrinted>
  <dcterms:created xsi:type="dcterms:W3CDTF">2006-08-16T00:00:00Z</dcterms:created>
  <dcterms:modified xsi:type="dcterms:W3CDTF">2025-07-20T18:31:42Z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4EAEFFE990E8435FAC6D7B2B511C1F3A_12</vt:lpwstr>
  </property>
  <property fmtid="{D5CDD505-2E9C-101B-9397-08002B2CF9AE}" pid="3" name="KSOProductBuildVer">
    <vt:lpwstr>1033-12.2.0.21931</vt:lpwstr>
  </property>
</Properties>
</file>