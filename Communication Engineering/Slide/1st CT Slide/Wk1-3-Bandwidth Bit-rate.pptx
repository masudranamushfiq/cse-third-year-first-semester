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0" r:id="rId18"/>
    <p:sldId id="272" r:id="rId19"/>
    <p:sldId id="273" r:id="rId20"/>
    <p:sldId id="281" r:id="rId21"/>
    <p:sldId id="274" r:id="rId22"/>
    <p:sldId id="275" r:id="rId23"/>
    <p:sldId id="276" r:id="rId24"/>
    <p:sldId id="288" r:id="rId25"/>
    <p:sldId id="282" r:id="rId26"/>
    <p:sldId id="277" r:id="rId27"/>
    <p:sldId id="285" r:id="rId28"/>
    <p:sldId id="286" r:id="rId29"/>
    <p:sldId id="287" r:id="rId30"/>
    <p:sldId id="283" r:id="rId31"/>
    <p:sldId id="278" r:id="rId32"/>
    <p:sldId id="279" r:id="rId3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 autoAdjust="0"/>
    <p:restoredTop sz="61265" autoAdjust="0"/>
  </p:normalViewPr>
  <p:slideViewPr>
    <p:cSldViewPr>
      <p:cViewPr>
        <p:scale>
          <a:sx n="100" d="100"/>
          <a:sy n="100" d="100"/>
        </p:scale>
        <p:origin x="188" y="-12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19-Sep-24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19-Sep-24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19-Sep-24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19-Sep-24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19-Sep-24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19-Sep-24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19-Sep-24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19-Sep-24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19-Sep-24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19-Sep-24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19-Sep-24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19-Sep-24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19-Sep-24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19-Sep-24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19-Sep-24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32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0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Composite Signals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64347" y="1125884"/>
            <a:ext cx="10072694" cy="104144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 smtClean="0"/>
              <a:t> of 32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1083" y="2127154"/>
            <a:ext cx="7841279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Pure sine wave: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sine wave is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carrying energy</a:t>
            </a:r>
            <a:r>
              <a:rPr lang="en-US" sz="2800" dirty="0"/>
              <a:t>; </a:t>
            </a:r>
            <a:r>
              <a:rPr lang="en-US" sz="2800" dirty="0" smtClean="0"/>
              <a:t>	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sine wave is 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signal</a:t>
            </a:r>
            <a:r>
              <a:rPr lang="en-US" sz="2800" dirty="0"/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</a:t>
            </a:r>
            <a:r>
              <a:rPr lang="en-US" sz="2800" dirty="0"/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danger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304800" y="3581400"/>
            <a:ext cx="8534400" cy="21236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-Roman"/>
              </a:rPr>
              <a:t>…</a:t>
            </a: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1900s</a:t>
            </a:r>
            <a:r>
              <a:rPr lang="en-US" sz="2400" dirty="0">
                <a:latin typeface="Times-Roman"/>
              </a:rPr>
              <a:t>, the French mathematician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Jean-Baptiste Fourier</a:t>
            </a:r>
            <a:r>
              <a:rPr lang="en-US" sz="2400" dirty="0">
                <a:latin typeface="Times-Roman"/>
              </a:rPr>
              <a:t> showed </a:t>
            </a:r>
            <a:r>
              <a:rPr lang="en-US" sz="2400" dirty="0" smtClean="0">
                <a:latin typeface="Times-Roman"/>
              </a:rPr>
              <a:t>that: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composite signal is actually a combination of simple sine waves with different frequencies, amplitudes, and phases</a:t>
            </a:r>
            <a:r>
              <a:rPr lang="en-US" sz="2800" b="1" cap="small" dirty="0">
                <a:latin typeface="Times-Roman"/>
              </a:rPr>
              <a:t>.</a:t>
            </a:r>
            <a:endParaRPr lang="en-US" sz="2800" b="1" cap="small" dirty="0"/>
          </a:p>
        </p:txBody>
      </p:sp>
    </p:spTree>
    <p:extLst>
      <p:ext uri="{BB962C8B-B14F-4D97-AF65-F5344CB8AC3E}">
        <p14:creationId xmlns:p14="http://schemas.microsoft.com/office/powerpoint/2010/main" val="55870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Composite Signals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</a:blip>
          <a:srcRect t="20552"/>
          <a:stretch/>
        </p:blipFill>
        <p:spPr>
          <a:xfrm>
            <a:off x="132305" y="444742"/>
            <a:ext cx="5669280" cy="18488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9244" y="4329691"/>
            <a:ext cx="7654660" cy="24314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very difficult </a:t>
            </a:r>
            <a:r>
              <a:rPr lang="en-US" sz="2400" b="1" u="sng" dirty="0">
                <a:solidFill>
                  <a:srgbClr val="FF0000"/>
                </a:solidFill>
              </a:rPr>
              <a:t>to manually 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decompose</a:t>
            </a:r>
            <a:r>
              <a:rPr lang="en-US" sz="2400" dirty="0"/>
              <a:t> this signal into a series of simple sine waves.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there are tools, both 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and software</a:t>
            </a:r>
            <a:r>
              <a:rPr lang="en-US" sz="2400" dirty="0"/>
              <a:t>, that can help us do the job.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We </a:t>
            </a:r>
            <a:r>
              <a:rPr lang="en-US" sz="2400" b="1" dirty="0">
                <a:solidFill>
                  <a:srgbClr val="FF0000"/>
                </a:solidFill>
              </a:rPr>
              <a:t>are not </a:t>
            </a:r>
            <a:r>
              <a:rPr lang="en-US" sz="2400" b="1" dirty="0" smtClean="0">
                <a:solidFill>
                  <a:srgbClr val="FF0000"/>
                </a:solidFill>
              </a:rPr>
              <a:t>concerned about </a:t>
            </a:r>
            <a:r>
              <a:rPr lang="en-US" sz="2400" b="1" dirty="0">
                <a:solidFill>
                  <a:srgbClr val="FF0000"/>
                </a:solidFill>
              </a:rPr>
              <a:t>how it is done; we are only interested in the result.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3754" y="2726628"/>
            <a:ext cx="8250311" cy="1569660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the 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</a:t>
            </a:r>
            <a:r>
              <a:rPr lang="en-US" sz="2400" dirty="0" smtClean="0"/>
              <a:t> signal is 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</a:t>
            </a:r>
            <a:r>
              <a:rPr lang="en-US" sz="2400" dirty="0" smtClean="0"/>
              <a:t>: </a:t>
            </a:r>
            <a:br>
              <a:rPr lang="en-US" sz="2400" dirty="0" smtClean="0"/>
            </a:br>
            <a:r>
              <a:rPr lang="en-US" sz="2400" dirty="0" smtClean="0"/>
              <a:t>	the 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decomposed</a:t>
            </a:r>
            <a:r>
              <a:rPr lang="en-US" sz="2400" dirty="0" smtClean="0"/>
              <a:t> signals are 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</a:t>
            </a:r>
            <a:r>
              <a:rPr lang="en-US" sz="2400" dirty="0" smtClean="0"/>
              <a:t> freq.</a:t>
            </a:r>
          </a:p>
          <a:p>
            <a:r>
              <a:rPr lang="en-US" sz="2400" dirty="0" smtClean="0"/>
              <a:t>Else (</a:t>
            </a:r>
            <a:r>
              <a:rPr lang="en-US" sz="2800" b="1" cap="small" dirty="0" err="1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nonperiodic</a:t>
            </a:r>
            <a:r>
              <a:rPr lang="en-US" sz="2400" dirty="0" smtClean="0"/>
              <a:t>): </a:t>
            </a:r>
          </a:p>
          <a:p>
            <a:r>
              <a:rPr lang="en-US" sz="2400" dirty="0"/>
              <a:t>	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decomposed</a:t>
            </a:r>
            <a:r>
              <a:rPr lang="en-US" sz="2400" dirty="0" smtClean="0"/>
              <a:t> are sine waves with </a:t>
            </a:r>
            <a:r>
              <a:rPr lang="en-US" sz="2800" b="1" cap="small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</a:t>
            </a:r>
            <a:r>
              <a:rPr lang="en-US" sz="2400" dirty="0" smtClean="0"/>
              <a:t> freq.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1008" b="11686"/>
          <a:stretch/>
        </p:blipFill>
        <p:spPr>
          <a:xfrm>
            <a:off x="4983152" y="85547"/>
            <a:ext cx="3703648" cy="23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9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9729"/>
          <a:stretch/>
        </p:blipFill>
        <p:spPr>
          <a:xfrm>
            <a:off x="762000" y="152400"/>
            <a:ext cx="7664844" cy="2514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603377"/>
            <a:ext cx="5573753" cy="22878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2000" y="2312226"/>
            <a:ext cx="786384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smtClean="0"/>
              <a:t>frequency of </a:t>
            </a:r>
            <a:r>
              <a:rPr lang="en-US" dirty="0"/>
              <a:t>the sine wave with frequency f is the same as the frequency of the composite signal; </a:t>
            </a:r>
            <a:r>
              <a:rPr lang="en-US" dirty="0" smtClean="0"/>
              <a:t>it is </a:t>
            </a:r>
            <a:r>
              <a:rPr lang="en-US" dirty="0"/>
              <a:t>called the </a:t>
            </a:r>
            <a:r>
              <a:rPr lang="en-US" b="1" u="sng" dirty="0">
                <a:solidFill>
                  <a:srgbClr val="FF0000"/>
                </a:solidFill>
              </a:rPr>
              <a:t>fundamental frequency</a:t>
            </a:r>
            <a:r>
              <a:rPr lang="en-US" dirty="0"/>
              <a:t>, or </a:t>
            </a:r>
            <a:r>
              <a:rPr lang="en-US" b="1" dirty="0">
                <a:solidFill>
                  <a:srgbClr val="FF0000"/>
                </a:solidFill>
              </a:rPr>
              <a:t>first harmonic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lowest possible frequency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673179"/>
            <a:ext cx="786384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-Roman"/>
              </a:rPr>
              <a:t>The sine wave with frequency </a:t>
            </a:r>
            <a:r>
              <a:rPr lang="en-US" b="1" u="sng" dirty="0">
                <a:solidFill>
                  <a:srgbClr val="FF0000"/>
                </a:solidFill>
                <a:latin typeface="Times-Roman"/>
              </a:rPr>
              <a:t>3</a:t>
            </a:r>
            <a:r>
              <a:rPr lang="en-US" b="1" i="1" u="sng" dirty="0">
                <a:solidFill>
                  <a:srgbClr val="FF0000"/>
                </a:solidFill>
                <a:latin typeface="Times-Italic"/>
              </a:rPr>
              <a:t>f</a:t>
            </a:r>
            <a:r>
              <a:rPr lang="en-US" i="1" dirty="0">
                <a:latin typeface="Times-Italic"/>
              </a:rPr>
              <a:t> </a:t>
            </a:r>
            <a:r>
              <a:rPr lang="en-US" dirty="0">
                <a:latin typeface="Times-Roman"/>
              </a:rPr>
              <a:t>has </a:t>
            </a:r>
            <a:r>
              <a:rPr lang="en-US" dirty="0" smtClean="0">
                <a:latin typeface="Times-Roman"/>
              </a:rPr>
              <a:t>a frequency </a:t>
            </a:r>
            <a:r>
              <a:rPr lang="en-US" dirty="0">
                <a:latin typeface="Times-Roman"/>
              </a:rPr>
              <a:t>of 3 times the fundamental frequency; it is </a:t>
            </a:r>
            <a:r>
              <a:rPr lang="en-US" b="1" u="sng" dirty="0">
                <a:solidFill>
                  <a:srgbClr val="FF0000"/>
                </a:solidFill>
                <a:latin typeface="Times-Roman"/>
              </a:rPr>
              <a:t>called the third harmonic</a:t>
            </a:r>
            <a:r>
              <a:rPr lang="en-US" dirty="0">
                <a:latin typeface="Times-Roman"/>
              </a:rPr>
              <a:t>. </a:t>
            </a:r>
            <a:endParaRPr lang="en-US" dirty="0" smtClean="0">
              <a:latin typeface="Times-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-Roman"/>
              </a:rPr>
              <a:t>The </a:t>
            </a:r>
            <a:r>
              <a:rPr lang="en-US" dirty="0">
                <a:latin typeface="Times-Roman"/>
              </a:rPr>
              <a:t>third </a:t>
            </a:r>
            <a:r>
              <a:rPr lang="en-US" dirty="0" smtClean="0">
                <a:latin typeface="Times-Roman"/>
              </a:rPr>
              <a:t>sine wave </a:t>
            </a:r>
            <a:r>
              <a:rPr lang="en-US" dirty="0">
                <a:latin typeface="Times-Roman"/>
              </a:rPr>
              <a:t>with frequency </a:t>
            </a:r>
            <a:r>
              <a:rPr lang="en-US" b="1" u="sng" dirty="0">
                <a:solidFill>
                  <a:srgbClr val="FF0000"/>
                </a:solidFill>
                <a:latin typeface="Times-Roman"/>
              </a:rPr>
              <a:t>9</a:t>
            </a:r>
            <a:r>
              <a:rPr lang="en-US" b="1" i="1" u="sng" dirty="0">
                <a:solidFill>
                  <a:srgbClr val="FF0000"/>
                </a:solidFill>
                <a:latin typeface="Times-Italic"/>
              </a:rPr>
              <a:t>f</a:t>
            </a:r>
            <a:r>
              <a:rPr lang="en-US" i="1" dirty="0">
                <a:latin typeface="Times-Italic"/>
              </a:rPr>
              <a:t> </a:t>
            </a:r>
            <a:r>
              <a:rPr lang="en-US" dirty="0">
                <a:latin typeface="Times-Roman"/>
              </a:rPr>
              <a:t>has a frequency of 9 times the fundamental frequency; it is </a:t>
            </a:r>
            <a:r>
              <a:rPr lang="en-US" b="1" u="sng" dirty="0">
                <a:solidFill>
                  <a:srgbClr val="FF0000"/>
                </a:solidFill>
                <a:latin typeface="Times-Roman"/>
              </a:rPr>
              <a:t>called </a:t>
            </a:r>
            <a:r>
              <a:rPr lang="en-US" b="1" u="sng" dirty="0" smtClean="0">
                <a:solidFill>
                  <a:srgbClr val="FF0000"/>
                </a:solidFill>
                <a:latin typeface="Times-Roman"/>
              </a:rPr>
              <a:t>the ninth </a:t>
            </a:r>
            <a:r>
              <a:rPr lang="en-US" b="1" u="sng" dirty="0">
                <a:solidFill>
                  <a:srgbClr val="FF0000"/>
                </a:solidFill>
                <a:latin typeface="Times-Roman"/>
              </a:rPr>
              <a:t>harmonic</a:t>
            </a:r>
            <a:r>
              <a:rPr lang="en-US" dirty="0">
                <a:latin typeface="Times-Roman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8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522" y="274638"/>
            <a:ext cx="5962956" cy="339107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 smtClean="0"/>
              <a:t> of 32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66800" y="4041535"/>
            <a:ext cx="7543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…the </a:t>
            </a:r>
            <a:r>
              <a:rPr lang="en-US" sz="2000" dirty="0"/>
              <a:t>frequency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decomposition</a:t>
            </a:r>
            <a:r>
              <a:rPr lang="en-US" sz="2000" dirty="0"/>
              <a:t> of the signal is discrete; it has frequencies f, 3f, </a:t>
            </a:r>
            <a:r>
              <a:rPr lang="en-US" sz="2000" dirty="0" smtClean="0"/>
              <a:t>and 9f</a:t>
            </a:r>
            <a:r>
              <a:rPr lang="en-US" sz="2000" dirty="0"/>
              <a:t>. 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Because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 </a:t>
            </a:r>
            <a:r>
              <a:rPr lang="en-US" sz="2000" dirty="0"/>
              <a:t>is an </a:t>
            </a:r>
            <a:r>
              <a:rPr lang="en-US" sz="2000" dirty="0" smtClean="0"/>
              <a:t>integral </a:t>
            </a:r>
            <a:r>
              <a:rPr lang="en-US" sz="2000" dirty="0"/>
              <a:t>number,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3f</a:t>
            </a:r>
            <a:r>
              <a:rPr lang="en-US" sz="2000" dirty="0"/>
              <a:t> and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9f</a:t>
            </a:r>
            <a:r>
              <a:rPr lang="en-US" sz="2000" dirty="0"/>
              <a:t> are also </a:t>
            </a:r>
            <a:r>
              <a:rPr lang="en-US" sz="2000" dirty="0" smtClean="0"/>
              <a:t>integral </a:t>
            </a:r>
            <a:r>
              <a:rPr lang="en-US" sz="2000" dirty="0"/>
              <a:t>numbers. 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There </a:t>
            </a:r>
            <a:r>
              <a:rPr lang="en-US" sz="2000" dirty="0"/>
              <a:t>are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no frequencies </a:t>
            </a:r>
            <a:r>
              <a:rPr lang="en-US" sz="2000" dirty="0" smtClean="0"/>
              <a:t>such </a:t>
            </a:r>
            <a:r>
              <a:rPr lang="en-US" sz="2000" dirty="0"/>
              <a:t>as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1.2f or 2.6f</a:t>
            </a:r>
            <a:r>
              <a:rPr lang="en-US" sz="2000" dirty="0"/>
              <a:t>. 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frequency domain </a:t>
            </a:r>
            <a:r>
              <a:rPr lang="en-US" sz="2000" dirty="0"/>
              <a:t>of a periodic composite signal is always made of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discrete spikes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530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Composite </a:t>
            </a:r>
            <a:r>
              <a:rPr lang="en-US" cap="small" dirty="0" smtClean="0"/>
              <a:t>Signals (Non-Periodic)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556" y="1600200"/>
            <a:ext cx="7556888" cy="266713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04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7932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range of frequencies </a:t>
            </a:r>
            <a:r>
              <a:rPr lang="en-US" sz="2400" dirty="0"/>
              <a:t>contained in a composite signal is its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bandwidth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pPr lvl="1" algn="just"/>
            <a:r>
              <a:rPr lang="en-US" sz="2000" dirty="0" smtClean="0"/>
              <a:t>The bandwidth is </a:t>
            </a:r>
            <a:r>
              <a:rPr lang="en-US" sz="2000" dirty="0"/>
              <a:t>normally 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difference</a:t>
            </a:r>
            <a:r>
              <a:rPr lang="en-US" sz="2000" dirty="0"/>
              <a:t> between two numbers</a:t>
            </a:r>
            <a:r>
              <a:rPr lang="en-US" sz="2000" dirty="0" smtClean="0"/>
              <a:t>. </a:t>
            </a:r>
          </a:p>
          <a:p>
            <a:pPr lvl="1" algn="just"/>
            <a:r>
              <a:rPr lang="en-US" sz="2000" dirty="0" smtClean="0"/>
              <a:t>For </a:t>
            </a:r>
            <a:r>
              <a:rPr lang="en-US" sz="2000" dirty="0"/>
              <a:t>example, if a composite </a:t>
            </a:r>
            <a:r>
              <a:rPr lang="en-US" sz="2000" dirty="0" smtClean="0"/>
              <a:t>signal contains </a:t>
            </a:r>
            <a:r>
              <a:rPr lang="en-US" sz="2000" dirty="0"/>
              <a:t>frequencies between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1000</a:t>
            </a:r>
            <a:r>
              <a:rPr lang="en-US" sz="2000" dirty="0"/>
              <a:t> and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5000</a:t>
            </a:r>
            <a:r>
              <a:rPr lang="en-US" sz="2000" dirty="0"/>
              <a:t>, its bandwidth is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5000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− 1000</a:t>
            </a:r>
            <a:r>
              <a:rPr lang="en-US" sz="2000" dirty="0"/>
              <a:t>, or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4000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28800"/>
            <a:ext cx="4569144" cy="3352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6538"/>
            <a:ext cx="8295673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6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Bandwidth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01" y="1219200"/>
            <a:ext cx="7747398" cy="2381372"/>
          </a:xfrm>
          <a:prstGeom prst="rect">
            <a:avLst/>
          </a:prstGeom>
        </p:spPr>
      </p:pic>
      <p:pic>
        <p:nvPicPr>
          <p:cNvPr id="7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8800" y="3810000"/>
            <a:ext cx="5327924" cy="190509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61535" y="1780881"/>
            <a:ext cx="4191000" cy="45719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676400" y="1802757"/>
            <a:ext cx="1908038" cy="257114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5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361" y="762000"/>
            <a:ext cx="7627078" cy="2057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01" y="3352800"/>
            <a:ext cx="7111820" cy="2209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71600" y="1371600"/>
            <a:ext cx="3108960" cy="45719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840329" y="1344735"/>
            <a:ext cx="2011680" cy="45719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1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304800"/>
            <a:ext cx="8633410" cy="1295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590800"/>
            <a:ext cx="6229670" cy="1638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2000" y="991384"/>
            <a:ext cx="1188720" cy="45720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103345" y="991384"/>
            <a:ext cx="2103120" cy="45720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016077" y="991384"/>
            <a:ext cx="1188720" cy="45720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24840" y="1250072"/>
            <a:ext cx="3108960" cy="45720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267200" y="1272932"/>
            <a:ext cx="4023360" cy="45720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9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 smtClean="0"/>
              <a:t>Digital Signals</a:t>
            </a:r>
            <a:endParaRPr lang="en-US" b="1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information can also be </a:t>
            </a:r>
            <a:r>
              <a:rPr lang="en-US" sz="2400" dirty="0" smtClean="0"/>
              <a:t>represented by </a:t>
            </a:r>
            <a:r>
              <a:rPr lang="en-US" sz="2400" dirty="0"/>
              <a:t>a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digital</a:t>
            </a:r>
            <a:r>
              <a:rPr lang="en-US" sz="2400" dirty="0"/>
              <a:t>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signal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 </a:t>
            </a:r>
            <a:r>
              <a:rPr lang="en-US" sz="2400" dirty="0"/>
              <a:t>can be encoded as a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positive</a:t>
            </a:r>
            <a:r>
              <a:rPr lang="en-US" sz="2400" dirty="0"/>
              <a:t> voltage and </a:t>
            </a:r>
            <a:r>
              <a:rPr lang="en-US" sz="2400" dirty="0" smtClean="0"/>
              <a:t>a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</a:t>
            </a:r>
            <a:r>
              <a:rPr lang="en-US" sz="2400" dirty="0" smtClean="0"/>
              <a:t> </a:t>
            </a:r>
            <a:r>
              <a:rPr lang="en-US" sz="2400" dirty="0"/>
              <a:t>as </a:t>
            </a:r>
            <a:r>
              <a:rPr lang="en-US" sz="20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zero</a:t>
            </a:r>
            <a:r>
              <a:rPr lang="en-US" sz="2400" dirty="0"/>
              <a:t> voltage.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05200"/>
            <a:ext cx="6961456" cy="213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70256" y="2981980"/>
            <a:ext cx="670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cap="small" dirty="0" smtClean="0">
                <a:solidFill>
                  <a:srgbClr val="00B0F0"/>
                </a:solidFill>
                <a:effectLst/>
              </a:rPr>
              <a:t>A digital signal can have more than two levels</a:t>
            </a:r>
            <a:endParaRPr lang="en-US" sz="2800" cap="small" dirty="0">
              <a:solidFill>
                <a:srgbClr val="00B0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7958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Digital Signals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076040"/>
            <a:ext cx="7391400" cy="27737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 smtClean="0"/>
              <a:t> of 32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65781" y="3407125"/>
            <a:ext cx="71628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In general, if a signal has </a:t>
            </a:r>
            <a:r>
              <a:rPr lang="en-US" sz="2400" i="1" dirty="0">
                <a:solidFill>
                  <a:srgbClr val="FF0000"/>
                </a:solidFill>
              </a:rPr>
              <a:t>L </a:t>
            </a:r>
            <a:r>
              <a:rPr lang="en-US" sz="2400" dirty="0">
                <a:solidFill>
                  <a:srgbClr val="FF0000"/>
                </a:solidFill>
              </a:rPr>
              <a:t>levels</a:t>
            </a:r>
            <a:r>
              <a:rPr lang="en-US" sz="2400" dirty="0"/>
              <a:t>, each level needs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log</a:t>
            </a:r>
            <a:r>
              <a:rPr lang="en-US" sz="2400" baseline="-25000" dirty="0" smtClean="0">
                <a:solidFill>
                  <a:srgbClr val="FF0000"/>
                </a:solidFill>
              </a:rPr>
              <a:t>2</a:t>
            </a:r>
            <a:r>
              <a:rPr lang="en-US" sz="2400" i="1" dirty="0" smtClean="0">
                <a:solidFill>
                  <a:srgbClr val="FF0000"/>
                </a:solidFill>
              </a:rPr>
              <a:t>L</a:t>
            </a:r>
            <a:r>
              <a:rPr lang="en-US" sz="2400" i="1" dirty="0" smtClean="0"/>
              <a:t> </a:t>
            </a:r>
            <a:r>
              <a:rPr lang="en-US" sz="2400" dirty="0"/>
              <a:t>bits. For this reason, we can send </a:t>
            </a:r>
            <a:r>
              <a:rPr lang="en-US" sz="2400" dirty="0">
                <a:solidFill>
                  <a:srgbClr val="FF0000"/>
                </a:solidFill>
              </a:rPr>
              <a:t>log</a:t>
            </a:r>
            <a:r>
              <a:rPr lang="en-US" sz="2400" baseline="-25000" dirty="0">
                <a:solidFill>
                  <a:srgbClr val="FF0000"/>
                </a:solidFill>
              </a:rPr>
              <a:t>2</a:t>
            </a:r>
            <a:r>
              <a:rPr lang="en-US" sz="2400" dirty="0">
                <a:solidFill>
                  <a:srgbClr val="FF0000"/>
                </a:solidFill>
              </a:rPr>
              <a:t>4 = 2 </a:t>
            </a:r>
            <a:r>
              <a:rPr lang="en-US" sz="2400" dirty="0"/>
              <a:t>bits in part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67" y="4851215"/>
            <a:ext cx="8282233" cy="98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Bit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757685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bit rate </a:t>
            </a:r>
            <a:r>
              <a:rPr lang="en-US" sz="2400" dirty="0"/>
              <a:t>is the number of bits sent in 1s, expressed in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bits </a:t>
            </a:r>
            <a:r>
              <a:rPr lang="en-US" sz="24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per second </a:t>
            </a:r>
            <a:r>
              <a:rPr lang="en-US" sz="24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(bps</a:t>
            </a:r>
            <a:r>
              <a:rPr lang="en-US" sz="2400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)</a:t>
            </a:r>
          </a:p>
          <a:p>
            <a:r>
              <a:rPr lang="en-US" sz="2400" dirty="0" smtClean="0"/>
              <a:t>bit </a:t>
            </a:r>
            <a:r>
              <a:rPr lang="en-US" sz="2400" dirty="0"/>
              <a:t>rate (instead of frequency)—is used to </a:t>
            </a:r>
            <a:r>
              <a:rPr lang="en-US" sz="2400" dirty="0" smtClean="0"/>
              <a:t>describe digital </a:t>
            </a:r>
            <a:r>
              <a:rPr lang="en-US" sz="2400" dirty="0"/>
              <a:t>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03" y="3124200"/>
            <a:ext cx="8588640" cy="24893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67400" y="3505200"/>
            <a:ext cx="1981200" cy="381000"/>
          </a:xfrm>
          <a:prstGeom prst="rect">
            <a:avLst/>
          </a:prstGeom>
          <a:solidFill>
            <a:srgbClr val="FFFF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09588" y="4510280"/>
            <a:ext cx="2419611" cy="381000"/>
          </a:xfrm>
          <a:prstGeom prst="rect">
            <a:avLst/>
          </a:prstGeom>
          <a:solidFill>
            <a:srgbClr val="FFFF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4868315"/>
            <a:ext cx="1371600" cy="304800"/>
          </a:xfrm>
          <a:prstGeom prst="rect">
            <a:avLst/>
          </a:prstGeom>
          <a:solidFill>
            <a:srgbClr val="FFFF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1273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Bit Rate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909" y="1600200"/>
            <a:ext cx="8229600" cy="304893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dirty="0" smtClean="0"/>
              <a:t> of 32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83909" y="3200400"/>
            <a:ext cx="2716491" cy="304334"/>
          </a:xfrm>
          <a:prstGeom prst="round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657783" y="3200400"/>
            <a:ext cx="1590617" cy="304334"/>
          </a:xfrm>
          <a:prstGeom prst="round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161111" y="3200400"/>
            <a:ext cx="1393989" cy="304334"/>
          </a:xfrm>
          <a:prstGeom prst="round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4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cap="small" dirty="0"/>
              <a:t>Digital Signal as a Composite Analog Signal</a:t>
            </a:r>
            <a:endParaRPr lang="en-US" sz="3600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digital signal is a </a:t>
            </a:r>
            <a:r>
              <a:rPr lang="en-US" sz="2400" b="1" dirty="0">
                <a:solidFill>
                  <a:srgbClr val="FF0000"/>
                </a:solidFill>
              </a:rPr>
              <a:t>composite analog </a:t>
            </a:r>
            <a:r>
              <a:rPr lang="en-US" sz="2400" b="1" dirty="0" smtClean="0">
                <a:solidFill>
                  <a:srgbClr val="FF0000"/>
                </a:solidFill>
              </a:rPr>
              <a:t>signal</a:t>
            </a:r>
            <a:r>
              <a:rPr lang="en-US" sz="2400" dirty="0" smtClean="0"/>
              <a:t>.</a:t>
            </a:r>
          </a:p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bandwidth is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infinite.</a:t>
            </a:r>
          </a:p>
          <a:p>
            <a:r>
              <a:rPr lang="en-US" sz="2400" dirty="0"/>
              <a:t>A digital signal, in the time </a:t>
            </a:r>
            <a:r>
              <a:rPr lang="en-US" sz="2400" dirty="0" smtClean="0"/>
              <a:t>domain, comprises </a:t>
            </a:r>
            <a:r>
              <a:rPr lang="en-US" sz="2400" dirty="0"/>
              <a:t>connected vertical and horizontal line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00400"/>
            <a:ext cx="2971800" cy="1572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3505200"/>
            <a:ext cx="6096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vertical line in the </a:t>
            </a:r>
            <a:r>
              <a:rPr lang="en-US" sz="2400" dirty="0" smtClean="0"/>
              <a:t>time domain </a:t>
            </a:r>
            <a:r>
              <a:rPr lang="en-US" sz="2400" dirty="0"/>
              <a:t>means a frequency of infinity </a:t>
            </a:r>
            <a:r>
              <a:rPr lang="en-US" sz="2400" b="1" dirty="0">
                <a:solidFill>
                  <a:srgbClr val="FF0000"/>
                </a:solidFill>
              </a:rPr>
              <a:t>(sudden change in </a:t>
            </a:r>
            <a:r>
              <a:rPr lang="en-US" sz="2400" b="1" dirty="0" smtClean="0">
                <a:solidFill>
                  <a:srgbClr val="FF0000"/>
                </a:solidFill>
              </a:rPr>
              <a:t>time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;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/>
              <a:t>horizontal line in </a:t>
            </a:r>
            <a:r>
              <a:rPr lang="en-US" sz="2400" dirty="0" smtClean="0"/>
              <a:t>the time </a:t>
            </a:r>
            <a:r>
              <a:rPr lang="en-US" sz="2400" dirty="0"/>
              <a:t>domain means a frequency of zero </a:t>
            </a:r>
            <a:r>
              <a:rPr lang="en-US" sz="2400" b="1" dirty="0">
                <a:solidFill>
                  <a:srgbClr val="FF0000"/>
                </a:solidFill>
              </a:rPr>
              <a:t>(no change in time)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Going </a:t>
            </a:r>
            <a:r>
              <a:rPr lang="en-US" sz="2400" dirty="0"/>
              <a:t>from a frequency </a:t>
            </a:r>
            <a:r>
              <a:rPr lang="en-US" sz="2400" dirty="0" smtClean="0"/>
              <a:t>of zero </a:t>
            </a:r>
            <a:r>
              <a:rPr lang="en-US" sz="2400" dirty="0"/>
              <a:t>to a frequency of infinity (and vice versa) implies all frequencies in between </a:t>
            </a:r>
            <a:r>
              <a:rPr lang="en-US" sz="2400" dirty="0" smtClean="0"/>
              <a:t>are part </a:t>
            </a:r>
            <a:r>
              <a:rPr lang="en-US" sz="2400" dirty="0"/>
              <a:t>of the domain.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98231" y="3322638"/>
            <a:ext cx="612169" cy="182562"/>
          </a:xfrm>
          <a:prstGeom prst="round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162800" y="3413918"/>
            <a:ext cx="228600" cy="1358745"/>
          </a:xfrm>
          <a:prstGeom prst="round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2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9086"/>
            <a:ext cx="8229600" cy="24119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 smtClean="0"/>
              <a:t> of 32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38150" y="2514600"/>
            <a:ext cx="84772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the digital signal </a:t>
            </a:r>
            <a:r>
              <a:rPr lang="en-US" sz="2400" dirty="0" smtClean="0"/>
              <a:t>is periodic</a:t>
            </a:r>
            <a:r>
              <a:rPr lang="en-US" sz="2400" dirty="0"/>
              <a:t>, which is rare in data communications, the decomposed signal has a </a:t>
            </a:r>
            <a:r>
              <a:rPr lang="en-US" sz="2400" dirty="0" smtClean="0"/>
              <a:t>frequency domain representation </a:t>
            </a:r>
            <a:r>
              <a:rPr lang="en-US" sz="2400" dirty="0"/>
              <a:t>with an infinite bandwidth and discrete </a:t>
            </a:r>
            <a:r>
              <a:rPr lang="en-US" sz="2400" dirty="0" smtClean="0"/>
              <a:t>frequencies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the </a:t>
            </a:r>
            <a:r>
              <a:rPr lang="en-US" sz="2400" dirty="0" smtClean="0"/>
              <a:t>digital signal </a:t>
            </a:r>
            <a:r>
              <a:rPr lang="en-US" sz="2400" dirty="0"/>
              <a:t>is </a:t>
            </a:r>
            <a:r>
              <a:rPr lang="en-US" sz="2400" dirty="0" smtClean="0"/>
              <a:t>non-periodic</a:t>
            </a:r>
            <a:r>
              <a:rPr lang="en-US" sz="2400" dirty="0"/>
              <a:t>, the decomposed signal still has an infinite bandwidth, but the </a:t>
            </a:r>
            <a:r>
              <a:rPr lang="en-US" sz="2400" dirty="0" smtClean="0"/>
              <a:t>frequencies are </a:t>
            </a:r>
            <a:r>
              <a:rPr lang="en-US" sz="2400" dirty="0"/>
              <a:t>continuous.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926544"/>
            <a:ext cx="8503920" cy="192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9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Transmission of Digital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fundamental question is,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</a:t>
            </a:r>
            <a:r>
              <a:rPr lang="en-US" sz="28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we send a digital signal from point A to point B?</a:t>
            </a:r>
          </a:p>
          <a:p>
            <a:pPr lvl="1"/>
            <a:r>
              <a:rPr lang="en-US" dirty="0" smtClean="0"/>
              <a:t>…a </a:t>
            </a:r>
            <a:r>
              <a:rPr lang="en-US" dirty="0"/>
              <a:t>digital signal by </a:t>
            </a:r>
            <a:r>
              <a:rPr lang="en-US" dirty="0" smtClean="0"/>
              <a:t>using one </a:t>
            </a:r>
            <a:r>
              <a:rPr lang="en-US" dirty="0"/>
              <a:t>of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en-US" dirty="0"/>
              <a:t>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</a:t>
            </a:r>
            <a:r>
              <a:rPr lang="en-US" dirty="0"/>
              <a:t> </a:t>
            </a: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approaches</a:t>
            </a:r>
            <a:r>
              <a:rPr lang="en-US" dirty="0"/>
              <a:t>: 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baseband</a:t>
            </a:r>
            <a:r>
              <a:rPr lang="en-US" b="1" dirty="0" smtClean="0"/>
              <a:t> </a:t>
            </a:r>
            <a:r>
              <a:rPr lang="en-US" b="1" dirty="0"/>
              <a:t>transmission or </a:t>
            </a:r>
            <a:endParaRPr lang="en-US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broadband</a:t>
            </a:r>
            <a:r>
              <a:rPr lang="en-US" b="1" dirty="0" smtClean="0"/>
              <a:t> transmission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0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Transmission of Digital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Baseband</a:t>
            </a:r>
            <a:r>
              <a:rPr lang="en-US" sz="2800" b="1" i="1" dirty="0" smtClean="0"/>
              <a:t> </a:t>
            </a:r>
            <a:r>
              <a:rPr lang="en-US" sz="28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Transmission</a:t>
            </a:r>
          </a:p>
          <a:p>
            <a:pPr lvl="1"/>
            <a:r>
              <a:rPr lang="en-US" dirty="0"/>
              <a:t>Baseband transmission means </a:t>
            </a:r>
            <a:r>
              <a:rPr lang="en-US" dirty="0">
                <a:solidFill>
                  <a:srgbClr val="00B0F0"/>
                </a:solidFill>
              </a:rPr>
              <a:t>sending a digital signal</a:t>
            </a:r>
            <a:r>
              <a:rPr lang="en-US" dirty="0"/>
              <a:t> over a channel </a:t>
            </a:r>
            <a:r>
              <a:rPr lang="en-US" dirty="0">
                <a:solidFill>
                  <a:srgbClr val="00B0F0"/>
                </a:solidFill>
              </a:rPr>
              <a:t>without</a:t>
            </a:r>
            <a:r>
              <a:rPr lang="en-US" dirty="0"/>
              <a:t> </a:t>
            </a:r>
            <a:r>
              <a:rPr lang="en-US" dirty="0" smtClean="0">
                <a:solidFill>
                  <a:srgbClr val="00B0F0"/>
                </a:solidFill>
              </a:rPr>
              <a:t>changing</a:t>
            </a:r>
            <a:r>
              <a:rPr lang="en-US" dirty="0" smtClean="0"/>
              <a:t> the </a:t>
            </a:r>
            <a:r>
              <a:rPr lang="en-US" dirty="0"/>
              <a:t>digital signal to an analog signal.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07" y="3865538"/>
            <a:ext cx="5349386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0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4572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dirty="0"/>
              <a:t>Baseband </a:t>
            </a:r>
            <a:r>
              <a:rPr lang="en-US" sz="2800" b="1" u="sng" dirty="0">
                <a:solidFill>
                  <a:srgbClr val="FF0000"/>
                </a:solidFill>
              </a:rPr>
              <a:t>transmission requires </a:t>
            </a:r>
            <a:r>
              <a:rPr lang="en-US" sz="2800" dirty="0" smtClean="0"/>
              <a:t>: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we have a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low-pass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</a:t>
            </a:r>
            <a:r>
              <a:rPr lang="en-US" dirty="0"/>
              <a:t>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</a:t>
            </a:r>
            <a:r>
              <a:rPr lang="en-US" dirty="0"/>
              <a:t>channel </a:t>
            </a:r>
            <a:r>
              <a:rPr lang="en-US" dirty="0" smtClean="0"/>
              <a:t>with a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bandwidth</a:t>
            </a:r>
            <a:r>
              <a:rPr lang="en-US" dirty="0"/>
              <a:t> that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starts</a:t>
            </a:r>
            <a:r>
              <a:rPr lang="en-US" dirty="0"/>
              <a:t> from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is the case if we have a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dedicated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medium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 smtClean="0"/>
              <a:t>with a </a:t>
            </a:r>
            <a:r>
              <a:rPr lang="en-US" dirty="0"/>
              <a:t>bandwidth constituting only one channel. </a:t>
            </a:r>
            <a:endParaRPr lang="en-US" dirty="0" smtClean="0"/>
          </a:p>
          <a:p>
            <a:pPr lvl="2"/>
            <a:r>
              <a:rPr lang="en-US" dirty="0" smtClean="0"/>
              <a:t>For </a:t>
            </a:r>
            <a:r>
              <a:rPr lang="en-US" dirty="0"/>
              <a:t>example, the entire bandwidth of </a:t>
            </a:r>
            <a:r>
              <a:rPr lang="en-US" dirty="0" smtClean="0"/>
              <a:t>a cable </a:t>
            </a:r>
            <a:r>
              <a:rPr lang="en-US" dirty="0"/>
              <a:t>connecting </a:t>
            </a:r>
            <a:r>
              <a:rPr lang="en-US" dirty="0">
                <a:solidFill>
                  <a:srgbClr val="00B0F0"/>
                </a:solidFill>
              </a:rPr>
              <a:t>two computers is one single channel</a:t>
            </a:r>
            <a:r>
              <a:rPr lang="en-US" dirty="0"/>
              <a:t>. </a:t>
            </a:r>
            <a:endParaRPr lang="en-US" dirty="0" smtClean="0"/>
          </a:p>
          <a:p>
            <a:pPr lvl="2"/>
            <a:r>
              <a:rPr lang="en-US" dirty="0" smtClean="0"/>
              <a:t>As </a:t>
            </a:r>
            <a:r>
              <a:rPr lang="en-US" dirty="0"/>
              <a:t>another example, we </a:t>
            </a:r>
            <a:r>
              <a:rPr lang="en-US" dirty="0" smtClean="0"/>
              <a:t>may connect </a:t>
            </a:r>
            <a:r>
              <a:rPr lang="en-US" dirty="0">
                <a:solidFill>
                  <a:srgbClr val="00B0F0"/>
                </a:solidFill>
              </a:rPr>
              <a:t>several computers to a bus</a:t>
            </a:r>
            <a:r>
              <a:rPr lang="en-US" dirty="0"/>
              <a:t>, but </a:t>
            </a:r>
            <a:r>
              <a:rPr lang="en-US" dirty="0">
                <a:solidFill>
                  <a:srgbClr val="00B0F0"/>
                </a:solidFill>
              </a:rPr>
              <a:t>not allow </a:t>
            </a:r>
            <a:r>
              <a:rPr lang="en-US" dirty="0"/>
              <a:t>more than two stations to </a:t>
            </a:r>
            <a:r>
              <a:rPr lang="en-US" dirty="0" smtClean="0"/>
              <a:t>communicate at </a:t>
            </a:r>
            <a:r>
              <a:rPr lang="en-US" dirty="0"/>
              <a:t>a time.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1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743200"/>
            <a:ext cx="5440680" cy="22081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81200" y="1066800"/>
            <a:ext cx="4610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cap="small" dirty="0"/>
              <a:t>Case 1: Low-Pass Channel with Wide Bandwidth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81200" y="1436132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cap="small" dirty="0"/>
              <a:t>Case 2: Low-Pass Channel with Limited Bandwidth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13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cap="small" dirty="0"/>
              <a:t>Case 1: Low-Pass Channel with Wide Bandwidth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390240"/>
            <a:ext cx="8229600" cy="30098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 dirty="0" smtClean="0"/>
              <a:t> of 32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05000" y="4648200"/>
            <a:ext cx="5715000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Note that </a:t>
            </a:r>
            <a:endParaRPr lang="en-US" sz="2800" dirty="0" smtClean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Times-Roman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i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Italic"/>
              </a:rPr>
              <a:t>f</a:t>
            </a:r>
            <a:r>
              <a:rPr lang="en-US" sz="20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1 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is close to zero, and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i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Italic"/>
              </a:rPr>
              <a:t>f</a:t>
            </a:r>
            <a:r>
              <a:rPr lang="en-US" sz="20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2 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is very high</a:t>
            </a:r>
            <a:endParaRPr lang="en-US" sz="2800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099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cap="small" dirty="0"/>
              <a:t>Case 2: Low-Pass Channel with Limited Bandwidth</a:t>
            </a:r>
            <a:endParaRPr lang="en-US" sz="2800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low-pass channel with limited bandwidth,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u="sng" dirty="0" smtClean="0">
                <a:solidFill>
                  <a:srgbClr val="FF0000"/>
                </a:solidFill>
              </a:rPr>
              <a:t>we </a:t>
            </a:r>
            <a:r>
              <a:rPr lang="en-US" sz="2400" b="1" u="sng" dirty="0">
                <a:solidFill>
                  <a:srgbClr val="FF0000"/>
                </a:solidFill>
              </a:rPr>
              <a:t>approximate the digital signal </a:t>
            </a:r>
            <a:r>
              <a:rPr lang="en-US" sz="2400" b="1" u="sng" dirty="0" smtClean="0">
                <a:solidFill>
                  <a:srgbClr val="FF0000"/>
                </a:solidFill>
              </a:rPr>
              <a:t>with an </a:t>
            </a:r>
            <a:r>
              <a:rPr lang="en-US" sz="2400" b="1" u="sng" dirty="0">
                <a:solidFill>
                  <a:srgbClr val="FF0000"/>
                </a:solidFill>
              </a:rPr>
              <a:t>analog signal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level of approximation depends on the bandwidth </a:t>
            </a:r>
            <a:r>
              <a:rPr lang="en-US" sz="2400" dirty="0" smtClean="0"/>
              <a:t>available.</a:t>
            </a:r>
          </a:p>
          <a:p>
            <a:endParaRPr lang="en-US" sz="2400" dirty="0"/>
          </a:p>
          <a:p>
            <a:r>
              <a:rPr lang="en-US" sz="2400" dirty="0"/>
              <a:t>Let us assume that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we </a:t>
            </a:r>
            <a:r>
              <a:rPr lang="en-US" sz="2400" dirty="0"/>
              <a:t>have a digital signal of </a:t>
            </a:r>
            <a:r>
              <a:rPr lang="en-US" sz="2400" dirty="0">
                <a:solidFill>
                  <a:srgbClr val="FF0000"/>
                </a:solidFill>
              </a:rPr>
              <a:t>bit rate </a:t>
            </a:r>
            <a:r>
              <a:rPr lang="en-US" sz="2400" i="1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…</a:t>
            </a:r>
            <a:r>
              <a:rPr lang="en-US" sz="2400" b="1" u="sng" dirty="0" smtClean="0">
                <a:solidFill>
                  <a:srgbClr val="FF0000"/>
                </a:solidFill>
              </a:rPr>
              <a:t>the </a:t>
            </a:r>
            <a:r>
              <a:rPr lang="en-US" sz="2400" b="1" u="sng" dirty="0">
                <a:solidFill>
                  <a:srgbClr val="FF0000"/>
                </a:solidFill>
              </a:rPr>
              <a:t>worst case,</a:t>
            </a:r>
            <a:r>
              <a:rPr lang="en-US" sz="2400" dirty="0"/>
              <a:t>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maximum number </a:t>
            </a:r>
            <a:r>
              <a:rPr lang="en-US" sz="2400" dirty="0"/>
              <a:t>of changes in the digital signal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/>
              <a:t>sequence </a:t>
            </a:r>
            <a:r>
              <a:rPr lang="en-US" sz="2400" b="1" u="sng" dirty="0">
                <a:solidFill>
                  <a:srgbClr val="FF0000"/>
                </a:solidFill>
              </a:rPr>
              <a:t>01010101</a:t>
            </a:r>
            <a:r>
              <a:rPr lang="en-US" sz="2400" dirty="0"/>
              <a:t> . . . or </a:t>
            </a: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sequence </a:t>
            </a:r>
            <a:r>
              <a:rPr lang="en-US" sz="2400" b="1" u="sng" dirty="0"/>
              <a:t>10101010</a:t>
            </a:r>
            <a:r>
              <a:rPr lang="en-US" sz="2400" dirty="0"/>
              <a:t>. . . 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76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cap="small" dirty="0"/>
              <a:t>Case 2: Low-Pass Channel with Limited Bandwidth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We need </a:t>
            </a:r>
            <a:r>
              <a:rPr lang="en-US" sz="2400" dirty="0"/>
              <a:t>an analog signal of frequency </a:t>
            </a:r>
            <a:r>
              <a:rPr lang="en-US" sz="2400" b="1" i="1" dirty="0">
                <a:solidFill>
                  <a:srgbClr val="FF0000"/>
                </a:solidFill>
              </a:rPr>
              <a:t>f </a:t>
            </a:r>
            <a:r>
              <a:rPr lang="en-US" sz="2400" b="1" dirty="0">
                <a:solidFill>
                  <a:srgbClr val="FF0000"/>
                </a:solidFill>
              </a:rPr>
              <a:t>= </a:t>
            </a:r>
            <a:r>
              <a:rPr lang="en-US" sz="2400" b="1" i="1" dirty="0">
                <a:solidFill>
                  <a:srgbClr val="FF0000"/>
                </a:solidFill>
              </a:rPr>
              <a:t>N</a:t>
            </a:r>
            <a:r>
              <a:rPr lang="en-US" sz="2400" b="1" dirty="0">
                <a:solidFill>
                  <a:srgbClr val="FF0000"/>
                </a:solidFill>
              </a:rPr>
              <a:t>/2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 smtClean="0"/>
              <a:t>Let,</a:t>
            </a:r>
          </a:p>
          <a:p>
            <a:pPr lvl="1"/>
            <a:r>
              <a:rPr lang="en-US" sz="2400" b="1" dirty="0" smtClean="0">
                <a:solidFill>
                  <a:srgbClr val="FF0000"/>
                </a:solidFill>
              </a:rPr>
              <a:t>1 </a:t>
            </a:r>
            <a:r>
              <a:rPr lang="en-US" sz="2400" b="1" dirty="0">
                <a:solidFill>
                  <a:srgbClr val="FF0000"/>
                </a:solidFill>
              </a:rPr>
              <a:t>be the positive peak</a:t>
            </a:r>
            <a:r>
              <a:rPr lang="en-US" sz="2400" dirty="0"/>
              <a:t> value and </a:t>
            </a:r>
            <a:endParaRPr lang="en-US" sz="2400" dirty="0" smtClean="0"/>
          </a:p>
          <a:p>
            <a:pPr lvl="1"/>
            <a:r>
              <a:rPr lang="en-US" sz="2400" b="1" u="sng" dirty="0" smtClean="0">
                <a:solidFill>
                  <a:srgbClr val="FF0000"/>
                </a:solidFill>
              </a:rPr>
              <a:t>0 </a:t>
            </a:r>
            <a:r>
              <a:rPr lang="en-US" sz="2400" b="1" u="sng" dirty="0">
                <a:solidFill>
                  <a:srgbClr val="FF0000"/>
                </a:solidFill>
              </a:rPr>
              <a:t>be </a:t>
            </a:r>
            <a:r>
              <a:rPr lang="en-US" sz="2400" b="1" u="sng" dirty="0" smtClean="0">
                <a:solidFill>
                  <a:srgbClr val="FF0000"/>
                </a:solidFill>
              </a:rPr>
              <a:t>the negative </a:t>
            </a:r>
            <a:r>
              <a:rPr lang="en-US" sz="2400" b="1" u="sng" dirty="0">
                <a:solidFill>
                  <a:srgbClr val="FF0000"/>
                </a:solidFill>
              </a:rPr>
              <a:t>peak </a:t>
            </a:r>
            <a:r>
              <a:rPr lang="en-US" sz="2400" dirty="0"/>
              <a:t>value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We </a:t>
            </a:r>
            <a:r>
              <a:rPr lang="en-US" sz="2400" b="1" u="sng" dirty="0">
                <a:solidFill>
                  <a:srgbClr val="FF0000"/>
                </a:solidFill>
              </a:rPr>
              <a:t>send 2 bits in each cycle</a:t>
            </a:r>
            <a:r>
              <a:rPr lang="en-US" sz="2400" dirty="0"/>
              <a:t>;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the </a:t>
            </a:r>
            <a:r>
              <a:rPr lang="en-US" sz="2400" dirty="0"/>
              <a:t>frequency of the analog signal </a:t>
            </a:r>
            <a:r>
              <a:rPr lang="en-US" sz="2400" dirty="0" smtClean="0"/>
              <a:t>is one-half </a:t>
            </a:r>
            <a:r>
              <a:rPr lang="en-US" sz="2400" dirty="0"/>
              <a:t>of the bit rate, or </a:t>
            </a:r>
            <a:r>
              <a:rPr lang="en-US" sz="2400" b="1" i="1" u="sng" dirty="0">
                <a:solidFill>
                  <a:srgbClr val="FF0000"/>
                </a:solidFill>
              </a:rPr>
              <a:t>N</a:t>
            </a:r>
            <a:r>
              <a:rPr lang="en-US" sz="2400" b="1" u="sng" dirty="0">
                <a:solidFill>
                  <a:srgbClr val="FF0000"/>
                </a:solidFill>
              </a:rPr>
              <a:t>/2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J</a:t>
            </a:r>
            <a:r>
              <a:rPr lang="en-US" sz="2400" dirty="0" smtClean="0"/>
              <a:t>ust </a:t>
            </a:r>
            <a:r>
              <a:rPr lang="en-US" sz="2400" dirty="0"/>
              <a:t>this one frequency cannot make all </a:t>
            </a:r>
            <a:r>
              <a:rPr lang="en-US" sz="2400" dirty="0" smtClean="0"/>
              <a:t>patterns; </a:t>
            </a:r>
            <a:br>
              <a:rPr lang="en-US" sz="2400" dirty="0" smtClean="0"/>
            </a:br>
            <a:r>
              <a:rPr lang="en-US" sz="2400" dirty="0" smtClean="0"/>
              <a:t>we </a:t>
            </a:r>
            <a:r>
              <a:rPr lang="en-US" sz="2400" dirty="0"/>
              <a:t>need more components. 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 rotWithShape="1">
          <a:blip r:embed="rId2"/>
          <a:srcRect l="13989" t="10946" r="66352" b="68041"/>
          <a:stretch/>
        </p:blipFill>
        <p:spPr>
          <a:xfrm>
            <a:off x="6096000" y="2362200"/>
            <a:ext cx="1828800" cy="138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6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946" b="68041"/>
          <a:stretch/>
        </p:blipFill>
        <p:spPr>
          <a:xfrm>
            <a:off x="-158258" y="1295400"/>
            <a:ext cx="9302258" cy="1389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00367" y="1524000"/>
            <a:ext cx="1628366" cy="1161318"/>
          </a:xfrm>
          <a:prstGeom prst="rect">
            <a:avLst/>
          </a:prstGeom>
          <a:solidFill>
            <a:schemeClr val="accent1">
              <a:alpha val="6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98898" y="1524000"/>
            <a:ext cx="813816" cy="1161318"/>
          </a:xfrm>
          <a:prstGeom prst="rect">
            <a:avLst/>
          </a:prstGeom>
          <a:solidFill>
            <a:srgbClr val="FFFF00">
              <a:alpha val="3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47800" y="2913918"/>
                <a:ext cx="2735044" cy="1151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:1010,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=4 </m:t>
                      </m:r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2913918"/>
                <a:ext cx="2735044" cy="1151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928733" y="1524000"/>
            <a:ext cx="1628366" cy="1161318"/>
          </a:xfrm>
          <a:prstGeom prst="rect">
            <a:avLst/>
          </a:prstGeom>
          <a:solidFill>
            <a:schemeClr val="accent1">
              <a:alpha val="6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928733" y="1524000"/>
            <a:ext cx="813816" cy="1161318"/>
          </a:xfrm>
          <a:prstGeom prst="rect">
            <a:avLst/>
          </a:prstGeom>
          <a:solidFill>
            <a:srgbClr val="FFFF00">
              <a:alpha val="3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5098" y="3969"/>
                <a:ext cx="2652521" cy="115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Data:10,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098" y="3969"/>
                <a:ext cx="2652521" cy="1153136"/>
              </a:xfrm>
              <a:prstGeom prst="rect">
                <a:avLst/>
              </a:prstGeom>
              <a:blipFill>
                <a:blip r:embed="rId4"/>
                <a:stretch>
                  <a:fillRect l="-3678" t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8100" y="4351083"/>
                <a:ext cx="906780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cap="small" dirty="0">
                    <a:effectLst>
                      <a:glow rad="228600">
                        <a:schemeClr val="accent2">
                          <a:satMod val="175000"/>
                          <a:alpha val="40000"/>
                        </a:schemeClr>
                      </a:glow>
                    </a:effectLst>
                  </a:rPr>
                  <a:t>the frequency of the analog signal is one-half of the bit rate, or </a:t>
                </a:r>
                <a14:m>
                  <m:oMath xmlns:m="http://schemas.openxmlformats.org/officeDocument/2006/math">
                    <m:r>
                      <a:rPr lang="en-US" sz="2800" i="1" cap="small" dirty="0" smtClean="0">
                        <a:effectLst>
                          <a:glow rad="228600">
                            <a:schemeClr val="accent2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 cap="small" dirty="0" smtClean="0">
                        <a:effectLst>
                          <a:glow rad="228600">
                            <a:schemeClr val="accent2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2800" cap="small" dirty="0"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" y="4351083"/>
                <a:ext cx="9067800" cy="954107"/>
              </a:xfrm>
              <a:prstGeom prst="rect">
                <a:avLst/>
              </a:prstGeom>
              <a:blipFill>
                <a:blip r:embed="rId5"/>
                <a:stretch>
                  <a:fillRect l="-2487" t="-18590" b="-30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97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/>
      <p:bldP spid="11" grpId="0" animBg="1"/>
      <p:bldP spid="12" grpId="0" animBg="1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cap="small" dirty="0"/>
              <a:t>Case 2: Low-Pass Channel with Limited Bandwidth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Just </a:t>
            </a:r>
            <a:r>
              <a:rPr lang="en-US" sz="2400" dirty="0"/>
              <a:t>this one frequency cannot make all </a:t>
            </a:r>
            <a:r>
              <a:rPr lang="en-US" sz="2400" dirty="0" smtClean="0"/>
              <a:t>patterns; </a:t>
            </a:r>
            <a:br>
              <a:rPr lang="en-US" sz="2400" dirty="0" smtClean="0"/>
            </a:br>
            <a:r>
              <a:rPr lang="en-US" sz="2400" dirty="0" smtClean="0"/>
              <a:t>we </a:t>
            </a:r>
            <a:r>
              <a:rPr lang="en-US" sz="2400" dirty="0"/>
              <a:t>need more components.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maximum frequency is </a:t>
            </a:r>
            <a:r>
              <a:rPr lang="en-US" sz="2400" i="1" dirty="0"/>
              <a:t>N</a:t>
            </a:r>
            <a:r>
              <a:rPr lang="en-US" sz="2400" dirty="0"/>
              <a:t>/2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600" dirty="0"/>
              <a:t>let us see how a digital signal with a </a:t>
            </a:r>
            <a:r>
              <a:rPr lang="en-US" sz="2600" dirty="0">
                <a:solidFill>
                  <a:srgbClr val="00B0F0"/>
                </a:solidFill>
              </a:rPr>
              <a:t>3-bit pattern </a:t>
            </a:r>
            <a:r>
              <a:rPr lang="en-US" sz="2600" dirty="0"/>
              <a:t>can be simulated by using </a:t>
            </a:r>
            <a:r>
              <a:rPr lang="en-US" sz="2600" dirty="0" smtClean="0"/>
              <a:t>analog signals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r>
              <a:rPr lang="en-US" dirty="0" smtClean="0"/>
              <a:t> of 32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200400" y="4038600"/>
            <a:ext cx="1647293" cy="1815882"/>
            <a:chOff x="2362200" y="4648200"/>
            <a:chExt cx="1647293" cy="1815882"/>
          </a:xfrm>
        </p:grpSpPr>
        <p:sp>
          <p:nvSpPr>
            <p:cNvPr id="5" name="TextBox 4"/>
            <p:cNvSpPr txBox="1"/>
            <p:nvPr/>
          </p:nvSpPr>
          <p:spPr>
            <a:xfrm>
              <a:off x="3276600" y="4648200"/>
              <a:ext cx="732893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B0F0"/>
                  </a:solidFill>
                </a:rPr>
                <a:t>1</a:t>
              </a:r>
              <a:r>
                <a:rPr lang="en-US" sz="2800" dirty="0" smtClean="0">
                  <a:solidFill>
                    <a:srgbClr val="00B0F0"/>
                  </a:solidFill>
                </a:rPr>
                <a:t>00</a:t>
              </a:r>
            </a:p>
            <a:p>
              <a:r>
                <a:rPr lang="en-US" sz="2800" dirty="0">
                  <a:solidFill>
                    <a:srgbClr val="00B0F0"/>
                  </a:solidFill>
                </a:rPr>
                <a:t>1</a:t>
              </a:r>
              <a:r>
                <a:rPr lang="en-US" sz="2800" dirty="0" smtClean="0">
                  <a:solidFill>
                    <a:srgbClr val="00B0F0"/>
                  </a:solidFill>
                </a:rPr>
                <a:t>01</a:t>
              </a:r>
            </a:p>
            <a:p>
              <a:r>
                <a:rPr lang="en-US" sz="2800" dirty="0">
                  <a:solidFill>
                    <a:srgbClr val="00B0F0"/>
                  </a:solidFill>
                </a:rPr>
                <a:t>1</a:t>
              </a:r>
              <a:r>
                <a:rPr lang="en-US" sz="2800" dirty="0" smtClean="0">
                  <a:solidFill>
                    <a:srgbClr val="00B0F0"/>
                  </a:solidFill>
                </a:rPr>
                <a:t>10</a:t>
              </a:r>
            </a:p>
            <a:p>
              <a:r>
                <a:rPr lang="en-US" sz="2800" dirty="0">
                  <a:solidFill>
                    <a:srgbClr val="00B0F0"/>
                  </a:solidFill>
                </a:rPr>
                <a:t>1</a:t>
              </a:r>
              <a:r>
                <a:rPr lang="en-US" sz="2800" dirty="0" smtClean="0">
                  <a:solidFill>
                    <a:srgbClr val="00B0F0"/>
                  </a:solidFill>
                </a:rPr>
                <a:t>11</a:t>
              </a:r>
              <a:endParaRPr lang="en-US" sz="2800" dirty="0">
                <a:solidFill>
                  <a:srgbClr val="00B0F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362200" y="4648200"/>
              <a:ext cx="732893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rgbClr val="00B0F0"/>
                  </a:solidFill>
                </a:rPr>
                <a:t>000</a:t>
              </a:r>
            </a:p>
            <a:p>
              <a:r>
                <a:rPr lang="en-US" sz="2800" dirty="0" smtClean="0">
                  <a:solidFill>
                    <a:srgbClr val="00B0F0"/>
                  </a:solidFill>
                </a:rPr>
                <a:t>001</a:t>
              </a:r>
            </a:p>
            <a:p>
              <a:r>
                <a:rPr lang="en-US" sz="2800" dirty="0" smtClean="0">
                  <a:solidFill>
                    <a:srgbClr val="00B0F0"/>
                  </a:solidFill>
                </a:rPr>
                <a:t>010</a:t>
              </a:r>
            </a:p>
            <a:p>
              <a:r>
                <a:rPr lang="en-US" sz="2800" dirty="0" smtClean="0">
                  <a:solidFill>
                    <a:srgbClr val="00B0F0"/>
                  </a:solidFill>
                </a:rPr>
                <a:t>011</a:t>
              </a:r>
              <a:endParaRPr lang="en-US" sz="2800" dirty="0">
                <a:solidFill>
                  <a:srgbClr val="00B0F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804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6623"/>
          <a:stretch/>
        </p:blipFill>
        <p:spPr>
          <a:xfrm>
            <a:off x="685800" y="533400"/>
            <a:ext cx="4209854" cy="52886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r>
              <a:rPr lang="en-US" dirty="0" smtClean="0"/>
              <a:t> of 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t="10946"/>
          <a:stretch/>
        </p:blipFill>
        <p:spPr>
          <a:xfrm>
            <a:off x="5151044" y="1981200"/>
            <a:ext cx="4211610" cy="2667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76492"/>
          <a:stretch/>
        </p:blipFill>
        <p:spPr>
          <a:xfrm>
            <a:off x="4648200" y="562238"/>
            <a:ext cx="4206240" cy="525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2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272" r="53351"/>
          <a:stretch/>
        </p:blipFill>
        <p:spPr>
          <a:xfrm>
            <a:off x="685800" y="533400"/>
            <a:ext cx="4209854" cy="52886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r>
              <a:rPr lang="en-US" dirty="0" smtClean="0"/>
              <a:t> of 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t="10946"/>
          <a:stretch/>
        </p:blipFill>
        <p:spPr>
          <a:xfrm>
            <a:off x="5151044" y="1981200"/>
            <a:ext cx="4211610" cy="2667000"/>
          </a:xfrm>
          <a:prstGeom prst="rect">
            <a:avLst/>
          </a:prstGeom>
        </p:spPr>
      </p:pic>
      <p:sp>
        <p:nvSpPr>
          <p:cNvPr id="2" name="Freeform 1"/>
          <p:cNvSpPr/>
          <p:nvPr/>
        </p:nvSpPr>
        <p:spPr>
          <a:xfrm>
            <a:off x="1706252" y="3949750"/>
            <a:ext cx="2858721" cy="754259"/>
          </a:xfrm>
          <a:custGeom>
            <a:avLst/>
            <a:gdLst>
              <a:gd name="connsiteX0" fmla="*/ 0 w 2858721"/>
              <a:gd name="connsiteY0" fmla="*/ 339446 h 754259"/>
              <a:gd name="connsiteX1" fmla="*/ 688156 w 2858721"/>
              <a:gd name="connsiteY1" fmla="*/ 754225 h 754259"/>
              <a:gd name="connsiteX2" fmla="*/ 1489435 w 2858721"/>
              <a:gd name="connsiteY2" fmla="*/ 320592 h 754259"/>
              <a:gd name="connsiteX3" fmla="*/ 2187018 w 2858721"/>
              <a:gd name="connsiteY3" fmla="*/ 81 h 754259"/>
              <a:gd name="connsiteX4" fmla="*/ 2799760 w 2858721"/>
              <a:gd name="connsiteY4" fmla="*/ 348873 h 754259"/>
              <a:gd name="connsiteX5" fmla="*/ 2799760 w 2858721"/>
              <a:gd name="connsiteY5" fmla="*/ 339446 h 75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8721" h="754259">
                <a:moveTo>
                  <a:pt x="0" y="339446"/>
                </a:moveTo>
                <a:cubicBezTo>
                  <a:pt x="219958" y="548406"/>
                  <a:pt x="439917" y="757367"/>
                  <a:pt x="688156" y="754225"/>
                </a:cubicBezTo>
                <a:cubicBezTo>
                  <a:pt x="936395" y="751083"/>
                  <a:pt x="1239625" y="446283"/>
                  <a:pt x="1489435" y="320592"/>
                </a:cubicBezTo>
                <a:cubicBezTo>
                  <a:pt x="1739245" y="194901"/>
                  <a:pt x="1968631" y="-4632"/>
                  <a:pt x="2187018" y="81"/>
                </a:cubicBezTo>
                <a:cubicBezTo>
                  <a:pt x="2405405" y="4794"/>
                  <a:pt x="2697636" y="292312"/>
                  <a:pt x="2799760" y="348873"/>
                </a:cubicBezTo>
                <a:cubicBezTo>
                  <a:pt x="2901884" y="405434"/>
                  <a:pt x="2850822" y="372440"/>
                  <a:pt x="2799760" y="339446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58000" y="101931"/>
                <a:ext cx="2020425" cy="115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&lt;1 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101931"/>
                <a:ext cx="2020425" cy="1153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81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animBg="1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930" r="26693"/>
          <a:stretch/>
        </p:blipFill>
        <p:spPr>
          <a:xfrm>
            <a:off x="685800" y="533400"/>
            <a:ext cx="4209854" cy="52886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r>
              <a:rPr lang="en-US" dirty="0" smtClean="0"/>
              <a:t> of 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t="10946"/>
          <a:stretch/>
        </p:blipFill>
        <p:spPr>
          <a:xfrm>
            <a:off x="5151044" y="1981200"/>
            <a:ext cx="4211610" cy="2667000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 rot="10800000" flipH="1">
            <a:off x="3101642" y="3810000"/>
            <a:ext cx="1921707" cy="934044"/>
          </a:xfrm>
          <a:custGeom>
            <a:avLst/>
            <a:gdLst>
              <a:gd name="connsiteX0" fmla="*/ 0 w 1921707"/>
              <a:gd name="connsiteY0" fmla="*/ 508544 h 934044"/>
              <a:gd name="connsiteX1" fmla="*/ 391187 w 1921707"/>
              <a:gd name="connsiteY1" fmla="*/ 19560 h 934044"/>
              <a:gd name="connsiteX2" fmla="*/ 787264 w 1921707"/>
              <a:gd name="connsiteY2" fmla="*/ 503654 h 934044"/>
              <a:gd name="connsiteX3" fmla="*/ 1144222 w 1921707"/>
              <a:gd name="connsiteY3" fmla="*/ 933960 h 934044"/>
              <a:gd name="connsiteX4" fmla="*/ 1535409 w 1921707"/>
              <a:gd name="connsiteY4" fmla="*/ 469425 h 934044"/>
              <a:gd name="connsiteX5" fmla="*/ 1921707 w 1921707"/>
              <a:gd name="connsiteY5" fmla="*/ 0 h 93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1707" h="934044">
                <a:moveTo>
                  <a:pt x="0" y="508544"/>
                </a:moveTo>
                <a:cubicBezTo>
                  <a:pt x="129988" y="264459"/>
                  <a:pt x="259976" y="20375"/>
                  <a:pt x="391187" y="19560"/>
                </a:cubicBezTo>
                <a:cubicBezTo>
                  <a:pt x="522398" y="18745"/>
                  <a:pt x="787264" y="503654"/>
                  <a:pt x="787264" y="503654"/>
                </a:cubicBezTo>
                <a:cubicBezTo>
                  <a:pt x="912770" y="656054"/>
                  <a:pt x="1019531" y="939665"/>
                  <a:pt x="1144222" y="933960"/>
                </a:cubicBezTo>
                <a:cubicBezTo>
                  <a:pt x="1268913" y="928255"/>
                  <a:pt x="1405828" y="625085"/>
                  <a:pt x="1535409" y="469425"/>
                </a:cubicBezTo>
                <a:cubicBezTo>
                  <a:pt x="1664990" y="313765"/>
                  <a:pt x="1793348" y="156882"/>
                  <a:pt x="1921707" y="0"/>
                </a:cubicBezTo>
              </a:path>
            </a:pathLst>
          </a:cu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8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164" r="459"/>
          <a:stretch/>
        </p:blipFill>
        <p:spPr>
          <a:xfrm>
            <a:off x="685800" y="533400"/>
            <a:ext cx="4209854" cy="52886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r>
              <a:rPr lang="en-US" dirty="0" smtClean="0"/>
              <a:t> of 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044" y="990600"/>
                <a:ext cx="10572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t="10946"/>
          <a:stretch/>
        </p:blipFill>
        <p:spPr>
          <a:xfrm>
            <a:off x="5151044" y="1981200"/>
            <a:ext cx="4211610" cy="2667000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990600" y="3893941"/>
            <a:ext cx="2858721" cy="754259"/>
          </a:xfrm>
          <a:custGeom>
            <a:avLst/>
            <a:gdLst>
              <a:gd name="connsiteX0" fmla="*/ 0 w 2858721"/>
              <a:gd name="connsiteY0" fmla="*/ 339446 h 754259"/>
              <a:gd name="connsiteX1" fmla="*/ 688156 w 2858721"/>
              <a:gd name="connsiteY1" fmla="*/ 754225 h 754259"/>
              <a:gd name="connsiteX2" fmla="*/ 1489435 w 2858721"/>
              <a:gd name="connsiteY2" fmla="*/ 320592 h 754259"/>
              <a:gd name="connsiteX3" fmla="*/ 2187018 w 2858721"/>
              <a:gd name="connsiteY3" fmla="*/ 81 h 754259"/>
              <a:gd name="connsiteX4" fmla="*/ 2799760 w 2858721"/>
              <a:gd name="connsiteY4" fmla="*/ 348873 h 754259"/>
              <a:gd name="connsiteX5" fmla="*/ 2799760 w 2858721"/>
              <a:gd name="connsiteY5" fmla="*/ 339446 h 75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8721" h="754259">
                <a:moveTo>
                  <a:pt x="0" y="339446"/>
                </a:moveTo>
                <a:cubicBezTo>
                  <a:pt x="219958" y="548406"/>
                  <a:pt x="439917" y="757367"/>
                  <a:pt x="688156" y="754225"/>
                </a:cubicBezTo>
                <a:cubicBezTo>
                  <a:pt x="936395" y="751083"/>
                  <a:pt x="1239625" y="446283"/>
                  <a:pt x="1489435" y="320592"/>
                </a:cubicBezTo>
                <a:cubicBezTo>
                  <a:pt x="1739245" y="194901"/>
                  <a:pt x="1968631" y="-4632"/>
                  <a:pt x="2187018" y="81"/>
                </a:cubicBezTo>
                <a:cubicBezTo>
                  <a:pt x="2405405" y="4794"/>
                  <a:pt x="2697636" y="292312"/>
                  <a:pt x="2799760" y="348873"/>
                </a:cubicBezTo>
                <a:cubicBezTo>
                  <a:pt x="2901884" y="405434"/>
                  <a:pt x="2850822" y="372440"/>
                  <a:pt x="2799760" y="339446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2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346" y="609600"/>
            <a:ext cx="8229600" cy="24168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06" y="3200400"/>
            <a:ext cx="8412480" cy="24729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2209800"/>
            <a:ext cx="4642089" cy="24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4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Better Wave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929"/>
            <a:ext cx="8229600" cy="442250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r>
              <a:rPr lang="en-US" dirty="0" smtClean="0"/>
              <a:t> of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04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cap="small" dirty="0"/>
              <a:t>Broadband Transmission (Using Modulation)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118" y="1066800"/>
            <a:ext cx="5143764" cy="132086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r>
              <a:rPr lang="en-US" dirty="0" smtClean="0"/>
              <a:t> of 32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38199"/>
            <a:ext cx="6629741" cy="391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0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31535</TotalTime>
  <Words>876</Words>
  <Application>Microsoft Office PowerPoint</Application>
  <PresentationFormat>On-screen Show (4:3)</PresentationFormat>
  <Paragraphs>144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Cambria Math</vt:lpstr>
      <vt:lpstr>Times New Roman</vt:lpstr>
      <vt:lpstr>Times-Italic</vt:lpstr>
      <vt:lpstr>Times-Roman</vt:lpstr>
      <vt:lpstr>Wingdings</vt:lpstr>
      <vt:lpstr>Office Theme</vt:lpstr>
      <vt:lpstr>PowerPoint Presentation</vt:lpstr>
      <vt:lpstr>Composite Signals</vt:lpstr>
      <vt:lpstr>Composite Signals</vt:lpstr>
      <vt:lpstr>PowerPoint Presentation</vt:lpstr>
      <vt:lpstr>PowerPoint Presentation</vt:lpstr>
      <vt:lpstr>Composite Signals (Non-Periodic)</vt:lpstr>
      <vt:lpstr>Bandwidth</vt:lpstr>
      <vt:lpstr>Bandwidth</vt:lpstr>
      <vt:lpstr>PowerPoint Presentation</vt:lpstr>
      <vt:lpstr>PowerPoint Presentation</vt:lpstr>
      <vt:lpstr>Digital Signals</vt:lpstr>
      <vt:lpstr>Digital Signals</vt:lpstr>
      <vt:lpstr>Bit Rate</vt:lpstr>
      <vt:lpstr>Bit Rate</vt:lpstr>
      <vt:lpstr>Digital Signal as a Composite Analog Signal</vt:lpstr>
      <vt:lpstr>PowerPoint Presentation</vt:lpstr>
      <vt:lpstr>Transmission of Digital Signals</vt:lpstr>
      <vt:lpstr>Transmission of Digital Signals</vt:lpstr>
      <vt:lpstr>PowerPoint Presentation</vt:lpstr>
      <vt:lpstr>PowerPoint Presentation</vt:lpstr>
      <vt:lpstr>Case 1: Low-Pass Channel with Wide Bandwidth</vt:lpstr>
      <vt:lpstr>Case 2: Low-Pass Channel with Limited Bandwidth</vt:lpstr>
      <vt:lpstr>Case 2: Low-Pass Channel with Limited Bandwidth</vt:lpstr>
      <vt:lpstr>PowerPoint Presentation</vt:lpstr>
      <vt:lpstr>Case 2: Low-Pass Channel with Limited Bandwidth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Better Wave</vt:lpstr>
      <vt:lpstr>Broadband Transmission (Using Modulation)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886</cp:revision>
  <cp:lastPrinted>2017-11-05T03:12:43Z</cp:lastPrinted>
  <dcterms:created xsi:type="dcterms:W3CDTF">2006-08-16T00:00:00Z</dcterms:created>
  <dcterms:modified xsi:type="dcterms:W3CDTF">2024-09-19T04:44:44Z</dcterms:modified>
</cp:coreProperties>
</file>