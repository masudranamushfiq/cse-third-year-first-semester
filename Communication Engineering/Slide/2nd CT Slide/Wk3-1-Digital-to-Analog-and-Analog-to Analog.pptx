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3" r:id="rId11"/>
    <p:sldId id="274" r:id="rId12"/>
    <p:sldId id="275" r:id="rId13"/>
    <p:sldId id="276" r:id="rId14"/>
    <p:sldId id="272" r:id="rId15"/>
    <p:sldId id="265" r:id="rId16"/>
    <p:sldId id="266" r:id="rId17"/>
    <p:sldId id="269" r:id="rId18"/>
    <p:sldId id="267" r:id="rId19"/>
    <p:sldId id="270" r:id="rId20"/>
    <p:sldId id="268" r:id="rId21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061" autoAdjust="0"/>
    <p:restoredTop sz="61265" autoAdjust="0"/>
  </p:normalViewPr>
  <p:slideViewPr>
    <p:cSldViewPr>
      <p:cViewPr>
        <p:scale>
          <a:sx n="50" d="100"/>
          <a:sy n="50" d="100"/>
        </p:scale>
        <p:origin x="2104" y="4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77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6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r">
              <a:defRPr sz="1100"/>
            </a:lvl1pPr>
          </a:lstStyle>
          <a:p>
            <a:fld id="{5CAE133A-4028-4E2B-B049-6F148B77E5AB}" type="datetime1">
              <a:rPr lang="en-US" smtClean="0"/>
              <a:t>28-May-25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6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r">
              <a:defRPr sz="1100"/>
            </a:lvl1pPr>
          </a:lstStyle>
          <a:p>
            <a:fld id="{4825AA9F-B079-466D-A19E-A0BED09F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9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r">
              <a:defRPr sz="1200"/>
            </a:lvl1pPr>
          </a:lstStyle>
          <a:p>
            <a:fld id="{A9B5FCE6-2331-4AF4-8362-9D091070A463}" type="datetime1">
              <a:rPr lang="en-US" smtClean="0"/>
              <a:t>28-May-25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2313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701" tIns="43851" rIns="87701" bIns="4385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0"/>
            <a:ext cx="5852160" cy="4320540"/>
          </a:xfrm>
          <a:prstGeom prst="rect">
            <a:avLst/>
          </a:prstGeom>
        </p:spPr>
        <p:txBody>
          <a:bodyPr vert="horz" lIns="87701" tIns="43851" rIns="87701" bIns="4385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r">
              <a:defRPr sz="1200"/>
            </a:lvl1pPr>
          </a:lstStyle>
          <a:p>
            <a:fld id="{7106D8DA-1A55-4414-9F6D-9B871CCC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3332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6D8DA-1A55-4414-9F6D-9B871CCC3BEB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899B3EB-F4B9-4EC3-8874-9456869D1B5F}" type="datetime1">
              <a:rPr lang="en-US" smtClean="0"/>
              <a:t>28-May-25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23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E520-94D8-471E-9246-3DA957E543CE}" type="datetime1">
              <a:rPr lang="en-US" smtClean="0"/>
              <a:t>28-May-25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913C-A7DD-4021-AFBC-947EB765CE4C}" type="datetime1">
              <a:rPr lang="en-US" smtClean="0"/>
              <a:t>28-May-25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64FA-CC1B-47DB-A93A-6B4BBC436045}" type="datetime1">
              <a:rPr lang="en-US" smtClean="0"/>
              <a:t>28-May-25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BA4E8-8C0A-4D25-81B1-03C2082B47D6}" type="datetime1">
              <a:rPr lang="en-US" smtClean="0"/>
              <a:t>28-May-25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D4E8-1CCE-4EFF-A36C-E105DDD56AAD}" type="datetime1">
              <a:rPr lang="en-US" smtClean="0"/>
              <a:t>28-May-25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C7D-1228-46DC-9402-5957496C3C04}" type="datetime1">
              <a:rPr lang="en-US" smtClean="0"/>
              <a:t>28-May-25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4DF6C-52F4-4529-BC53-6E2674900ED7}" type="datetime1">
              <a:rPr lang="en-US" smtClean="0"/>
              <a:t>28-May-25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8FFD2-C90D-4BD9-95AC-D49FE82B0BB0}" type="datetime1">
              <a:rPr lang="en-US" smtClean="0"/>
              <a:t>28-May-25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32C9-888E-4264-AE70-E187E0827B99}" type="datetime1">
              <a:rPr lang="en-US" smtClean="0"/>
              <a:t>28-May-25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A059-0900-46A5-86CD-6CBACA225E83}" type="datetime1">
              <a:rPr lang="en-US" smtClean="0"/>
              <a:t>28-May-25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F0799-E2B8-4119-BEA9-5BBF8CE2B0FA}" type="datetime1">
              <a:rPr lang="en-US" smtClean="0"/>
              <a:t>28-May-25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C945B-C34E-410F-BC8F-BE6BC04FBFD5}" type="datetime1">
              <a:rPr lang="en-US" smtClean="0"/>
              <a:t>28-May-25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19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549" y="4859834"/>
            <a:ext cx="7239000" cy="8309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sz="2800" cap="small" dirty="0"/>
              <a:t>Dr. Asif Zaman</a:t>
            </a:r>
          </a:p>
          <a:p>
            <a:pPr lvl="0" algn="ctr"/>
            <a:r>
              <a:rPr lang="en-US" cap="small" dirty="0" smtClean="0"/>
              <a:t>Professor</a:t>
            </a:r>
            <a:r>
              <a:rPr lang="en-US" cap="small" dirty="0"/>
              <a:t>, CSE, RU</a:t>
            </a:r>
            <a:endParaRPr lang="en-US" sz="1600" cap="small" dirty="0"/>
          </a:p>
        </p:txBody>
      </p:sp>
      <p:sp>
        <p:nvSpPr>
          <p:cNvPr id="6" name="TextBox 5"/>
          <p:cNvSpPr txBox="1"/>
          <p:nvPr/>
        </p:nvSpPr>
        <p:spPr>
          <a:xfrm>
            <a:off x="228598" y="363512"/>
            <a:ext cx="87249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ct val="50000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ICE 3161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50000"/>
            </a:pPr>
            <a:r>
              <a:rPr lang="en-US" sz="40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ENGINEERING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150" y="2477464"/>
            <a:ext cx="1545795" cy="14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96628" y="65049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26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28600"/>
            <a:ext cx="8229600" cy="4525963"/>
          </a:xfrm>
        </p:spPr>
        <p:txBody>
          <a:bodyPr/>
          <a:lstStyle/>
          <a:p>
            <a:r>
              <a:rPr lang="en-US" cap="small" dirty="0" smtClean="0"/>
              <a:t>Digital data to Digital Signal Conversion</a:t>
            </a:r>
          </a:p>
          <a:p>
            <a:r>
              <a:rPr lang="en-US" cap="small" dirty="0" smtClean="0"/>
              <a:t>Analog Signal to Digital Data Conversion</a:t>
            </a:r>
          </a:p>
          <a:p>
            <a:r>
              <a:rPr lang="en-US" cap="small" dirty="0"/>
              <a:t>Digital-to-analog </a:t>
            </a:r>
            <a:r>
              <a:rPr lang="en-US" cap="small" dirty="0" smtClean="0"/>
              <a:t>Conversion </a:t>
            </a:r>
            <a:br>
              <a:rPr lang="en-US" cap="small" dirty="0" smtClean="0"/>
            </a:br>
            <a:r>
              <a:rPr lang="en-US" cap="small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Digital data </a:t>
            </a:r>
            <a:r>
              <a:rPr lang="en-US" cap="small" dirty="0" smtClean="0"/>
              <a:t>to </a:t>
            </a:r>
            <a:r>
              <a:rPr lang="en-US" cap="small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analog Signal </a:t>
            </a:r>
            <a:r>
              <a:rPr lang="en-US" cap="small" dirty="0" smtClean="0"/>
              <a:t>Conversion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r>
              <a:rPr lang="en-US" dirty="0" smtClean="0"/>
              <a:t> of 19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697" y="3276600"/>
            <a:ext cx="3833007" cy="2743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3276600"/>
            <a:ext cx="3683649" cy="2743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88406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 smtClean="0"/>
              <a:t>Digital-to-analog Conversion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Digital-to-analog conversion is the process of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changing one of the characteristics</a:t>
            </a:r>
            <a:r>
              <a:rPr lang="en-US" sz="2400" dirty="0"/>
              <a:t> </a:t>
            </a:r>
            <a:r>
              <a:rPr lang="en-US" sz="2400" dirty="0" smtClean="0"/>
              <a:t>of an </a:t>
            </a:r>
            <a:r>
              <a:rPr lang="en-US" sz="2400" dirty="0"/>
              <a:t>analog signal based on the information in digital data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a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sine</a:t>
            </a:r>
            <a:r>
              <a:rPr lang="en-US" sz="2400" dirty="0"/>
              <a:t>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wave</a:t>
            </a:r>
            <a:r>
              <a:rPr lang="en-US" sz="2400" dirty="0"/>
              <a:t> is defined by </a:t>
            </a:r>
            <a:r>
              <a:rPr lang="en-US" sz="24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three</a:t>
            </a:r>
            <a:r>
              <a:rPr lang="en-US" sz="2400" dirty="0"/>
              <a:t> characteristics: </a:t>
            </a:r>
            <a:endParaRPr lang="en-US" sz="2400" dirty="0" smtClean="0"/>
          </a:p>
          <a:p>
            <a:pPr lvl="1"/>
            <a:r>
              <a:rPr lang="en-US" sz="2400" dirty="0" smtClean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amplitude</a:t>
            </a:r>
            <a:r>
              <a:rPr lang="en-US" sz="2400" dirty="0" smtClean="0"/>
              <a:t>, </a:t>
            </a:r>
            <a:r>
              <a:rPr lang="en-US" sz="2400" dirty="0" smtClean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frequency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phase</a:t>
            </a:r>
            <a:r>
              <a:rPr lang="en-US" sz="2400" dirty="0"/>
              <a:t>.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r>
              <a:rPr lang="en-US" dirty="0" smtClean="0"/>
              <a:t> of 19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86" y="3873321"/>
            <a:ext cx="8560114" cy="245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59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Digital-to-analog Conversion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373860"/>
            <a:ext cx="8229600" cy="287151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r>
              <a:rPr lang="en-US" dirty="0" smtClean="0"/>
              <a:t> of 19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5800" y="4421263"/>
            <a:ext cx="78486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Two</a:t>
            </a:r>
            <a:r>
              <a:rPr lang="en-US" sz="2800" dirty="0" smtClean="0"/>
              <a:t> </a:t>
            </a:r>
            <a:r>
              <a:rPr lang="en-US" sz="2800" dirty="0"/>
              <a:t>basic </a:t>
            </a:r>
            <a:r>
              <a:rPr lang="en-US" sz="2800" dirty="0" smtClean="0"/>
              <a:t>issues must </a:t>
            </a:r>
            <a:r>
              <a:rPr lang="en-US" sz="2800" dirty="0"/>
              <a:t>be </a:t>
            </a:r>
            <a:r>
              <a:rPr lang="en-US" sz="28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reviewed</a:t>
            </a:r>
            <a:r>
              <a:rPr lang="en-US" sz="2800" dirty="0"/>
              <a:t>: </a:t>
            </a:r>
            <a:endParaRPr lang="en-US" sz="28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bit</a:t>
            </a:r>
            <a:r>
              <a:rPr lang="en-US" sz="2800" dirty="0" smtClean="0"/>
              <a:t> </a:t>
            </a:r>
            <a:r>
              <a:rPr lang="en-US" sz="2800" dirty="0"/>
              <a:t>and </a:t>
            </a:r>
            <a:r>
              <a:rPr lang="en-US" sz="28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baud</a:t>
            </a:r>
            <a:r>
              <a:rPr lang="en-US" sz="2800" dirty="0"/>
              <a:t> </a:t>
            </a:r>
            <a:r>
              <a:rPr lang="en-US" sz="2800" dirty="0" smtClean="0"/>
              <a:t>rates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the </a:t>
            </a:r>
            <a:r>
              <a:rPr lang="en-US" sz="2800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carrier signal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3019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81000"/>
            <a:ext cx="8229600" cy="10067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r>
              <a:rPr lang="en-US" dirty="0" smtClean="0"/>
              <a:t> of 19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86372" y="1676400"/>
            <a:ext cx="5533655" cy="367888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209800"/>
            <a:ext cx="4371211" cy="184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10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Autofit/>
          </a:bodyPr>
          <a:lstStyle/>
          <a:p>
            <a:r>
              <a:rPr lang="en-US" sz="2400" b="1" cap="small" dirty="0"/>
              <a:t>Carrier Signal</a:t>
            </a:r>
          </a:p>
          <a:p>
            <a:pPr lvl="1"/>
            <a:r>
              <a:rPr lang="en-US" sz="2400" dirty="0"/>
              <a:t>In analog transmission, the sending device produces a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high-frequency signal </a:t>
            </a:r>
            <a:r>
              <a:rPr lang="en-US" sz="2400" dirty="0"/>
              <a:t>that </a:t>
            </a:r>
            <a:r>
              <a:rPr lang="en-US" sz="2400" dirty="0" smtClean="0"/>
              <a:t>acts as </a:t>
            </a:r>
            <a:r>
              <a:rPr lang="en-US" sz="2400" dirty="0"/>
              <a:t>a base for the information signal. </a:t>
            </a:r>
            <a:endParaRPr lang="en-US" sz="2400" dirty="0" smtClean="0"/>
          </a:p>
          <a:p>
            <a:pPr lvl="1"/>
            <a:r>
              <a:rPr lang="en-US" sz="2400" dirty="0" smtClean="0"/>
              <a:t>This </a:t>
            </a:r>
            <a:r>
              <a:rPr lang="en-US" sz="2400" dirty="0"/>
              <a:t>base signal is called the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carrier signal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or </a:t>
            </a:r>
            <a:r>
              <a:rPr lang="en-US" sz="2400" dirty="0" smtClean="0"/>
              <a:t>carrier frequency</a:t>
            </a:r>
            <a:r>
              <a:rPr lang="en-US" sz="2400" dirty="0"/>
              <a:t>. </a:t>
            </a:r>
            <a:endParaRPr lang="en-US" sz="2400" dirty="0" smtClean="0"/>
          </a:p>
          <a:p>
            <a:pPr lvl="1"/>
            <a:r>
              <a:rPr lang="en-US" sz="2400" dirty="0" smtClean="0"/>
              <a:t>The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receiving device</a:t>
            </a:r>
            <a:r>
              <a:rPr 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/>
              <a:t>is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tuned</a:t>
            </a:r>
            <a:r>
              <a:rPr lang="en-US" sz="2400" dirty="0"/>
              <a:t> to the frequency of the carrier signal that </a:t>
            </a:r>
            <a:r>
              <a:rPr lang="en-US" sz="2400" dirty="0" smtClean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expects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the sender</a:t>
            </a:r>
            <a:r>
              <a:rPr lang="en-US" sz="2400" dirty="0"/>
              <a:t>. </a:t>
            </a:r>
            <a:endParaRPr lang="en-US" sz="2400" dirty="0" smtClean="0"/>
          </a:p>
          <a:p>
            <a:pPr lvl="1"/>
            <a:r>
              <a:rPr lang="en-US" sz="2400" dirty="0" smtClean="0"/>
              <a:t>Digital </a:t>
            </a:r>
            <a:r>
              <a:rPr lang="en-US" sz="2400" dirty="0"/>
              <a:t>information then changes the carrier signal by </a:t>
            </a:r>
            <a:r>
              <a:rPr lang="en-US" sz="2400" dirty="0" smtClean="0"/>
              <a:t>modifying one </a:t>
            </a:r>
            <a:r>
              <a:rPr lang="en-US" sz="2400" dirty="0"/>
              <a:t>or more of its characteristics</a:t>
            </a:r>
            <a:r>
              <a:rPr lang="en-US" sz="2400" b="1" dirty="0">
                <a:solidFill>
                  <a:srgbClr val="FF0000"/>
                </a:solidFill>
              </a:rPr>
              <a:t> (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amplitude</a:t>
            </a:r>
            <a:r>
              <a:rPr lang="en-US" sz="2400" b="1" dirty="0">
                <a:solidFill>
                  <a:srgbClr val="FF0000"/>
                </a:solidFill>
              </a:rPr>
              <a:t>,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frequency</a:t>
            </a:r>
            <a:r>
              <a:rPr lang="en-US" sz="2400" b="1" dirty="0">
                <a:solidFill>
                  <a:srgbClr val="FF0000"/>
                </a:solidFill>
              </a:rPr>
              <a:t>, or </a:t>
            </a:r>
            <a:r>
              <a:rPr lang="en-US" sz="2400" b="1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phase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  <a:r>
              <a:rPr lang="en-US" sz="2400" dirty="0"/>
              <a:t>. </a:t>
            </a:r>
            <a:endParaRPr lang="en-US" sz="2400" dirty="0" smtClean="0"/>
          </a:p>
          <a:p>
            <a:pPr lvl="1"/>
            <a:r>
              <a:rPr lang="en-US" sz="2400" dirty="0" smtClean="0"/>
              <a:t>This </a:t>
            </a:r>
            <a:r>
              <a:rPr lang="en-US" sz="2400" dirty="0"/>
              <a:t>kind </a:t>
            </a:r>
            <a:r>
              <a:rPr lang="en-US" sz="2400" dirty="0" smtClean="0"/>
              <a:t>of modification </a:t>
            </a:r>
            <a:r>
              <a:rPr lang="en-US" sz="2400" dirty="0"/>
              <a:t>is called modulation </a:t>
            </a:r>
            <a:r>
              <a:rPr lang="en-US" sz="2400" b="1" dirty="0"/>
              <a:t>(</a:t>
            </a:r>
            <a:r>
              <a:rPr lang="en-US" sz="2400" b="1" dirty="0"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shift keying</a:t>
            </a:r>
            <a:r>
              <a:rPr lang="en-US" sz="2400" b="1" dirty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r>
              <a:rPr lang="en-US" dirty="0" smtClean="0"/>
              <a:t> of 19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437" y="76200"/>
            <a:ext cx="3746363" cy="107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28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r>
              <a:rPr lang="en-US" dirty="0" smtClean="0"/>
              <a:t> of 19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81000"/>
            <a:ext cx="4586090" cy="1600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9600" y="1104900"/>
            <a:ext cx="1164167" cy="342900"/>
          </a:xfrm>
          <a:prstGeom prst="roundRect">
            <a:avLst/>
          </a:prstGeom>
          <a:solidFill>
            <a:srgbClr val="FFFF00">
              <a:alpha val="41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229557" y="537686"/>
            <a:ext cx="376204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cap="small" dirty="0"/>
              <a:t>Amplitude Shift Keying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amplitude shift keying, the amplitude of the carrier signal is varied to create </a:t>
            </a:r>
            <a:r>
              <a:rPr lang="en-US" dirty="0" smtClean="0"/>
              <a:t>signal elements</a:t>
            </a:r>
            <a:r>
              <a:rPr lang="en-US" dirty="0"/>
              <a:t>. </a:t>
            </a: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Both </a:t>
            </a:r>
            <a:r>
              <a:rPr lang="en-US" dirty="0"/>
              <a:t>frequency and phase remain constant while the amplitude changes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05" y="1905000"/>
            <a:ext cx="4369001" cy="247174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45"/>
          <a:stretch/>
        </p:blipFill>
        <p:spPr>
          <a:xfrm>
            <a:off x="838200" y="4490798"/>
            <a:ext cx="662620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60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r>
              <a:rPr lang="en-US" dirty="0" smtClean="0"/>
              <a:t> of 19</a:t>
            </a:r>
            <a:endParaRPr lang="en-US" dirty="0"/>
          </a:p>
        </p:txBody>
      </p:sp>
      <p:pic>
        <p:nvPicPr>
          <p:cNvPr id="7" name="Content Placeholder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81000"/>
            <a:ext cx="4586090" cy="1600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168161" y="1066800"/>
            <a:ext cx="1164167" cy="342900"/>
          </a:xfrm>
          <a:prstGeom prst="roundRect">
            <a:avLst/>
          </a:prstGeom>
          <a:solidFill>
            <a:srgbClr val="FFFF00">
              <a:alpha val="41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876800" y="228600"/>
            <a:ext cx="3962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cap="small" dirty="0"/>
              <a:t>Frequency Shift Keying</a:t>
            </a:r>
          </a:p>
          <a:p>
            <a:r>
              <a:rPr lang="en-US" dirty="0"/>
              <a:t>In frequency shift keying, the frequency of the carrier signal is varied to represent data.</a:t>
            </a:r>
          </a:p>
          <a:p>
            <a:r>
              <a:rPr lang="en-US" dirty="0"/>
              <a:t>The frequency of the modulated signal is constant for the duration of one signal </a:t>
            </a:r>
            <a:r>
              <a:rPr lang="en-US" dirty="0" smtClean="0"/>
              <a:t>element, but </a:t>
            </a:r>
            <a:r>
              <a:rPr lang="en-US" dirty="0"/>
              <a:t>changes for the next signal element if the data element changes. Both </a:t>
            </a:r>
            <a:r>
              <a:rPr lang="en-US" dirty="0" smtClean="0"/>
              <a:t>peak amplitude </a:t>
            </a:r>
            <a:r>
              <a:rPr lang="en-US" dirty="0"/>
              <a:t>and phase remain constant for all signal elements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33600"/>
            <a:ext cx="4057819" cy="244720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96"/>
          <a:stretch/>
        </p:blipFill>
        <p:spPr>
          <a:xfrm>
            <a:off x="433192" y="4492704"/>
            <a:ext cx="6305803" cy="189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4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152401"/>
            <a:ext cx="5181600" cy="316484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r>
              <a:rPr lang="en-US" dirty="0" smtClean="0"/>
              <a:t> of 19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1" y="3222474"/>
            <a:ext cx="8458200" cy="27999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257800" y="2947909"/>
            <a:ext cx="11288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polar NRZ</a:t>
            </a:r>
          </a:p>
        </p:txBody>
      </p:sp>
    </p:spTree>
    <p:extLst>
      <p:ext uri="{BB962C8B-B14F-4D97-AF65-F5344CB8AC3E}">
        <p14:creationId xmlns:p14="http://schemas.microsoft.com/office/powerpoint/2010/main" val="999839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r>
              <a:rPr lang="en-US" dirty="0" smtClean="0"/>
              <a:t> of 19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596567"/>
            <a:ext cx="6739495" cy="5124908"/>
          </a:xfrm>
          <a:prstGeom prst="rect">
            <a:avLst/>
          </a:prstGeom>
        </p:spPr>
      </p:pic>
      <p:pic>
        <p:nvPicPr>
          <p:cNvPr id="6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46"/>
          <a:stretch/>
        </p:blipFill>
        <p:spPr>
          <a:xfrm>
            <a:off x="5110111" y="76200"/>
            <a:ext cx="3581402" cy="226792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765" y="0"/>
            <a:ext cx="4495800" cy="26764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0" y="457200"/>
            <a:ext cx="2480863" cy="2743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86766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08" y="228600"/>
            <a:ext cx="4331920" cy="29718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r>
              <a:rPr lang="en-US" dirty="0" smtClean="0"/>
              <a:t> of 19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6308" y="3365342"/>
            <a:ext cx="2162184" cy="116713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52400"/>
            <a:ext cx="4495800" cy="26764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3560" y="4825061"/>
            <a:ext cx="4449863" cy="15312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3221008"/>
            <a:ext cx="2480863" cy="2743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9323" y="3121450"/>
            <a:ext cx="2687786" cy="6878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1810337"/>
            <a:ext cx="7678222" cy="10574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47105" y="4343868"/>
            <a:ext cx="2977435" cy="24770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4290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56482"/>
          <a:stretch/>
        </p:blipFill>
        <p:spPr>
          <a:xfrm>
            <a:off x="76200" y="381000"/>
            <a:ext cx="3581400" cy="190574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r>
              <a:rPr lang="en-US" dirty="0" smtClean="0"/>
              <a:t> of 19</a:t>
            </a:r>
            <a:endParaRPr lang="en-US" dirty="0"/>
          </a:p>
        </p:txBody>
      </p:sp>
      <p:pic>
        <p:nvPicPr>
          <p:cNvPr id="6" name="Content Placeholder 4"/>
          <p:cNvPicPr>
            <a:picLocks noChangeAspect="1"/>
          </p:cNvPicPr>
          <p:nvPr/>
        </p:nvPicPr>
        <p:blipFill rotWithShape="1">
          <a:blip r:embed="rId2"/>
          <a:srcRect l="55556"/>
          <a:stretch/>
        </p:blipFill>
        <p:spPr>
          <a:xfrm>
            <a:off x="4800600" y="1333874"/>
            <a:ext cx="3657600" cy="19057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900" y="3239621"/>
            <a:ext cx="3771900" cy="302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12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951854" cy="452596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r>
              <a:rPr lang="en-US" smtClean="0"/>
              <a:t> of 19</a:t>
            </a:r>
            <a:endParaRPr lang="en-US" dirty="0"/>
          </a:p>
        </p:txBody>
      </p:sp>
      <p:sp>
        <p:nvSpPr>
          <p:cNvPr id="6" name="Flowchart: Sequential Access Storage 5"/>
          <p:cNvSpPr/>
          <p:nvPr/>
        </p:nvSpPr>
        <p:spPr>
          <a:xfrm>
            <a:off x="685800" y="4038600"/>
            <a:ext cx="457200" cy="487363"/>
          </a:xfrm>
          <a:prstGeom prst="flowChartMagneticTap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701680" y="1979612"/>
            <a:ext cx="0" cy="3825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700627" y="3634847"/>
            <a:ext cx="0" cy="38258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97" y="4980081"/>
            <a:ext cx="774259" cy="76816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447800" y="4767027"/>
            <a:ext cx="5539459" cy="132897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5" y="1220655"/>
            <a:ext cx="6096851" cy="65731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" y="3534503"/>
            <a:ext cx="9052560" cy="108518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65" y="1923682"/>
            <a:ext cx="8259328" cy="1381318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924241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8229600" cy="4525963"/>
          </a:xfrm>
        </p:spPr>
        <p:txBody>
          <a:bodyPr/>
          <a:lstStyle/>
          <a:p>
            <a:r>
              <a:rPr lang="en-US" cap="small" dirty="0" smtClean="0"/>
              <a:t>Digital data to Digital Signal Conversion</a:t>
            </a:r>
          </a:p>
          <a:p>
            <a:r>
              <a:rPr lang="en-US" cap="small" dirty="0" smtClean="0"/>
              <a:t>Analog Signal to Digital Data Conversion</a:t>
            </a:r>
          </a:p>
          <a:p>
            <a:r>
              <a:rPr lang="en-US" cap="small" dirty="0" smtClean="0"/>
              <a:t>Digital Data to Analog Signal Conversion </a:t>
            </a:r>
            <a:endParaRPr lang="en-US" cap="small" dirty="0"/>
          </a:p>
          <a:p>
            <a:r>
              <a:rPr lang="en-US" cap="small" dirty="0" smtClean="0"/>
              <a:t>Analog-to-analog Conversion</a:t>
            </a:r>
            <a:br>
              <a:rPr lang="en-US" cap="small" dirty="0" smtClean="0"/>
            </a:br>
            <a:r>
              <a:rPr lang="en-US" cap="small" dirty="0" smtClean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Analog </a:t>
            </a:r>
            <a:r>
              <a:rPr lang="en-US" cap="small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data </a:t>
            </a:r>
            <a:r>
              <a:rPr lang="en-US" cap="small" dirty="0"/>
              <a:t>to </a:t>
            </a:r>
            <a:r>
              <a:rPr lang="en-US" cap="small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analog Signal </a:t>
            </a:r>
            <a:r>
              <a:rPr lang="en-US" cap="small" dirty="0"/>
              <a:t>Conversion</a:t>
            </a:r>
          </a:p>
          <a:p>
            <a:endParaRPr lang="en-US" cap="small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r>
              <a:rPr lang="en-US" dirty="0" smtClean="0"/>
              <a:t> of 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181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cap="small" dirty="0" smtClean="0"/>
              <a:t>Analog-to-analog Conversion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Analog-to-analog conversion, or analog modulation, is the representation of </a:t>
            </a:r>
            <a:r>
              <a:rPr lang="en-US" sz="2400" dirty="0" smtClean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analog information </a:t>
            </a:r>
            <a:r>
              <a:rPr lang="en-US" sz="2400" dirty="0">
                <a:solidFill>
                  <a:srgbClr val="FF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by an analog signal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r>
              <a:rPr lang="en-US" dirty="0" smtClean="0"/>
              <a:t> of 19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330" y="2895600"/>
            <a:ext cx="6229670" cy="17145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750" y="4724400"/>
            <a:ext cx="4916830" cy="171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590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Amplitude Modulation (AM</a:t>
            </a:r>
            <a:r>
              <a:rPr lang="en-US" b="1" dirty="0" smtClean="0"/>
              <a:t>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417638"/>
            <a:ext cx="3918151" cy="316246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r>
              <a:rPr lang="en-US" dirty="0" smtClean="0"/>
              <a:t> of 19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743" y="1417638"/>
            <a:ext cx="3261099" cy="216376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57" y="4876800"/>
            <a:ext cx="4502381" cy="7302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1648" y="4359243"/>
            <a:ext cx="3098959" cy="121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09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Amplitude Modulation (AM)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smtClean="0"/>
              <a:t>The bandwidth of an audio signal (speech and music) is usually </a:t>
            </a:r>
            <a:r>
              <a:rPr lang="en-US" sz="2400" b="1" smtClean="0">
                <a:solidFill>
                  <a:srgbClr val="FF0000"/>
                </a:solidFill>
              </a:rPr>
              <a:t>5 kHz</a:t>
            </a:r>
            <a:r>
              <a:rPr lang="en-US" sz="2400" smtClean="0"/>
              <a:t>.</a:t>
            </a:r>
          </a:p>
          <a:p>
            <a:r>
              <a:rPr lang="en-US" sz="2400" smtClean="0"/>
              <a:t>Therefore, an AM radio station needs a bandwidth of </a:t>
            </a:r>
            <a:r>
              <a:rPr lang="en-US" sz="2400" b="1" smtClean="0">
                <a:solidFill>
                  <a:srgbClr val="FF0000"/>
                </a:solidFill>
              </a:rPr>
              <a:t>10 kHz</a:t>
            </a:r>
            <a:r>
              <a:rPr lang="en-US" sz="2400" smtClean="0"/>
              <a:t>.</a:t>
            </a:r>
          </a:p>
          <a:p>
            <a:r>
              <a:rPr lang="en-US" sz="2400" smtClean="0"/>
              <a:t>AM stations are allowed carrier frequencies anywhere between </a:t>
            </a:r>
            <a:r>
              <a:rPr lang="en-US" sz="2400" smtClean="0">
                <a:solidFill>
                  <a:srgbClr val="FF0000"/>
                </a:solidFill>
              </a:rPr>
              <a:t>530 and 1700 kHz </a:t>
            </a:r>
            <a:r>
              <a:rPr lang="en-US" sz="2400" smtClean="0"/>
              <a:t>(1.7 MHz).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r>
              <a:rPr lang="en-US" dirty="0" smtClean="0"/>
              <a:t> of 19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114800"/>
            <a:ext cx="6724996" cy="165108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47800" y="6171684"/>
            <a:ext cx="42500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Federal Communications Commission (FCC)</a:t>
            </a:r>
          </a:p>
        </p:txBody>
      </p:sp>
    </p:spTree>
    <p:extLst>
      <p:ext uri="{BB962C8B-B14F-4D97-AF65-F5344CB8AC3E}">
        <p14:creationId xmlns:p14="http://schemas.microsoft.com/office/powerpoint/2010/main" val="270946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Frequency Modulation (FM)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09" y="1396302"/>
            <a:ext cx="3721291" cy="337837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r>
              <a:rPr lang="en-US" dirty="0" smtClean="0"/>
              <a:t> of 19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35627" y="1752600"/>
            <a:ext cx="3717645" cy="1600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3898" y="3805206"/>
            <a:ext cx="2889398" cy="123196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286000" y="5397586"/>
            <a:ext cx="6781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where β is a factor that depends on modulation technique</a:t>
            </a:r>
          </a:p>
          <a:p>
            <a:r>
              <a:rPr lang="en-US"/>
              <a:t>with a common value of 4</a:t>
            </a:r>
          </a:p>
        </p:txBody>
      </p:sp>
    </p:spTree>
    <p:extLst>
      <p:ext uri="{BB962C8B-B14F-4D97-AF65-F5344CB8AC3E}">
        <p14:creationId xmlns:p14="http://schemas.microsoft.com/office/powerpoint/2010/main" val="1833664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Frequency Modulation (FM)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bandwidth of an audio signal (speech and music) broadcast in stereo is </a:t>
            </a:r>
            <a:r>
              <a:rPr lang="en-US" sz="2400" dirty="0" smtClean="0"/>
              <a:t>almost </a:t>
            </a:r>
            <a:r>
              <a:rPr lang="en-US" sz="2400" dirty="0" smtClean="0">
                <a:solidFill>
                  <a:srgbClr val="FF0000"/>
                </a:solidFill>
              </a:rPr>
              <a:t>15 </a:t>
            </a:r>
            <a:r>
              <a:rPr lang="en-US" sz="2400" dirty="0">
                <a:solidFill>
                  <a:srgbClr val="FF0000"/>
                </a:solidFill>
              </a:rPr>
              <a:t>kHz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The FCC allows </a:t>
            </a:r>
            <a:r>
              <a:rPr lang="en-US" sz="2400" b="1" dirty="0">
                <a:solidFill>
                  <a:srgbClr val="FF0000"/>
                </a:solidFill>
              </a:rPr>
              <a:t>200 kHz (0.2 MHz) </a:t>
            </a:r>
            <a:r>
              <a:rPr lang="en-US" sz="2400" dirty="0"/>
              <a:t>for each </a:t>
            </a:r>
            <a:r>
              <a:rPr lang="en-US" sz="2400" dirty="0" smtClean="0"/>
              <a:t>station.</a:t>
            </a:r>
          </a:p>
          <a:p>
            <a:r>
              <a:rPr lang="en-US" sz="2400" dirty="0"/>
              <a:t>Stations must be separated by at least 200 kHz to keep their </a:t>
            </a:r>
            <a:r>
              <a:rPr lang="en-US" sz="2400" dirty="0" smtClean="0"/>
              <a:t>bandwidths from </a:t>
            </a:r>
            <a:r>
              <a:rPr lang="en-US" sz="2400" dirty="0"/>
              <a:t>overlapping.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r>
              <a:rPr lang="en-US" dirty="0" smtClean="0"/>
              <a:t> of 19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962400"/>
            <a:ext cx="6750397" cy="163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971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Phase Modulation (PM)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24000"/>
            <a:ext cx="3670489" cy="334662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r>
              <a:rPr lang="en-US" dirty="0" smtClean="0"/>
              <a:t> of 19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408" y="1524000"/>
            <a:ext cx="3029106" cy="16828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510" y="3733800"/>
            <a:ext cx="2991004" cy="131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295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36809</TotalTime>
  <Words>505</Words>
  <Application>Microsoft Office PowerPoint</Application>
  <PresentationFormat>On-screen Show (4:3)</PresentationFormat>
  <Paragraphs>69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Digital-to-analog Conversion</vt:lpstr>
      <vt:lpstr>Digital-to-analog Conversion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Analog-to-analog Conversion</vt:lpstr>
      <vt:lpstr>Amplitude Modulation (AM)</vt:lpstr>
      <vt:lpstr>Amplitude Modulation (AM)</vt:lpstr>
      <vt:lpstr>Frequency Modulation (FM)</vt:lpstr>
      <vt:lpstr>Frequency Modulation (FM)</vt:lpstr>
      <vt:lpstr>Phase Modulation (PM)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Processing all k-nearest neighbor queries in Hadoop</dc:title>
  <dc:creator>Administrator</dc:creator>
  <cp:lastModifiedBy>Dr. ASIF ZAMAN</cp:lastModifiedBy>
  <cp:revision>972</cp:revision>
  <cp:lastPrinted>2017-11-05T03:12:43Z</cp:lastPrinted>
  <dcterms:created xsi:type="dcterms:W3CDTF">2006-08-16T00:00:00Z</dcterms:created>
  <dcterms:modified xsi:type="dcterms:W3CDTF">2025-05-28T00:40:56Z</dcterms:modified>
</cp:coreProperties>
</file>