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9" r:id="rId9"/>
    <p:sldId id="292" r:id="rId10"/>
    <p:sldId id="280" r:id="rId11"/>
    <p:sldId id="293" r:id="rId12"/>
    <p:sldId id="283" r:id="rId13"/>
    <p:sldId id="284" r:id="rId14"/>
    <p:sldId id="286" r:id="rId15"/>
    <p:sldId id="285" r:id="rId16"/>
    <p:sldId id="287" r:id="rId17"/>
    <p:sldId id="288" r:id="rId18"/>
    <p:sldId id="289" r:id="rId19"/>
    <p:sldId id="290" r:id="rId20"/>
    <p:sldId id="291" r:id="rId2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9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6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21-May-25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21-May-25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21-May-25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pulse amplitude modulation (PAM)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B5FCE6-2331-4AF4-8362-9D091070A463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9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21-May-25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21-May-25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21-May-25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21-May-25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21-May-25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21-May-25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Digital-to-digital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smtClean="0"/>
              <a:t>conversion involves </a:t>
            </a:r>
            <a:r>
              <a:rPr lang="en-US" sz="2400" dirty="0"/>
              <a:t>three techniques: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line </a:t>
            </a:r>
            <a:r>
              <a:rPr lang="en-US" sz="2400" cap="small" dirty="0"/>
              <a:t>coding,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block </a:t>
            </a:r>
            <a:r>
              <a:rPr lang="en-US" sz="2400" cap="small" dirty="0"/>
              <a:t>coding, and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scrambling</a:t>
            </a:r>
            <a:r>
              <a:rPr lang="en-US" sz="2400" dirty="0" smtClean="0"/>
              <a:t>.</a:t>
            </a:r>
          </a:p>
          <a:p>
            <a:pPr marL="457200" lvl="1" indent="0">
              <a:buNone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99" y="3733800"/>
            <a:ext cx="7715543" cy="23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8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Analog-to-digital Conversion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…is </a:t>
            </a:r>
            <a:r>
              <a:rPr lang="en-US" sz="2400" dirty="0"/>
              <a:t>to change an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analog signal </a:t>
            </a:r>
            <a:r>
              <a:rPr lang="en-US" sz="2400" dirty="0"/>
              <a:t>to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digital data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most common technique to change an analog signal to digital data (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digitization</a:t>
            </a:r>
            <a:r>
              <a:rPr lang="en-US" sz="2400" dirty="0"/>
              <a:t>) </a:t>
            </a:r>
            <a:r>
              <a:rPr lang="en-US" sz="2400" dirty="0" smtClean="0"/>
              <a:t>is called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pulse code modulation </a:t>
            </a:r>
            <a:r>
              <a:rPr lang="en-US" sz="2400" b="1" dirty="0"/>
              <a:t>(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PCM</a:t>
            </a:r>
            <a:r>
              <a:rPr lang="en-US" sz="2400" b="1" dirty="0"/>
              <a:t>). </a:t>
            </a:r>
            <a:endParaRPr lang="en-US" sz="2400" b="1" dirty="0" smtClean="0"/>
          </a:p>
          <a:p>
            <a:r>
              <a:rPr lang="en-US" sz="2400" dirty="0" smtClean="0"/>
              <a:t>A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PCM</a:t>
            </a:r>
            <a:r>
              <a:rPr lang="en-US" sz="2400" dirty="0"/>
              <a:t> encoder has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three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processes</a:t>
            </a:r>
            <a:r>
              <a:rPr lang="en-US" sz="2400" dirty="0" smtClean="0"/>
              <a:t>,</a:t>
            </a:r>
          </a:p>
          <a:p>
            <a:endParaRPr lang="en-US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400" dirty="0"/>
              <a:t>The analog signal is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sampled</a:t>
            </a:r>
            <a:r>
              <a:rPr lang="en-US" sz="2400" dirty="0"/>
              <a:t>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/>
              <a:t>The sampled signal is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quantized</a:t>
            </a:r>
            <a:r>
              <a:rPr lang="en-US" sz="2400" dirty="0"/>
              <a:t>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quantized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values</a:t>
            </a:r>
            <a:r>
              <a:rPr lang="en-US" sz="2400" dirty="0"/>
              <a:t> are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encoded</a:t>
            </a:r>
            <a:r>
              <a:rPr lang="en-US" sz="2400" dirty="0"/>
              <a:t> as streams of bits.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11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3525677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cap="small" dirty="0" smtClean="0"/>
              <a:t>Sampling: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analog signal is sampled every </a:t>
            </a:r>
            <a:r>
              <a:rPr lang="en-US" sz="2400" b="1" dirty="0" err="1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</a:rPr>
              <a:t>s</a:t>
            </a:r>
            <a:r>
              <a:rPr lang="en-US" sz="2400" i="1" dirty="0"/>
              <a:t> </a:t>
            </a:r>
            <a:r>
              <a:rPr lang="en-US" sz="2400" dirty="0" smtClean="0"/>
              <a:t>sec,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where </a:t>
            </a:r>
            <a:r>
              <a:rPr lang="en-US" sz="2400" b="1" dirty="0" err="1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</a:rPr>
              <a:t>s</a:t>
            </a:r>
            <a:r>
              <a:rPr lang="en-US" sz="2400" i="1" dirty="0" smtClean="0"/>
              <a:t> </a:t>
            </a:r>
            <a:r>
              <a:rPr lang="en-US" sz="2400" dirty="0" smtClean="0"/>
              <a:t>is  the </a:t>
            </a:r>
            <a:r>
              <a:rPr lang="en-US" sz="2400" dirty="0"/>
              <a:t>sample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interval</a:t>
            </a:r>
            <a:r>
              <a:rPr lang="en-US" sz="2400" dirty="0"/>
              <a:t> or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period</a:t>
            </a:r>
            <a:r>
              <a:rPr lang="en-US" sz="2400" dirty="0"/>
              <a:t>.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inverse of the sampling interval is called the </a:t>
            </a:r>
            <a:r>
              <a:rPr lang="en-US" sz="2400" b="1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sampling</a:t>
            </a:r>
            <a:r>
              <a:rPr lang="en-US" sz="2400" b="1" i="1" dirty="0" smtClean="0"/>
              <a:t> </a:t>
            </a:r>
            <a:r>
              <a:rPr lang="en-US" sz="2400" b="1" i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rate</a:t>
            </a:r>
            <a:r>
              <a:rPr lang="en-US" sz="2400" b="1" i="1" dirty="0" smtClean="0"/>
              <a:t> </a:t>
            </a:r>
            <a:r>
              <a:rPr lang="en-US" sz="2400" dirty="0"/>
              <a:t>or </a:t>
            </a:r>
            <a:r>
              <a:rPr lang="en-US" sz="2400" b="1" i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sampling</a:t>
            </a:r>
            <a:r>
              <a:rPr lang="en-US" sz="2400" b="1" i="1" dirty="0"/>
              <a:t> </a:t>
            </a:r>
            <a:r>
              <a:rPr lang="en-US" sz="2400" b="1" i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frequency</a:t>
            </a:r>
            <a:r>
              <a:rPr lang="en-US" sz="2400" b="1" i="1" dirty="0"/>
              <a:t> </a:t>
            </a:r>
            <a:r>
              <a:rPr lang="en-US" sz="2400" dirty="0"/>
              <a:t>and denoted by </a:t>
            </a:r>
            <a:r>
              <a:rPr lang="en-US" sz="2400" i="1" dirty="0"/>
              <a:t>f</a:t>
            </a:r>
            <a:r>
              <a:rPr lang="en-US" sz="2400" i="1" baseline="-25000" dirty="0"/>
              <a:t>s</a:t>
            </a:r>
            <a:r>
              <a:rPr lang="en-US" sz="2400" dirty="0"/>
              <a:t>,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where </a:t>
            </a:r>
            <a:r>
              <a:rPr lang="en-US" sz="2400" i="1" dirty="0">
                <a:solidFill>
                  <a:srgbClr val="FF0000"/>
                </a:solidFill>
              </a:rPr>
              <a:t>f</a:t>
            </a:r>
            <a:r>
              <a:rPr lang="en-US" sz="2400" i="1" baseline="-25000" dirty="0">
                <a:solidFill>
                  <a:srgbClr val="FF0000"/>
                </a:solidFill>
              </a:rPr>
              <a:t>s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= 1</a:t>
            </a:r>
            <a:r>
              <a:rPr lang="en-US" sz="2400" dirty="0" smtClean="0">
                <a:solidFill>
                  <a:srgbClr val="FF0000"/>
                </a:solidFill>
              </a:rPr>
              <a:t>/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</a:rPr>
              <a:t>s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61640" y="1381760"/>
            <a:ext cx="3820160" cy="1044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61640" y="2431828"/>
            <a:ext cx="22860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71846" y="297180"/>
            <a:ext cx="22860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8597"/>
            <a:ext cx="7290175" cy="31878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2224"/>
            <a:ext cx="7429882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0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3" y="304801"/>
            <a:ext cx="8229600" cy="1905000"/>
          </a:xfrm>
        </p:spPr>
        <p:txBody>
          <a:bodyPr>
            <a:normAutofit/>
          </a:bodyPr>
          <a:lstStyle/>
          <a:p>
            <a:r>
              <a:rPr lang="en-US" sz="2400" dirty="0"/>
              <a:t>There are </a:t>
            </a:r>
            <a:r>
              <a:rPr lang="en-US" sz="24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three</a:t>
            </a:r>
            <a:r>
              <a:rPr lang="en-US" sz="2400" dirty="0" smtClean="0"/>
              <a:t> sampling </a:t>
            </a:r>
            <a:r>
              <a:rPr lang="en-US" sz="2400" dirty="0"/>
              <a:t>methods</a:t>
            </a:r>
            <a:r>
              <a:rPr lang="en-US" sz="2400" dirty="0" smtClean="0"/>
              <a:t>—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ideal</a:t>
            </a:r>
            <a:r>
              <a:rPr lang="en-US" sz="2400" dirty="0"/>
              <a:t>,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natural</a:t>
            </a:r>
            <a:r>
              <a:rPr lang="en-US" sz="2400" dirty="0"/>
              <a:t>, and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flat-top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133600"/>
            <a:ext cx="6737696" cy="1981302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487863" y="3005138"/>
            <a:ext cx="104775" cy="354012"/>
          </a:xfrm>
          <a:custGeom>
            <a:avLst/>
            <a:gdLst>
              <a:gd name="connsiteX0" fmla="*/ 104775 w 104775"/>
              <a:gd name="connsiteY0" fmla="*/ 0 h 354012"/>
              <a:gd name="connsiteX1" fmla="*/ 104775 w 104775"/>
              <a:gd name="connsiteY1" fmla="*/ 354012 h 354012"/>
              <a:gd name="connsiteX2" fmla="*/ 0 w 104775"/>
              <a:gd name="connsiteY2" fmla="*/ 352425 h 354012"/>
              <a:gd name="connsiteX3" fmla="*/ 6350 w 104775"/>
              <a:gd name="connsiteY3" fmla="*/ 147637 h 354012"/>
              <a:gd name="connsiteX4" fmla="*/ 104775 w 104775"/>
              <a:gd name="connsiteY4" fmla="*/ 0 h 35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354012">
                <a:moveTo>
                  <a:pt x="104775" y="0"/>
                </a:moveTo>
                <a:lnTo>
                  <a:pt x="104775" y="354012"/>
                </a:lnTo>
                <a:lnTo>
                  <a:pt x="0" y="352425"/>
                </a:lnTo>
                <a:lnTo>
                  <a:pt x="6350" y="147637"/>
                </a:lnTo>
                <a:lnTo>
                  <a:pt x="104775" y="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700588" y="2795588"/>
            <a:ext cx="109537" cy="555625"/>
          </a:xfrm>
          <a:custGeom>
            <a:avLst/>
            <a:gdLst>
              <a:gd name="connsiteX0" fmla="*/ 0 w 109537"/>
              <a:gd name="connsiteY0" fmla="*/ 76200 h 555625"/>
              <a:gd name="connsiteX1" fmla="*/ 109537 w 109537"/>
              <a:gd name="connsiteY1" fmla="*/ 0 h 555625"/>
              <a:gd name="connsiteX2" fmla="*/ 101600 w 109537"/>
              <a:gd name="connsiteY2" fmla="*/ 555625 h 555625"/>
              <a:gd name="connsiteX3" fmla="*/ 9525 w 109537"/>
              <a:gd name="connsiteY3" fmla="*/ 552450 h 555625"/>
              <a:gd name="connsiteX4" fmla="*/ 0 w 109537"/>
              <a:gd name="connsiteY4" fmla="*/ 76200 h 55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537" h="555625">
                <a:moveTo>
                  <a:pt x="0" y="76200"/>
                </a:moveTo>
                <a:lnTo>
                  <a:pt x="109537" y="0"/>
                </a:lnTo>
                <a:lnTo>
                  <a:pt x="101600" y="555625"/>
                </a:lnTo>
                <a:lnTo>
                  <a:pt x="9525" y="55245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2797" y="2718168"/>
            <a:ext cx="1905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ideal</a:t>
            </a:r>
            <a:r>
              <a:rPr lang="en-US" dirty="0"/>
              <a:t> sampling, pulses from the analog signal are sampled.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133" y="4325025"/>
            <a:ext cx="524086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natural</a:t>
            </a:r>
            <a:r>
              <a:rPr lang="en-US" dirty="0"/>
              <a:t> sampling, a high-speed</a:t>
            </a:r>
          </a:p>
          <a:p>
            <a:r>
              <a:rPr lang="en-US" dirty="0"/>
              <a:t>switch is turned on for only the small period of time when the sampling occurs. The</a:t>
            </a:r>
          </a:p>
          <a:p>
            <a:r>
              <a:rPr lang="en-US" dirty="0"/>
              <a:t>result is a sequence of samples that retains the shape of the analog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4296" y="4451249"/>
            <a:ext cx="24994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sample </a:t>
            </a:r>
            <a:r>
              <a:rPr lang="en-US" dirty="0"/>
              <a:t>and hold, however, creates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flat-top</a:t>
            </a:r>
            <a:r>
              <a:rPr lang="en-US" dirty="0"/>
              <a:t> samples</a:t>
            </a:r>
          </a:p>
          <a:p>
            <a:r>
              <a:rPr lang="en-US" dirty="0"/>
              <a:t>by using a </a:t>
            </a:r>
            <a:r>
              <a:rPr lang="en-US" dirty="0" smtClean="0"/>
              <a:t>circuit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276601" y="759667"/>
            <a:ext cx="57150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-Roman"/>
              </a:rPr>
              <a:t>The sampling process is sometimes referred to as </a:t>
            </a:r>
            <a:r>
              <a:rPr lang="en-US" b="1" dirty="0">
                <a:latin typeface="Times-Bold"/>
              </a:rPr>
              <a:t>pulse amplitude </a:t>
            </a:r>
            <a:r>
              <a:rPr lang="en-US" b="1" dirty="0" smtClean="0">
                <a:latin typeface="Times-Bold"/>
              </a:rPr>
              <a:t>modulation (PAM</a:t>
            </a:r>
            <a:r>
              <a:rPr lang="en-US" b="1" dirty="0">
                <a:latin typeface="Times-Bold"/>
              </a:rPr>
              <a:t>). </a:t>
            </a:r>
            <a:endParaRPr lang="en-US" b="1" dirty="0" smtClean="0">
              <a:latin typeface="Time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-Roman"/>
              </a:rPr>
              <a:t>We </a:t>
            </a:r>
            <a:r>
              <a:rPr lang="en-US" dirty="0">
                <a:latin typeface="Times-Roman"/>
              </a:rPr>
              <a:t>need to remember, however, that the result is still an analog signal </a:t>
            </a:r>
            <a:r>
              <a:rPr lang="en-US" dirty="0" smtClean="0">
                <a:latin typeface="Times-Roman"/>
              </a:rPr>
              <a:t>with Non-integral </a:t>
            </a:r>
            <a:r>
              <a:rPr lang="en-US" dirty="0">
                <a:latin typeface="Times-Roman"/>
              </a:rPr>
              <a:t>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10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What are the </a:t>
            </a:r>
            <a:r>
              <a:rPr lang="en-US" sz="3600" b="1" dirty="0" smtClean="0"/>
              <a:t>restrictions on </a:t>
            </a:r>
            <a:r>
              <a:rPr lang="en-US" sz="3600" b="1" i="1" dirty="0" err="1"/>
              <a:t>T</a:t>
            </a:r>
            <a:r>
              <a:rPr lang="en-US" sz="3600" b="1" i="1" baseline="-25000" dirty="0" err="1"/>
              <a:t>s</a:t>
            </a:r>
            <a:r>
              <a:rPr lang="en-US" sz="3600" b="1" dirty="0"/>
              <a:t>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121" y="1475550"/>
            <a:ext cx="7653758" cy="10972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72552" y="2709233"/>
            <a:ext cx="76263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First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a signal with an infinite </a:t>
            </a:r>
            <a:r>
              <a:rPr lang="en-US" sz="2400" dirty="0" smtClean="0">
                <a:latin typeface="+mj-lt"/>
              </a:rPr>
              <a:t>bandwidth cannot </a:t>
            </a:r>
            <a:r>
              <a:rPr lang="en-US" sz="2400" dirty="0">
                <a:latin typeface="+mj-lt"/>
              </a:rPr>
              <a:t>be </a:t>
            </a:r>
            <a:r>
              <a:rPr lang="en-US" sz="2400" dirty="0" smtClean="0">
                <a:latin typeface="+mj-lt"/>
              </a:rPr>
              <a:t>sampled.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Second</a:t>
            </a:r>
            <a:r>
              <a:rPr lang="en-US" sz="2400" dirty="0"/>
              <a:t>, the sampling rate must be at least 2 times the </a:t>
            </a:r>
            <a:r>
              <a:rPr lang="en-US" sz="2400" dirty="0">
                <a:solidFill>
                  <a:srgbClr val="FF0000"/>
                </a:solidFill>
              </a:rPr>
              <a:t>highest </a:t>
            </a:r>
            <a:r>
              <a:rPr lang="en-US" sz="2400" dirty="0" smtClean="0">
                <a:solidFill>
                  <a:srgbClr val="FF0000"/>
                </a:solidFill>
              </a:rPr>
              <a:t>frequency</a:t>
            </a:r>
            <a:r>
              <a:rPr lang="en-US" sz="2400" dirty="0" smtClean="0"/>
              <a:t>, not </a:t>
            </a:r>
            <a:r>
              <a:rPr lang="en-US" sz="2400" dirty="0"/>
              <a:t>the bandwidth.</a:t>
            </a:r>
            <a:endParaRPr lang="en-US" sz="240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361484"/>
            <a:ext cx="4946943" cy="233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7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976" y="810723"/>
            <a:ext cx="6153466" cy="15558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68" y="2453595"/>
            <a:ext cx="6236020" cy="15558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9355"/>
          <a:stretch/>
        </p:blipFill>
        <p:spPr>
          <a:xfrm>
            <a:off x="1336108" y="4114755"/>
            <a:ext cx="6350326" cy="160024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13442" y="1143630"/>
            <a:ext cx="898525" cy="4876170"/>
          </a:xfrm>
          <a:prstGeom prst="rect">
            <a:avLst/>
          </a:prstGeom>
          <a:solidFill>
            <a:schemeClr val="accent1">
              <a:alpha val="42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1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Quantization</a:t>
            </a:r>
            <a:endParaRPr lang="en-US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result</a:t>
            </a:r>
            <a:r>
              <a:rPr lang="en-US" sz="2400" dirty="0"/>
              <a:t> of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sampling</a:t>
            </a:r>
            <a:r>
              <a:rPr lang="en-US" sz="2400" dirty="0"/>
              <a:t> is a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series</a:t>
            </a:r>
            <a:r>
              <a:rPr lang="en-US" sz="2400" dirty="0"/>
              <a:t> of pulses with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amplitude</a:t>
            </a:r>
            <a:r>
              <a:rPr lang="en-US" sz="2400" dirty="0"/>
              <a:t> values between 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maximum</a:t>
            </a:r>
            <a:r>
              <a:rPr lang="en-US" sz="2400" dirty="0" smtClean="0"/>
              <a:t> and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minimum</a:t>
            </a:r>
            <a:r>
              <a:rPr lang="en-US" sz="2400" dirty="0"/>
              <a:t> amplitudes of 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set of amplitudes can be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infinite</a:t>
            </a:r>
            <a:r>
              <a:rPr lang="en-US" sz="2400" dirty="0"/>
              <a:t> </a:t>
            </a:r>
            <a:r>
              <a:rPr lang="en-US" sz="2400" dirty="0" smtClean="0"/>
              <a:t>with </a:t>
            </a:r>
            <a:r>
              <a:rPr lang="en-US" sz="2400" b="1" dirty="0" err="1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nonintegral</a:t>
            </a:r>
            <a:r>
              <a:rPr lang="en-US" sz="2400" dirty="0" smtClean="0"/>
              <a:t> </a:t>
            </a:r>
            <a:r>
              <a:rPr lang="en-US" sz="2400" dirty="0"/>
              <a:t>values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between</a:t>
            </a:r>
            <a:r>
              <a:rPr lang="en-US" sz="2400" dirty="0">
                <a:solidFill>
                  <a:srgbClr val="FF0000"/>
                </a:solidFill>
              </a:rPr>
              <a:t> 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limits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These values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cannot</a:t>
            </a:r>
            <a:r>
              <a:rPr lang="en-US" sz="2400" dirty="0"/>
              <a:t> be used in the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encoding</a:t>
            </a:r>
            <a:r>
              <a:rPr lang="en-US" sz="2400" dirty="0" smtClean="0"/>
              <a:t>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process</a:t>
            </a:r>
            <a:r>
              <a:rPr lang="en-US" sz="2400" dirty="0"/>
              <a:t>.</a:t>
            </a: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2"/>
          <a:srcRect l="21539" t="9423" b="45500"/>
          <a:stretch/>
        </p:blipFill>
        <p:spPr>
          <a:xfrm>
            <a:off x="2666999" y="-152400"/>
            <a:ext cx="422840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1"/>
            <a:ext cx="8229600" cy="597534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 following are the steps in </a:t>
            </a:r>
            <a:r>
              <a:rPr lang="en-US" sz="2800" dirty="0" smtClean="0">
                <a:solidFill>
                  <a:srgbClr val="FF0000"/>
                </a:solidFill>
              </a:rPr>
              <a:t>quantization: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We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assume</a:t>
            </a:r>
            <a:r>
              <a:rPr lang="en-US" sz="2600" dirty="0"/>
              <a:t> </a:t>
            </a:r>
            <a:r>
              <a:rPr lang="en-US" sz="2600" dirty="0" smtClean="0"/>
              <a:t>… </a:t>
            </a:r>
            <a:r>
              <a:rPr lang="en-US" sz="2600" dirty="0"/>
              <a:t>the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original</a:t>
            </a:r>
            <a:r>
              <a:rPr lang="en-US" sz="2600" dirty="0"/>
              <a:t>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analog</a:t>
            </a:r>
            <a:r>
              <a:rPr lang="en-US" sz="2600" dirty="0"/>
              <a:t>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600" dirty="0"/>
              <a:t> has </a:t>
            </a:r>
            <a:r>
              <a:rPr lang="en-US" sz="2600" dirty="0" smtClean="0"/>
              <a:t>…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amplitudes</a:t>
            </a:r>
            <a:r>
              <a:rPr lang="en-US" sz="2600" dirty="0"/>
              <a:t> </a:t>
            </a:r>
            <a:r>
              <a:rPr lang="en-US" sz="2600" dirty="0" smtClean="0"/>
              <a:t>between </a:t>
            </a:r>
            <a:r>
              <a:rPr lang="en-US" sz="2600" i="1" dirty="0" err="1" smtClean="0"/>
              <a:t>V</a:t>
            </a:r>
            <a:r>
              <a:rPr lang="en-US" sz="2600" baseline="-25000" dirty="0" err="1" smtClean="0"/>
              <a:t>min</a:t>
            </a:r>
            <a:r>
              <a:rPr lang="en-US" sz="2600" dirty="0" smtClean="0"/>
              <a:t> </a:t>
            </a:r>
            <a:r>
              <a:rPr lang="en-US" sz="2600" dirty="0"/>
              <a:t>and </a:t>
            </a:r>
            <a:r>
              <a:rPr lang="en-US" sz="2600" i="1" dirty="0" err="1"/>
              <a:t>V</a:t>
            </a:r>
            <a:r>
              <a:rPr lang="en-US" sz="2600" baseline="-25000" dirty="0" err="1"/>
              <a:t>max</a:t>
            </a:r>
            <a:r>
              <a:rPr lang="en-US" sz="2600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We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divide</a:t>
            </a:r>
            <a:r>
              <a:rPr lang="en-US" sz="2600" dirty="0"/>
              <a:t> the range into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</a:t>
            </a:r>
            <a:r>
              <a:rPr lang="en-US" sz="2600" i="1" dirty="0"/>
              <a:t>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zones</a:t>
            </a:r>
            <a:r>
              <a:rPr lang="en-US" sz="2600" dirty="0"/>
              <a:t>,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each </a:t>
            </a:r>
            <a:r>
              <a:rPr lang="en-US" sz="2600" dirty="0"/>
              <a:t>of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height</a:t>
            </a:r>
            <a:r>
              <a:rPr lang="en-US" sz="2600" dirty="0"/>
              <a:t> Δ (delta</a:t>
            </a:r>
            <a:r>
              <a:rPr lang="en-US" sz="2600" dirty="0" smtClean="0"/>
              <a:t>).</a:t>
            </a:r>
            <a:br>
              <a:rPr lang="en-US" sz="2600" dirty="0" smtClean="0"/>
            </a:b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/>
            </a:r>
            <a:br>
              <a:rPr lang="en-US" sz="2600" dirty="0" smtClean="0"/>
            </a:b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We assign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quantized</a:t>
            </a:r>
            <a:r>
              <a:rPr lang="en-US" sz="2600" dirty="0"/>
              <a:t> </a:t>
            </a:r>
            <a:r>
              <a:rPr lang="en-US" sz="2600" dirty="0" smtClean="0"/>
              <a:t>values</a:t>
            </a:r>
            <a:br>
              <a:rPr lang="en-US" sz="2600" dirty="0" smtClean="0"/>
            </a:br>
            <a:r>
              <a:rPr lang="en-US" sz="2600" dirty="0" smtClean="0"/>
              <a:t> </a:t>
            </a:r>
            <a:r>
              <a:rPr lang="en-US" sz="2600" dirty="0"/>
              <a:t>of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0 to L − 1 </a:t>
            </a:r>
            <a:r>
              <a:rPr lang="en-US" sz="2600" dirty="0"/>
              <a:t>to the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midpoint</a:t>
            </a:r>
            <a:r>
              <a:rPr lang="en-US" sz="2600" dirty="0"/>
              <a:t> of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each</a:t>
            </a:r>
            <a:r>
              <a:rPr lang="en-US" sz="2600" dirty="0"/>
              <a:t>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zone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We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approximate</a:t>
            </a:r>
            <a:r>
              <a:rPr lang="en-US" sz="2600" dirty="0"/>
              <a:t> the value of the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sample</a:t>
            </a:r>
            <a:r>
              <a:rPr lang="en-US" sz="2600" dirty="0"/>
              <a:t>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amplitude</a:t>
            </a:r>
            <a:r>
              <a:rPr lang="en-US" sz="2600" dirty="0"/>
              <a:t> to the </a:t>
            </a:r>
            <a:r>
              <a:rPr lang="en-US" sz="26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quantized</a:t>
            </a:r>
            <a:r>
              <a:rPr lang="en-US" sz="2600" dirty="0"/>
              <a:t>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24200" y="2667000"/>
            <a:ext cx="3562847" cy="1047896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3"/>
          <a:srcRect l="21539" t="9423" b="45500"/>
          <a:stretch/>
        </p:blipFill>
        <p:spPr>
          <a:xfrm>
            <a:off x="6324601" y="1676400"/>
            <a:ext cx="2895600" cy="125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9600" y="4013999"/>
            <a:ext cx="447646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−</a:t>
            </a:r>
            <a:r>
              <a:rPr lang="en-US" sz="20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20 and +</a:t>
            </a:r>
            <a:r>
              <a:rPr lang="en-US" sz="2000" b="1" dirty="0" smtClean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20 </a:t>
            </a:r>
            <a:r>
              <a:rPr lang="en-US" sz="2000" b="1" dirty="0" smtClean="0">
                <a:solidFill>
                  <a:schemeClr val="tx1"/>
                </a:solidFill>
              </a:rPr>
              <a:t>V 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We decide to have eight levels </a:t>
            </a:r>
            <a:r>
              <a:rPr lang="en-US" sz="20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(L = 8). </a:t>
            </a:r>
            <a:r>
              <a:rPr lang="en-US" sz="2000" dirty="0" smtClean="0">
                <a:solidFill>
                  <a:schemeClr val="tx1"/>
                </a:solidFill>
              </a:rPr>
              <a:t>This </a:t>
            </a:r>
            <a:r>
              <a:rPr lang="en-US" sz="2000" dirty="0">
                <a:solidFill>
                  <a:schemeClr val="tx1"/>
                </a:solidFill>
              </a:rPr>
              <a:t>means that</a:t>
            </a:r>
          </a:p>
          <a:p>
            <a:r>
              <a:rPr lang="en-US" sz="20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Δ = 5 V.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r="32870"/>
          <a:stretch/>
        </p:blipFill>
        <p:spPr>
          <a:xfrm>
            <a:off x="7530050" y="1143000"/>
            <a:ext cx="1613950" cy="50831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1182" y="2109033"/>
            <a:ext cx="69281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20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15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10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5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-5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-10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-15</a:t>
            </a:r>
          </a:p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-20</a:t>
            </a:r>
            <a:endParaRPr lang="en-US" sz="3000" dirty="0">
              <a:solidFill>
                <a:srgbClr val="FF0000"/>
              </a:solidFill>
            </a:endParaRPr>
          </a:p>
        </p:txBody>
      </p:sp>
      <p:pic>
        <p:nvPicPr>
          <p:cNvPr id="13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1539" t="9423" b="45500"/>
          <a:stretch/>
        </p:blipFill>
        <p:spPr>
          <a:xfrm>
            <a:off x="1834139" y="72788"/>
            <a:ext cx="5828889" cy="2521017"/>
          </a:xfrm>
          <a:prstGeom prst="rect">
            <a:avLst/>
          </a:prstGeom>
        </p:spPr>
      </p:pic>
      <p:sp>
        <p:nvSpPr>
          <p:cNvPr id="14" name="Freeform 13"/>
          <p:cNvSpPr/>
          <p:nvPr/>
        </p:nvSpPr>
        <p:spPr>
          <a:xfrm>
            <a:off x="1835396" y="431275"/>
            <a:ext cx="5399316" cy="1988469"/>
          </a:xfrm>
          <a:custGeom>
            <a:avLst/>
            <a:gdLst>
              <a:gd name="connsiteX0" fmla="*/ 64524 w 5399316"/>
              <a:gd name="connsiteY0" fmla="*/ 1692165 h 1988469"/>
              <a:gd name="connsiteX1" fmla="*/ 64524 w 5399316"/>
              <a:gd name="connsiteY1" fmla="*/ 1763285 h 1988469"/>
              <a:gd name="connsiteX2" fmla="*/ 735084 w 5399316"/>
              <a:gd name="connsiteY2" fmla="*/ 777765 h 1988469"/>
              <a:gd name="connsiteX3" fmla="*/ 1436124 w 5399316"/>
              <a:gd name="connsiteY3" fmla="*/ 147845 h 1988469"/>
              <a:gd name="connsiteX4" fmla="*/ 2045724 w 5399316"/>
              <a:gd name="connsiteY4" fmla="*/ 25925 h 1988469"/>
              <a:gd name="connsiteX5" fmla="*/ 2706124 w 5399316"/>
              <a:gd name="connsiteY5" fmla="*/ 533925 h 1988469"/>
              <a:gd name="connsiteX6" fmla="*/ 3356364 w 5399316"/>
              <a:gd name="connsiteY6" fmla="*/ 1600725 h 1988469"/>
              <a:gd name="connsiteX7" fmla="*/ 4006604 w 5399316"/>
              <a:gd name="connsiteY7" fmla="*/ 1976645 h 1988469"/>
              <a:gd name="connsiteX8" fmla="*/ 4687324 w 5399316"/>
              <a:gd name="connsiteY8" fmla="*/ 1875045 h 1988469"/>
              <a:gd name="connsiteX9" fmla="*/ 5347724 w 5399316"/>
              <a:gd name="connsiteY9" fmla="*/ 1682005 h 1988469"/>
              <a:gd name="connsiteX10" fmla="*/ 5307084 w 5399316"/>
              <a:gd name="connsiteY10" fmla="*/ 1682005 h 198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99316" h="1988469">
                <a:moveTo>
                  <a:pt x="64524" y="1692165"/>
                </a:moveTo>
                <a:cubicBezTo>
                  <a:pt x="8644" y="1803925"/>
                  <a:pt x="-47236" y="1915685"/>
                  <a:pt x="64524" y="1763285"/>
                </a:cubicBezTo>
                <a:cubicBezTo>
                  <a:pt x="176284" y="1610885"/>
                  <a:pt x="506484" y="1047005"/>
                  <a:pt x="735084" y="777765"/>
                </a:cubicBezTo>
                <a:cubicBezTo>
                  <a:pt x="963684" y="508525"/>
                  <a:pt x="1217684" y="273152"/>
                  <a:pt x="1436124" y="147845"/>
                </a:cubicBezTo>
                <a:cubicBezTo>
                  <a:pt x="1654564" y="22538"/>
                  <a:pt x="1834057" y="-38422"/>
                  <a:pt x="2045724" y="25925"/>
                </a:cubicBezTo>
                <a:cubicBezTo>
                  <a:pt x="2257391" y="90272"/>
                  <a:pt x="2487684" y="271458"/>
                  <a:pt x="2706124" y="533925"/>
                </a:cubicBezTo>
                <a:cubicBezTo>
                  <a:pt x="2924564" y="796392"/>
                  <a:pt x="3139617" y="1360272"/>
                  <a:pt x="3356364" y="1600725"/>
                </a:cubicBezTo>
                <a:cubicBezTo>
                  <a:pt x="3573111" y="1841178"/>
                  <a:pt x="3784777" y="1930925"/>
                  <a:pt x="4006604" y="1976645"/>
                </a:cubicBezTo>
                <a:cubicBezTo>
                  <a:pt x="4228431" y="2022365"/>
                  <a:pt x="4463804" y="1924152"/>
                  <a:pt x="4687324" y="1875045"/>
                </a:cubicBezTo>
                <a:cubicBezTo>
                  <a:pt x="4910844" y="1825938"/>
                  <a:pt x="5347724" y="1682005"/>
                  <a:pt x="5347724" y="1682005"/>
                </a:cubicBezTo>
                <a:cubicBezTo>
                  <a:pt x="5451017" y="1649832"/>
                  <a:pt x="5379050" y="1665918"/>
                  <a:pt x="5307084" y="1682005"/>
                </a:cubicBezTo>
              </a:path>
            </a:pathLst>
          </a:cu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2773151"/>
            <a:ext cx="3562847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381000"/>
            <a:ext cx="8229600" cy="57707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6080" y="4156779"/>
            <a:ext cx="8305800" cy="3681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29000" y="161126"/>
            <a:ext cx="5715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the first row is the normalized value for each </a:t>
            </a:r>
            <a:r>
              <a:rPr lang="en-US" dirty="0" smtClean="0">
                <a:latin typeface="Times-Roman"/>
              </a:rPr>
              <a:t>sample</a:t>
            </a:r>
          </a:p>
          <a:p>
            <a:r>
              <a:rPr lang="en-US" dirty="0" smtClean="0">
                <a:latin typeface="Times-Roman"/>
              </a:rPr>
              <a:t> </a:t>
            </a:r>
            <a:r>
              <a:rPr lang="en-US" dirty="0">
                <a:ln>
                  <a:solidFill>
                    <a:srgbClr val="FF0000"/>
                  </a:soli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(actual amplitude</a:t>
            </a:r>
            <a:r>
              <a:rPr lang="en-US" dirty="0" smtClean="0">
                <a:ln>
                  <a:solidFill>
                    <a:srgbClr val="FF0000"/>
                  </a:soli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/</a:t>
            </a:r>
            <a:r>
              <a:rPr lang="en-US" dirty="0">
                <a:ln>
                  <a:solidFill>
                    <a:srgbClr val="FF0000"/>
                  </a:soli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Δ </a:t>
            </a:r>
            <a:r>
              <a:rPr lang="en-US" dirty="0" smtClean="0">
                <a:ln>
                  <a:solidFill>
                    <a:srgbClr val="FF0000"/>
                  </a:soli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Times-Roman"/>
              </a:rPr>
              <a:t>).</a:t>
            </a:r>
            <a:endParaRPr lang="en-US" dirty="0">
              <a:ln>
                <a:solidFill>
                  <a:srgbClr val="FF0000"/>
                </a:solidFill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5440" y="4613979"/>
            <a:ext cx="8305800" cy="3681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5118237"/>
            <a:ext cx="8305800" cy="3681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7040" y="5542299"/>
            <a:ext cx="8305800" cy="5390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15768" y="2739459"/>
                <a:ext cx="1661032" cy="11388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6.1</m:t>
                          </m:r>
                        </m:num>
                        <m:den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=−1.22</m:t>
                      </m:r>
                    </m:oMath>
                  </m:oMathPara>
                </a14:m>
                <a:endParaRPr lang="en-US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7.5</m:t>
                          </m:r>
                        </m:num>
                        <m:den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US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768" y="2739459"/>
                <a:ext cx="1661032" cy="1138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875327" y="136144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5327" y="171196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75327" y="2050506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75327" y="242824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75327" y="279400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75327" y="313944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75327" y="3509918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75327" y="3865880"/>
            <a:ext cx="10097473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609600" y="152400"/>
            <a:ext cx="1219200" cy="396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7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Original Signal Recovery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768" y="1752600"/>
            <a:ext cx="8651071" cy="3581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770" y="2004909"/>
            <a:ext cx="750230" cy="1586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62773"/>
            <a:ext cx="6394779" cy="61598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204634" y="2472272"/>
            <a:ext cx="5943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3834720" y="2913207"/>
            <a:ext cx="47548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11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Delta Modulation (DM)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994"/>
          <a:stretch/>
        </p:blipFill>
        <p:spPr>
          <a:xfrm>
            <a:off x="1447800" y="1219200"/>
            <a:ext cx="5673930" cy="2438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3962103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Modulator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modulator is used at the </a:t>
            </a:r>
            <a:r>
              <a:rPr lang="en-US" sz="2400" dirty="0">
                <a:solidFill>
                  <a:srgbClr val="FF0000"/>
                </a:solidFill>
              </a:rPr>
              <a:t>sender site </a:t>
            </a:r>
            <a:r>
              <a:rPr lang="en-US" sz="2400" dirty="0"/>
              <a:t>to create a </a:t>
            </a:r>
            <a:r>
              <a:rPr lang="en-US" sz="2400" dirty="0">
                <a:solidFill>
                  <a:srgbClr val="FF0000"/>
                </a:solidFill>
              </a:rPr>
              <a:t>stream of bits from an analog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process records the small positive or negative changes, </a:t>
            </a:r>
            <a:r>
              <a:rPr lang="en-US" sz="2400" dirty="0">
                <a:solidFill>
                  <a:srgbClr val="FF0000"/>
                </a:solidFill>
              </a:rPr>
              <a:t>called </a:t>
            </a:r>
            <a:r>
              <a:rPr lang="en-US" sz="2400" dirty="0">
                <a:solidFill>
                  <a:srgbClr val="FF0000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delta δ</a:t>
            </a:r>
            <a:r>
              <a:rPr lang="en-US" sz="24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. </a:t>
            </a:r>
            <a:endParaRPr lang="en-US" sz="2400" dirty="0" smtClean="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the delta </a:t>
            </a:r>
            <a:r>
              <a:rPr lang="en-US" sz="2400" dirty="0" smtClean="0"/>
              <a:t>is </a:t>
            </a:r>
            <a:r>
              <a:rPr lang="en-US" sz="2400" dirty="0" smtClean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dirty="0"/>
              <a:t>, the process records a 1; 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it is </a:t>
            </a:r>
            <a:r>
              <a:rPr lang="en-US" sz="24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sz="2400" dirty="0"/>
              <a:t>, the process records a 0.</a:t>
            </a:r>
          </a:p>
        </p:txBody>
      </p:sp>
    </p:spTree>
    <p:extLst>
      <p:ext uri="{BB962C8B-B14F-4D97-AF65-F5344CB8AC3E}">
        <p14:creationId xmlns:p14="http://schemas.microsoft.com/office/powerpoint/2010/main" val="17242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2400"/>
            <a:ext cx="8229600" cy="31657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380667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modulator, at each sampling interval, compares the value of the analog signal</a:t>
            </a:r>
          </a:p>
          <a:p>
            <a:r>
              <a:rPr lang="en-US" dirty="0"/>
              <a:t>with the last value of the staircase signal.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813304" y="1295400"/>
            <a:ext cx="0" cy="1371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62200" y="2121408"/>
            <a:ext cx="0" cy="54559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3400" y="5445212"/>
            <a:ext cx="3968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amplitude of the analog signal is</a:t>
            </a:r>
          </a:p>
          <a:p>
            <a:r>
              <a:rPr lang="en-US" dirty="0"/>
              <a:t>larger, the next bit in the digital data is 1; otherwise, it is 0.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489704" y="990600"/>
            <a:ext cx="6096" cy="16764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038600" y="1103694"/>
            <a:ext cx="0" cy="156330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902709" y="1258824"/>
            <a:ext cx="12192" cy="13959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489704" y="846138"/>
            <a:ext cx="0" cy="182086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590800" y="2819400"/>
            <a:ext cx="381000" cy="498706"/>
          </a:xfrm>
          <a:prstGeom prst="ellipse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200144" y="2777756"/>
            <a:ext cx="381000" cy="498706"/>
          </a:xfrm>
          <a:prstGeom prst="ellipse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687824" y="2747772"/>
            <a:ext cx="381000" cy="498706"/>
          </a:xfrm>
          <a:prstGeom prst="ellipse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181600" y="3679361"/>
            <a:ext cx="3508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next bit is 1, the staircase maker</a:t>
            </a:r>
          </a:p>
          <a:p>
            <a:r>
              <a:rPr lang="en-US" dirty="0"/>
              <a:t>moves the last point of the staircase signal δ up; if the next bit is 0, it moves it δ down.</a:t>
            </a:r>
          </a:p>
          <a:p>
            <a:r>
              <a:rPr lang="en-US" dirty="0"/>
              <a:t>Note that we need a delay unit to hold the staircase function for a period between </a:t>
            </a:r>
            <a:r>
              <a:rPr lang="en-US" dirty="0" smtClean="0"/>
              <a:t>two comparisons</a:t>
            </a:r>
            <a:r>
              <a:rPr lang="en-US"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5715" y="533400"/>
            <a:ext cx="433070" cy="3145961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253229" y="529748"/>
            <a:ext cx="433070" cy="3145961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564765" y="1852443"/>
            <a:ext cx="433070" cy="271230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672330" y="1076727"/>
            <a:ext cx="433070" cy="271230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1915986" y="2020686"/>
            <a:ext cx="5461" cy="6341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524000" y="1885347"/>
            <a:ext cx="0" cy="78165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64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Delta Modulation (DM)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627" y="1194171"/>
            <a:ext cx="7712713" cy="244400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2" y="3587565"/>
            <a:ext cx="771951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1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Transmission Modes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242758"/>
            <a:ext cx="4572000" cy="17628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39492"/>
            <a:ext cx="4306824" cy="29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2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457200"/>
            <a:ext cx="5048509" cy="269253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3"/>
          <a:srcRect l="30000" t="38904"/>
          <a:stretch/>
        </p:blipFill>
        <p:spPr>
          <a:xfrm>
            <a:off x="2057400" y="3886200"/>
            <a:ext cx="475502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5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Asynchronous Transmission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417638"/>
            <a:ext cx="5181600" cy="270322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2438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Asynchronous transmission is so named because the timing of a signal is unimportant.</a:t>
            </a:r>
          </a:p>
          <a:p>
            <a:r>
              <a:rPr lang="en-US" dirty="0"/>
              <a:t>Instead, information is received and translated by agreed upon patterns.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532027"/>
            <a:ext cx="6877403" cy="7302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404" y="5416866"/>
            <a:ext cx="5677192" cy="7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S</a:t>
            </a:r>
            <a:r>
              <a:rPr lang="en-US" cap="small" dirty="0" smtClean="0"/>
              <a:t>ynchronous </a:t>
            </a:r>
            <a:r>
              <a:rPr lang="en-US" cap="small" dirty="0"/>
              <a:t>Transmission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524" y="1676400"/>
            <a:ext cx="6832951" cy="29465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836" y="4881713"/>
            <a:ext cx="6350326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5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Isochronous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000" t="38904"/>
          <a:stretch/>
        </p:blipFill>
        <p:spPr>
          <a:xfrm>
            <a:off x="2867241" y="1690312"/>
            <a:ext cx="3942917" cy="13268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3289877"/>
            <a:ext cx="815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In real-time audio and video, in which uneven delays between frames are not </a:t>
            </a:r>
            <a:r>
              <a:rPr lang="en-US" sz="2400" dirty="0" smtClean="0">
                <a:latin typeface="+mj-lt"/>
              </a:rPr>
              <a:t>acceptable, synchronous </a:t>
            </a:r>
            <a:r>
              <a:rPr lang="en-US" sz="2400" dirty="0">
                <a:latin typeface="+mj-lt"/>
              </a:rPr>
              <a:t>transmission fails</a:t>
            </a:r>
            <a:r>
              <a:rPr lang="en-US" sz="2400" dirty="0" smtClean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The </a:t>
            </a:r>
            <a:r>
              <a:rPr lang="en-US" sz="2400" b="1" dirty="0" smtClean="0"/>
              <a:t>isochronous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transmission </a:t>
            </a:r>
            <a:r>
              <a:rPr lang="en-US" sz="2400" dirty="0">
                <a:latin typeface="+mj-lt"/>
              </a:rPr>
              <a:t>guarantees that the data arrive </a:t>
            </a:r>
            <a:r>
              <a:rPr lang="en-US" sz="2400" dirty="0" smtClean="0">
                <a:latin typeface="+mj-lt"/>
              </a:rPr>
              <a:t>at a </a:t>
            </a:r>
            <a:r>
              <a:rPr lang="en-US" sz="2400" dirty="0">
                <a:latin typeface="+mj-lt"/>
              </a:rPr>
              <a:t>fixed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2600" y="2514600"/>
            <a:ext cx="990600" cy="228600"/>
          </a:xfrm>
          <a:prstGeom prst="roundRect">
            <a:avLst/>
          </a:prstGeom>
          <a:solidFill>
            <a:schemeClr val="accent6">
              <a:lumMod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7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36615</TotalTime>
  <Words>727</Words>
  <Application>Microsoft Office PowerPoint</Application>
  <PresentationFormat>On-screen Show (4:3)</PresentationFormat>
  <Paragraphs>108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Times New Roman</vt:lpstr>
      <vt:lpstr>Times-Bold</vt:lpstr>
      <vt:lpstr>Times-Roman</vt:lpstr>
      <vt:lpstr>Office Theme</vt:lpstr>
      <vt:lpstr>PowerPoint Presentation</vt:lpstr>
      <vt:lpstr>Digital-to-digital Conversion</vt:lpstr>
      <vt:lpstr>Analog-to-digital Conversion</vt:lpstr>
      <vt:lpstr>PowerPoint Presentation</vt:lpstr>
      <vt:lpstr>PowerPoint Presentation</vt:lpstr>
      <vt:lpstr>What are the restrictions on Ts?</vt:lpstr>
      <vt:lpstr>PowerPoint Presentation</vt:lpstr>
      <vt:lpstr>Quantization</vt:lpstr>
      <vt:lpstr>PowerPoint Presentation</vt:lpstr>
      <vt:lpstr>PowerPoint Presentation</vt:lpstr>
      <vt:lpstr>PowerPoint Presentation</vt:lpstr>
      <vt:lpstr>Original Signal Recovery</vt:lpstr>
      <vt:lpstr>Delta Modulation (DM)</vt:lpstr>
      <vt:lpstr>PowerPoint Presentation</vt:lpstr>
      <vt:lpstr>Delta Modulation (DM)</vt:lpstr>
      <vt:lpstr>Transmission Modes</vt:lpstr>
      <vt:lpstr>PowerPoint Presentation</vt:lpstr>
      <vt:lpstr>Asynchronous Transmission</vt:lpstr>
      <vt:lpstr>Synchronous Transmission</vt:lpstr>
      <vt:lpstr>Isochronous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953</cp:revision>
  <cp:lastPrinted>2017-11-05T03:12:43Z</cp:lastPrinted>
  <dcterms:created xsi:type="dcterms:W3CDTF">2006-08-16T00:00:00Z</dcterms:created>
  <dcterms:modified xsi:type="dcterms:W3CDTF">2025-05-21T04:20:01Z</dcterms:modified>
</cp:coreProperties>
</file>